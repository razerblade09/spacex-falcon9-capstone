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razerblade09/spacex-falcon9-capstone"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1_data_collection_api.py  |  02_web_scraping.py"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3_data_wrangling.py"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7"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razerblade09/spacex-falcon9-capstone/blob/main/notebooks/04_07_eda_sql_ml.py"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6_folium_map.py"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github.com/razerblade09/spacex-falcon9-capstone/blob/main/dashboard/app.py" TargetMode="Externa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razerblade09/spacex-falcon9-capstone/blob/main/notebooks/04_07_eda_sql_ml.py"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razerblade09/spacex-falcon9-capstone"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2011680"/>
            <a:ext cx="10698480" cy="1828800"/>
          </a:xfrm>
          <a:prstGeom prst="rect">
            <a:avLst/>
          </a:prstGeom>
          <a:noFill/>
          <a:ln/>
        </p:spPr>
        <p:txBody>
          <a:bodyPr wrap="square" rtlCol="0" anchor="ctr"/>
          <a:lstStyle/>
          <a:p>
            <a:pPr indent="0" marL="0">
              <a:buNone/>
            </a:pPr>
            <a:r>
              <a:rPr lang="en-US" sz="3800" b="1" dirty="0">
                <a:solidFill>
                  <a:srgbClr val="FFFFFF"/>
                </a:solidFill>
              </a:rPr>
              <a:t>SpaceX Falcon 9</a:t>
            </a:r>
            <a:endParaRPr lang="en-US" sz="3800" dirty="0"/>
          </a:p>
          <a:p>
            <a:pPr indent="0" marL="0">
              <a:buNone/>
            </a:pPr>
            <a:r>
              <a:rPr lang="en-US" sz="3800" b="1" dirty="0">
                <a:solidFill>
                  <a:srgbClr val="FFFFFF"/>
                </a:solidFill>
              </a:rPr>
              <a:t>First-Stage Landing Prediction</a:t>
            </a:r>
            <a:endParaRPr lang="en-US" sz="3800" dirty="0"/>
          </a:p>
        </p:txBody>
      </p:sp>
      <p:sp>
        <p:nvSpPr>
          <p:cNvPr id="3" name="Text 1"/>
          <p:cNvSpPr/>
          <p:nvPr/>
        </p:nvSpPr>
        <p:spPr>
          <a:xfrm>
            <a:off x="731520" y="3657600"/>
            <a:ext cx="10058400" cy="457200"/>
          </a:xfrm>
          <a:prstGeom prst="rect">
            <a:avLst/>
          </a:prstGeom>
          <a:noFill/>
          <a:ln/>
        </p:spPr>
        <p:txBody>
          <a:bodyPr wrap="square" rtlCol="0" anchor="ctr"/>
          <a:lstStyle/>
          <a:p>
            <a:pPr indent="0" marL="0">
              <a:buNone/>
            </a:pPr>
            <a:r>
              <a:rPr lang="en-US" sz="1900" dirty="0">
                <a:solidFill>
                  <a:srgbClr val="17BEBB"/>
                </a:solidFill>
              </a:rPr>
              <a:t>Data Science Capstone Project Report</a:t>
            </a:r>
            <a:endParaRPr lang="en-US" sz="1900" dirty="0"/>
          </a:p>
        </p:txBody>
      </p:sp>
      <p:sp>
        <p:nvSpPr>
          <p:cNvPr id="4" name="Text 2">
            <a:hlinkClick r:id="rId1" tooltip=""/>
          </p:cNvPr>
          <p:cNvSpPr/>
          <p:nvPr/>
        </p:nvSpPr>
        <p:spPr>
          <a:xfrm>
            <a:off x="731520" y="4160520"/>
            <a:ext cx="10058400" cy="365760"/>
          </a:xfrm>
          <a:prstGeom prst="rect">
            <a:avLst/>
          </a:prstGeom>
          <a:noFill/>
          <a:ln/>
        </p:spPr>
        <p:txBody>
          <a:bodyPr wrap="square" rtlCol="0" anchor="ctr"/>
          <a:lstStyle/>
          <a:p>
            <a:pPr indent="0" marL="0">
              <a:buNone/>
            </a:pPr>
            <a:r>
              <a:rPr lang="en-US" sz="1300" u="sng" dirty="0">
                <a:solidFill>
                  <a:srgbClr val="AAB4C8"/>
                </a:solidFill>
                <a:hlinkClick r:id="rId1" invalidUrl="" action="" tgtFrame="" tooltip="" history="1" highlightClick="0" endSnd="0">
                  <a:extLst>
                    <a:ext uri="{A12FA001-AC4F-418D-AE19-62706E023703}">
                      <ahyp:hlinkClr xmlns:ahyp="http://schemas.microsoft.com/office/drawing/2018/hyperlinkcolor" val="tx"/>
                    </a:ext>
                  </a:extLst>
                </a:hlinkClick>
              </a:rPr>
              <a:t>GitHub repository: https://github.com/razerblade09/spacex-falcon9-capstone</a:t>
            </a:r>
            <a:endParaRPr lang="en-US" sz="1300" dirty="0"/>
          </a:p>
        </p:txBody>
      </p:sp>
      <p:sp>
        <p:nvSpPr>
          <p:cNvPr id="5" name="Text 3"/>
          <p:cNvSpPr/>
          <p:nvPr/>
        </p:nvSpPr>
        <p:spPr>
          <a:xfrm>
            <a:off x="731520" y="6035040"/>
            <a:ext cx="10058400" cy="365760"/>
          </a:xfrm>
          <a:prstGeom prst="rect">
            <a:avLst/>
          </a:prstGeom>
          <a:noFill/>
          <a:ln/>
        </p:spPr>
        <p:txBody>
          <a:bodyPr wrap="square" rtlCol="0" anchor="ctr"/>
          <a:lstStyle/>
          <a:p>
            <a:pPr indent="0" marL="0">
              <a:buNone/>
            </a:pPr>
            <a:r>
              <a:rPr lang="en-US" sz="1250" dirty="0">
                <a:solidFill>
                  <a:srgbClr val="AAB4C8"/>
                </a:solidFill>
              </a:rPr>
              <a:t>Presented by: razerblade09   |   2026-08-03</a:t>
            </a:r>
            <a:endParaRPr lang="en-US" sz="1250" dirty="0"/>
          </a:p>
        </p:txBody>
      </p:sp>
      <p:sp>
        <p:nvSpPr>
          <p:cNvPr id="6" name="Shape 4"/>
          <p:cNvSpPr/>
          <p:nvPr/>
        </p:nvSpPr>
        <p:spPr>
          <a:xfrm>
            <a:off x="731520" y="4480560"/>
            <a:ext cx="2011680" cy="45720"/>
          </a:xfrm>
          <a:prstGeom prst="rect">
            <a:avLst/>
          </a:prstGeom>
          <a:solidFill>
            <a:srgbClr val="3B60E4"/>
          </a:solidFill>
          <a:ln/>
        </p:spPr>
      </p:sp>
      <p:sp>
        <p:nvSpPr>
          <p:cNvPr id="7" name="Text 5"/>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OVERVIEW</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Executive Summary</a:t>
            </a:r>
            <a:endParaRPr lang="en-US" sz="2400" dirty="0"/>
          </a:p>
        </p:txBody>
      </p:sp>
      <p:sp>
        <p:nvSpPr>
          <p:cNvPr id="4" name="Text 2"/>
          <p:cNvSpPr/>
          <p:nvPr/>
        </p:nvSpPr>
        <p:spPr>
          <a:xfrm>
            <a:off x="457200" y="1371600"/>
            <a:ext cx="5577840" cy="1920240"/>
          </a:xfrm>
          <a:prstGeom prst="rect">
            <a:avLst/>
          </a:prstGeom>
          <a:noFill/>
          <a:ln/>
        </p:spPr>
        <p:txBody>
          <a:bodyPr wrap="square" rtlCol="0" anchor="ctr"/>
          <a:lstStyle/>
          <a:p>
            <a:pPr indent="0" marL="0">
              <a:lnSpc>
                <a:spcPts val="2000"/>
              </a:lnSpc>
              <a:buNone/>
            </a:pPr>
            <a:r>
              <a:rPr lang="en-US" sz="1350" b="1" dirty="0">
                <a:solidFill>
                  <a:srgbClr val="0B1F3A"/>
                </a:solidFill>
              </a:rPr>
              <a:t>Methods used: </a:t>
            </a:r>
            <a:pPr indent="0" marL="0">
              <a:lnSpc>
                <a:spcPts val="2000"/>
              </a:lnSpc>
              <a:buNone/>
            </a:pPr>
            <a:r>
              <a:rPr lang="en-US" sz="1350" dirty="0">
                <a:solidFill>
                  <a:srgbClr val="5B6472"/>
                </a:solidFill>
              </a:rPr>
              <a:t>Data was collected via the SpaceX REST API and Wikipedia web scraping, cleaned and labeled, explored with visualization and SQL, mapped geospatially with Folium, and modeled with four classifiers (Logistic Regression, SVM, Decision Tree, KNN) tuned via GridSearchCV.</a:t>
            </a:r>
            <a:endParaRPr lang="en-US" sz="1350" dirty="0"/>
          </a:p>
        </p:txBody>
      </p:sp>
      <p:sp>
        <p:nvSpPr>
          <p:cNvPr id="5" name="Text 3"/>
          <p:cNvSpPr/>
          <p:nvPr/>
        </p:nvSpPr>
        <p:spPr>
          <a:xfrm>
            <a:off x="6217920" y="1371600"/>
            <a:ext cx="5486400" cy="1920240"/>
          </a:xfrm>
          <a:prstGeom prst="rect">
            <a:avLst/>
          </a:prstGeom>
          <a:noFill/>
          <a:ln/>
        </p:spPr>
        <p:txBody>
          <a:bodyPr wrap="square" rtlCol="0" anchor="ctr"/>
          <a:lstStyle/>
          <a:p>
            <a:pPr indent="0" marL="0">
              <a:lnSpc>
                <a:spcPts val="2000"/>
              </a:lnSpc>
              <a:buNone/>
            </a:pPr>
            <a:r>
              <a:rPr lang="en-US" sz="1350" b="1" dirty="0">
                <a:solidFill>
                  <a:srgbClr val="0B1F3A"/>
                </a:solidFill>
              </a:rPr>
              <a:t>Key results: </a:t>
            </a:r>
            <a:pPr indent="0" marL="0">
              <a:lnSpc>
                <a:spcPts val="2000"/>
              </a:lnSpc>
              <a:buNone/>
            </a:pPr>
            <a:r>
              <a:rPr lang="en-US" sz="1350" dirty="0">
                <a:solidFill>
                  <a:srgbClr val="5B6472"/>
                </a:solidFill>
              </a:rPr>
              <a:t>Across 90 Falcon 9 launches, the overall first-stage landing success rate was 67%. The best-performing model, Logistic Regression, reached 83% test accuracy in predicting landing outcome.</a:t>
            </a:r>
            <a:endParaRPr lang="en-US" sz="1350" dirty="0"/>
          </a:p>
        </p:txBody>
      </p:sp>
      <p:sp>
        <p:nvSpPr>
          <p:cNvPr id="6" name="Shape 4"/>
          <p:cNvSpPr/>
          <p:nvPr/>
        </p:nvSpPr>
        <p:spPr>
          <a:xfrm>
            <a:off x="457200" y="3429000"/>
            <a:ext cx="2606040" cy="1234440"/>
          </a:xfrm>
          <a:prstGeom prst="roundRect">
            <a:avLst>
              <a:gd name="adj" fmla="val 7407"/>
            </a:avLst>
          </a:prstGeom>
          <a:solidFill>
            <a:srgbClr val="F4F7FC"/>
          </a:solidFill>
          <a:ln w="12700">
            <a:solidFill>
              <a:srgbClr val="E2E8F5"/>
            </a:solidFill>
            <a:prstDash val="solid"/>
          </a:ln>
        </p:spPr>
      </p:sp>
      <p:sp>
        <p:nvSpPr>
          <p:cNvPr id="7" name="Text 5"/>
          <p:cNvSpPr/>
          <p:nvPr/>
        </p:nvSpPr>
        <p:spPr>
          <a:xfrm>
            <a:off x="457200" y="3547872"/>
            <a:ext cx="2606040" cy="594360"/>
          </a:xfrm>
          <a:prstGeom prst="rect">
            <a:avLst/>
          </a:prstGeom>
          <a:noFill/>
          <a:ln/>
        </p:spPr>
        <p:txBody>
          <a:bodyPr wrap="square" rtlCol="0" anchor="ctr"/>
          <a:lstStyle/>
          <a:p>
            <a:pPr algn="ctr" indent="0" marL="0">
              <a:buNone/>
            </a:pPr>
            <a:r>
              <a:rPr lang="en-US" sz="2500" b="1" dirty="0">
                <a:solidFill>
                  <a:srgbClr val="3B60E4"/>
                </a:solidFill>
              </a:rPr>
              <a:t>90</a:t>
            </a:r>
            <a:endParaRPr lang="en-US" sz="2500" dirty="0"/>
          </a:p>
        </p:txBody>
      </p:sp>
      <p:sp>
        <p:nvSpPr>
          <p:cNvPr id="8" name="Text 6"/>
          <p:cNvSpPr/>
          <p:nvPr/>
        </p:nvSpPr>
        <p:spPr>
          <a:xfrm>
            <a:off x="457200" y="4114800"/>
            <a:ext cx="2606040" cy="457200"/>
          </a:xfrm>
          <a:prstGeom prst="rect">
            <a:avLst/>
          </a:prstGeom>
          <a:noFill/>
          <a:ln/>
        </p:spPr>
        <p:txBody>
          <a:bodyPr wrap="square" rtlCol="0" anchor="ctr"/>
          <a:lstStyle/>
          <a:p>
            <a:pPr algn="ctr" indent="0" marL="0">
              <a:buNone/>
            </a:pPr>
            <a:r>
              <a:rPr lang="en-US" sz="1100" dirty="0">
                <a:solidFill>
                  <a:srgbClr val="5B6472"/>
                </a:solidFill>
              </a:rPr>
              <a:t>Launches analyzed</a:t>
            </a:r>
            <a:endParaRPr lang="en-US" sz="1100" dirty="0"/>
          </a:p>
        </p:txBody>
      </p:sp>
      <p:sp>
        <p:nvSpPr>
          <p:cNvPr id="9" name="Shape 7"/>
          <p:cNvSpPr/>
          <p:nvPr/>
        </p:nvSpPr>
        <p:spPr>
          <a:xfrm>
            <a:off x="3291840" y="3429000"/>
            <a:ext cx="2606040" cy="1234440"/>
          </a:xfrm>
          <a:prstGeom prst="roundRect">
            <a:avLst>
              <a:gd name="adj" fmla="val 7407"/>
            </a:avLst>
          </a:prstGeom>
          <a:solidFill>
            <a:srgbClr val="F4F7FC"/>
          </a:solidFill>
          <a:ln w="12700">
            <a:solidFill>
              <a:srgbClr val="E2E8F5"/>
            </a:solidFill>
            <a:prstDash val="solid"/>
          </a:ln>
        </p:spPr>
      </p:sp>
      <p:sp>
        <p:nvSpPr>
          <p:cNvPr id="10" name="Text 8"/>
          <p:cNvSpPr/>
          <p:nvPr/>
        </p:nvSpPr>
        <p:spPr>
          <a:xfrm>
            <a:off x="3291840" y="3547872"/>
            <a:ext cx="2606040" cy="594360"/>
          </a:xfrm>
          <a:prstGeom prst="rect">
            <a:avLst/>
          </a:prstGeom>
          <a:noFill/>
          <a:ln/>
        </p:spPr>
        <p:txBody>
          <a:bodyPr wrap="square" rtlCol="0" anchor="ctr"/>
          <a:lstStyle/>
          <a:p>
            <a:pPr algn="ctr" indent="0" marL="0">
              <a:buNone/>
            </a:pPr>
            <a:r>
              <a:rPr lang="en-US" sz="2500" b="1" dirty="0">
                <a:solidFill>
                  <a:srgbClr val="3B60E4"/>
                </a:solidFill>
              </a:rPr>
              <a:t>67%</a:t>
            </a:r>
            <a:endParaRPr lang="en-US" sz="2500" dirty="0"/>
          </a:p>
        </p:txBody>
      </p:sp>
      <p:sp>
        <p:nvSpPr>
          <p:cNvPr id="11" name="Text 9"/>
          <p:cNvSpPr/>
          <p:nvPr/>
        </p:nvSpPr>
        <p:spPr>
          <a:xfrm>
            <a:off x="3291840" y="4114800"/>
            <a:ext cx="2606040" cy="457200"/>
          </a:xfrm>
          <a:prstGeom prst="rect">
            <a:avLst/>
          </a:prstGeom>
          <a:noFill/>
          <a:ln/>
        </p:spPr>
        <p:txBody>
          <a:bodyPr wrap="square" rtlCol="0" anchor="ctr"/>
          <a:lstStyle/>
          <a:p>
            <a:pPr algn="ctr" indent="0" marL="0">
              <a:buNone/>
            </a:pPr>
            <a:r>
              <a:rPr lang="en-US" sz="1100" dirty="0">
                <a:solidFill>
                  <a:srgbClr val="5B6472"/>
                </a:solidFill>
              </a:rPr>
              <a:t>Overall landing success rate</a:t>
            </a:r>
            <a:endParaRPr lang="en-US" sz="1100" dirty="0"/>
          </a:p>
        </p:txBody>
      </p:sp>
      <p:sp>
        <p:nvSpPr>
          <p:cNvPr id="12" name="Shape 10"/>
          <p:cNvSpPr/>
          <p:nvPr/>
        </p:nvSpPr>
        <p:spPr>
          <a:xfrm>
            <a:off x="6126480" y="3429000"/>
            <a:ext cx="2606040" cy="1234440"/>
          </a:xfrm>
          <a:prstGeom prst="roundRect">
            <a:avLst>
              <a:gd name="adj" fmla="val 7407"/>
            </a:avLst>
          </a:prstGeom>
          <a:solidFill>
            <a:srgbClr val="F4F7FC"/>
          </a:solidFill>
          <a:ln w="12700">
            <a:solidFill>
              <a:srgbClr val="E2E8F5"/>
            </a:solidFill>
            <a:prstDash val="solid"/>
          </a:ln>
        </p:spPr>
      </p:sp>
      <p:sp>
        <p:nvSpPr>
          <p:cNvPr id="13" name="Text 11"/>
          <p:cNvSpPr/>
          <p:nvPr/>
        </p:nvSpPr>
        <p:spPr>
          <a:xfrm>
            <a:off x="6126480" y="3547872"/>
            <a:ext cx="2606040" cy="594360"/>
          </a:xfrm>
          <a:prstGeom prst="rect">
            <a:avLst/>
          </a:prstGeom>
          <a:noFill/>
          <a:ln/>
        </p:spPr>
        <p:txBody>
          <a:bodyPr wrap="square" rtlCol="0" anchor="ctr"/>
          <a:lstStyle/>
          <a:p>
            <a:pPr algn="ctr" indent="0" marL="0">
              <a:buNone/>
            </a:pPr>
            <a:r>
              <a:rPr lang="en-US" sz="2500" b="1" dirty="0">
                <a:solidFill>
                  <a:srgbClr val="3B60E4"/>
                </a:solidFill>
              </a:rPr>
              <a:t>83.3%</a:t>
            </a:r>
            <a:endParaRPr lang="en-US" sz="2500" dirty="0"/>
          </a:p>
        </p:txBody>
      </p:sp>
      <p:sp>
        <p:nvSpPr>
          <p:cNvPr id="14" name="Text 12"/>
          <p:cNvSpPr/>
          <p:nvPr/>
        </p:nvSpPr>
        <p:spPr>
          <a:xfrm>
            <a:off x="6126480" y="4114800"/>
            <a:ext cx="2606040" cy="457200"/>
          </a:xfrm>
          <a:prstGeom prst="rect">
            <a:avLst/>
          </a:prstGeom>
          <a:noFill/>
          <a:ln/>
        </p:spPr>
        <p:txBody>
          <a:bodyPr wrap="square" rtlCol="0" anchor="ctr"/>
          <a:lstStyle/>
          <a:p>
            <a:pPr algn="ctr" indent="0" marL="0">
              <a:buNone/>
            </a:pPr>
            <a:r>
              <a:rPr lang="en-US" sz="1100" dirty="0">
                <a:solidFill>
                  <a:srgbClr val="5B6472"/>
                </a:solidFill>
              </a:rPr>
              <a:t>Best model test accuracy</a:t>
            </a:r>
            <a:endParaRPr lang="en-US" sz="1100" dirty="0"/>
          </a:p>
        </p:txBody>
      </p:sp>
      <p:sp>
        <p:nvSpPr>
          <p:cNvPr id="15" name="Shape 13"/>
          <p:cNvSpPr/>
          <p:nvPr/>
        </p:nvSpPr>
        <p:spPr>
          <a:xfrm>
            <a:off x="8961120" y="3429000"/>
            <a:ext cx="2606040" cy="1234440"/>
          </a:xfrm>
          <a:prstGeom prst="roundRect">
            <a:avLst>
              <a:gd name="adj" fmla="val 7407"/>
            </a:avLst>
          </a:prstGeom>
          <a:solidFill>
            <a:srgbClr val="F4F7FC"/>
          </a:solidFill>
          <a:ln w="12700">
            <a:solidFill>
              <a:srgbClr val="E2E8F5"/>
            </a:solidFill>
            <a:prstDash val="solid"/>
          </a:ln>
        </p:spPr>
      </p:sp>
      <p:sp>
        <p:nvSpPr>
          <p:cNvPr id="16" name="Text 14"/>
          <p:cNvSpPr/>
          <p:nvPr/>
        </p:nvSpPr>
        <p:spPr>
          <a:xfrm>
            <a:off x="8961120" y="3547872"/>
            <a:ext cx="2606040" cy="594360"/>
          </a:xfrm>
          <a:prstGeom prst="rect">
            <a:avLst/>
          </a:prstGeom>
          <a:noFill/>
          <a:ln/>
        </p:spPr>
        <p:txBody>
          <a:bodyPr wrap="square" rtlCol="0" anchor="ctr"/>
          <a:lstStyle/>
          <a:p>
            <a:pPr algn="ctr" indent="0" marL="0">
              <a:buNone/>
            </a:pPr>
            <a:r>
              <a:rPr lang="en-US" sz="2500" b="1" dirty="0">
                <a:solidFill>
                  <a:srgbClr val="3B60E4"/>
                </a:solidFill>
              </a:rPr>
              <a:t>4</a:t>
            </a:r>
            <a:endParaRPr lang="en-US" sz="2500" dirty="0"/>
          </a:p>
        </p:txBody>
      </p:sp>
      <p:sp>
        <p:nvSpPr>
          <p:cNvPr id="17" name="Text 15"/>
          <p:cNvSpPr/>
          <p:nvPr/>
        </p:nvSpPr>
        <p:spPr>
          <a:xfrm>
            <a:off x="8961120" y="4114800"/>
            <a:ext cx="2606040" cy="457200"/>
          </a:xfrm>
          <a:prstGeom prst="rect">
            <a:avLst/>
          </a:prstGeom>
          <a:noFill/>
          <a:ln/>
        </p:spPr>
        <p:txBody>
          <a:bodyPr wrap="square" rtlCol="0" anchor="ctr"/>
          <a:lstStyle/>
          <a:p>
            <a:pPr algn="ctr" indent="0" marL="0">
              <a:buNone/>
            </a:pPr>
            <a:r>
              <a:rPr lang="en-US" sz="1100" dirty="0">
                <a:solidFill>
                  <a:srgbClr val="5B6472"/>
                </a:solidFill>
              </a:rPr>
              <a:t>ML models compared</a:t>
            </a:r>
            <a:endParaRPr lang="en-US" sz="1100" dirty="0"/>
          </a:p>
        </p:txBody>
      </p:sp>
      <p:sp>
        <p:nvSpPr>
          <p:cNvPr id="18" name="Text 16"/>
          <p:cNvSpPr/>
          <p:nvPr/>
        </p:nvSpPr>
        <p:spPr>
          <a:xfrm>
            <a:off x="457200" y="4937760"/>
            <a:ext cx="11247120" cy="822960"/>
          </a:xfrm>
          <a:prstGeom prst="rect">
            <a:avLst/>
          </a:prstGeom>
          <a:noFill/>
          <a:ln/>
        </p:spPr>
        <p:txBody>
          <a:bodyPr wrap="square" rtlCol="0" anchor="ctr"/>
          <a:lstStyle/>
          <a:p>
            <a:pPr indent="0" marL="0">
              <a:buNone/>
            </a:pPr>
            <a:r>
              <a:rPr lang="en-US" sz="1250" i="1" dirty="0">
                <a:solidFill>
                  <a:srgbClr val="0B1F3A"/>
                </a:solidFill>
              </a:rPr>
              <a:t>Conclusion: Landing success is highly predictable from launch parameters, meaning a competing launch provider could reliably estimate SpaceX's true reusable-launch cost advantage — see full Conclusion &amp; Insights on the final slide.</a:t>
            </a:r>
            <a:endParaRPr lang="en-US" sz="1250" dirty="0"/>
          </a:p>
        </p:txBody>
      </p:sp>
      <p:sp>
        <p:nvSpPr>
          <p:cNvPr id="19" name="Text 17"/>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950" dirty="0"/>
          </a:p>
        </p:txBody>
      </p:sp>
      <p:sp>
        <p:nvSpPr>
          <p:cNvPr id="20" name="Text 18"/>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BACKGROUND</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Introduction</a:t>
            </a:r>
            <a:endParaRPr lang="en-US" sz="2400" dirty="0"/>
          </a:p>
        </p:txBody>
      </p:sp>
      <p:sp>
        <p:nvSpPr>
          <p:cNvPr id="4" name="Text 2"/>
          <p:cNvSpPr/>
          <p:nvPr/>
        </p:nvSpPr>
        <p:spPr>
          <a:xfrm>
            <a:off x="457200" y="1371600"/>
            <a:ext cx="6675120" cy="2834640"/>
          </a:xfrm>
          <a:prstGeom prst="rect">
            <a:avLst/>
          </a:prstGeom>
          <a:noFill/>
          <a:ln/>
        </p:spPr>
        <p:txBody>
          <a:bodyPr wrap="square" rtlCol="0" anchor="ctr"/>
          <a:lstStyle/>
          <a:p>
            <a:pPr indent="0" marL="0">
              <a:lnSpc>
                <a:spcPts val="2100"/>
              </a:lnSpc>
              <a:buNone/>
            </a:pPr>
            <a:r>
              <a:rPr lang="en-US" sz="1350" dirty="0">
                <a:solidFill>
                  <a:srgbClr val="5B6472"/>
                </a:solidFill>
              </a:rPr>
              <a:t>SpaceX advertises Falcon 9 launches at $62 million, versus $165M+ from other providers — largely because SpaceX reuses the rocket's first stage instead of discarding it.
</a:t>
            </a:r>
            <a:pPr indent="0" marL="0">
              <a:lnSpc>
                <a:spcPts val="2100"/>
              </a:lnSpc>
              <a:buNone/>
            </a:pPr>
            <a:r>
              <a:rPr lang="en-US" sz="1350" b="1" dirty="0">
                <a:solidFill>
                  <a:srgbClr val="0B1F3A"/>
                </a:solidFill>
              </a:rPr>
              <a:t>Problem statement: </a:t>
            </a:r>
            <a:pPr indent="0" marL="0">
              <a:lnSpc>
                <a:spcPts val="2100"/>
              </a:lnSpc>
              <a:buNone/>
            </a:pPr>
            <a:r>
              <a:rPr lang="en-US" sz="1350" dirty="0">
                <a:solidFill>
                  <a:srgbClr val="5B6472"/>
                </a:solidFill>
              </a:rPr>
              <a:t>If the first stage does not land successfully, that launch's cost estimate changes substantially. This project builds a model to predict whether the first stage will land, using historical launch data — enabling accurate cost estimation for a competing bid.
</a:t>
            </a:r>
            <a:pPr indent="0" marL="0">
              <a:lnSpc>
                <a:spcPts val="2100"/>
              </a:lnSpc>
              <a:buNone/>
            </a:pPr>
            <a:r>
              <a:rPr lang="en-US" sz="1350" b="1" dirty="0">
                <a:solidFill>
                  <a:srgbClr val="0B1F3A"/>
                </a:solidFill>
              </a:rPr>
              <a:t>Objectives:</a:t>
            </a:r>
            <a:endParaRPr lang="en-US" sz="1350" dirty="0"/>
          </a:p>
        </p:txBody>
      </p:sp>
      <p:sp>
        <p:nvSpPr>
          <p:cNvPr id="5" name="Text 3"/>
          <p:cNvSpPr/>
          <p:nvPr/>
        </p:nvSpPr>
        <p:spPr>
          <a:xfrm>
            <a:off x="731520" y="4251960"/>
            <a:ext cx="6217920" cy="347472"/>
          </a:xfrm>
          <a:prstGeom prst="rect">
            <a:avLst/>
          </a:prstGeom>
          <a:noFill/>
          <a:ln/>
        </p:spPr>
        <p:txBody>
          <a:bodyPr wrap="square" rtlCol="0" anchor="ctr"/>
          <a:lstStyle/>
          <a:p>
            <a:pPr marL="342900" indent="-342900">
              <a:buSzPct val="100000"/>
              <a:buChar char="•"/>
            </a:pPr>
            <a:r>
              <a:rPr lang="en-US" sz="1250" dirty="0">
                <a:solidFill>
                  <a:srgbClr val="0B1F3A"/>
                </a:solidFill>
              </a:rPr>
              <a:t>Collect and clean historical Falcon 9 launch data</a:t>
            </a:r>
            <a:endParaRPr lang="en-US" sz="1250" dirty="0"/>
          </a:p>
        </p:txBody>
      </p:sp>
      <p:sp>
        <p:nvSpPr>
          <p:cNvPr id="6" name="Text 4"/>
          <p:cNvSpPr/>
          <p:nvPr/>
        </p:nvSpPr>
        <p:spPr>
          <a:xfrm>
            <a:off x="731520" y="4617720"/>
            <a:ext cx="6217920" cy="347472"/>
          </a:xfrm>
          <a:prstGeom prst="rect">
            <a:avLst/>
          </a:prstGeom>
          <a:noFill/>
          <a:ln/>
        </p:spPr>
        <p:txBody>
          <a:bodyPr wrap="square" rtlCol="0" anchor="ctr"/>
          <a:lstStyle/>
          <a:p>
            <a:pPr marL="342900" indent="-342900">
              <a:buSzPct val="100000"/>
              <a:buChar char="•"/>
            </a:pPr>
            <a:r>
              <a:rPr lang="en-US" sz="1250" dirty="0">
                <a:solidFill>
                  <a:srgbClr val="0B1F3A"/>
                </a:solidFill>
              </a:rPr>
              <a:t>Identify factors correlated with landing success</a:t>
            </a:r>
            <a:endParaRPr lang="en-US" sz="1250" dirty="0"/>
          </a:p>
        </p:txBody>
      </p:sp>
      <p:sp>
        <p:nvSpPr>
          <p:cNvPr id="7" name="Text 5"/>
          <p:cNvSpPr/>
          <p:nvPr/>
        </p:nvSpPr>
        <p:spPr>
          <a:xfrm>
            <a:off x="731520" y="4983480"/>
            <a:ext cx="6217920" cy="347472"/>
          </a:xfrm>
          <a:prstGeom prst="rect">
            <a:avLst/>
          </a:prstGeom>
          <a:noFill/>
          <a:ln/>
        </p:spPr>
        <p:txBody>
          <a:bodyPr wrap="square" rtlCol="0" anchor="ctr"/>
          <a:lstStyle/>
          <a:p>
            <a:pPr marL="342900" indent="-342900">
              <a:buSzPct val="100000"/>
              <a:buChar char="•"/>
            </a:pPr>
            <a:r>
              <a:rPr lang="en-US" sz="1250" dirty="0">
                <a:solidFill>
                  <a:srgbClr val="0B1F3A"/>
                </a:solidFill>
              </a:rPr>
              <a:t>Visualize patterns across sites, orbits, and time</a:t>
            </a:r>
            <a:endParaRPr lang="en-US" sz="1250" dirty="0"/>
          </a:p>
        </p:txBody>
      </p:sp>
      <p:sp>
        <p:nvSpPr>
          <p:cNvPr id="8" name="Text 6"/>
          <p:cNvSpPr/>
          <p:nvPr/>
        </p:nvSpPr>
        <p:spPr>
          <a:xfrm>
            <a:off x="731520" y="5349240"/>
            <a:ext cx="6217920" cy="347472"/>
          </a:xfrm>
          <a:prstGeom prst="rect">
            <a:avLst/>
          </a:prstGeom>
          <a:noFill/>
          <a:ln/>
        </p:spPr>
        <p:txBody>
          <a:bodyPr wrap="square" rtlCol="0" anchor="ctr"/>
          <a:lstStyle/>
          <a:p>
            <a:pPr marL="342900" indent="-342900">
              <a:buSzPct val="100000"/>
              <a:buChar char="•"/>
            </a:pPr>
            <a:r>
              <a:rPr lang="en-US" sz="1250" dirty="0">
                <a:solidFill>
                  <a:srgbClr val="0B1F3A"/>
                </a:solidFill>
              </a:rPr>
              <a:t>Build and evaluate a landing-outcome classifier</a:t>
            </a:r>
            <a:endParaRPr lang="en-US" sz="1250" dirty="0"/>
          </a:p>
        </p:txBody>
      </p:sp>
      <p:pic>
        <p:nvPicPr>
          <p:cNvPr id="9" name="Image 0" descr="/home/claude/capstone/images/eda_yearly_trend.png">    </p:cNvPr>
          <p:cNvPicPr>
            <a:picLocks noChangeAspect="1"/>
          </p:cNvPicPr>
          <p:nvPr/>
        </p:nvPicPr>
        <p:blipFill>
          <a:blip r:embed="rId1"/>
          <a:stretch>
            <a:fillRect/>
          </a:stretch>
        </p:blipFill>
        <p:spPr>
          <a:xfrm>
            <a:off x="7406640" y="1371600"/>
            <a:ext cx="4297680" cy="2743200"/>
          </a:xfrm>
          <a:prstGeom prst="rect">
            <a:avLst/>
          </a:prstGeom>
        </p:spPr>
      </p:pic>
      <p:sp>
        <p:nvSpPr>
          <p:cNvPr id="10" name="Text 7"/>
          <p:cNvSpPr/>
          <p:nvPr/>
        </p:nvSpPr>
        <p:spPr>
          <a:xfrm>
            <a:off x="7406640" y="4206240"/>
            <a:ext cx="4297680" cy="1097280"/>
          </a:xfrm>
          <a:prstGeom prst="rect">
            <a:avLst/>
          </a:prstGeom>
          <a:noFill/>
          <a:ln/>
        </p:spPr>
        <p:txBody>
          <a:bodyPr wrap="square" rtlCol="0" anchor="ctr"/>
          <a:lstStyle/>
          <a:p>
            <a:pPr indent="0" marL="0">
              <a:buNone/>
            </a:pPr>
            <a:r>
              <a:rPr lang="en-US" sz="1100" i="1" dirty="0">
                <a:solidFill>
                  <a:srgbClr val="5B6472"/>
                </a:solidFill>
              </a:rPr>
              <a:t>Falcon 9 landing success climbed steadily as SpaceX matured its recovery process.</a:t>
            </a:r>
            <a:endParaRPr lang="en-US" sz="1100" dirty="0"/>
          </a:p>
        </p:txBody>
      </p:sp>
      <p:sp>
        <p:nvSpPr>
          <p:cNvPr id="11" name="Text 8"/>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a:t>
            </a:r>
            <a:endParaRPr lang="en-US" sz="950" dirty="0"/>
          </a:p>
        </p:txBody>
      </p:sp>
      <p:sp>
        <p:nvSpPr>
          <p:cNvPr id="12" name="Text 9"/>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DATA COLLECTION</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SpaceX API &amp; Web Scraping</a:t>
            </a:r>
            <a:endParaRPr lang="en-US" sz="2400" dirty="0"/>
          </a:p>
        </p:txBody>
      </p:sp>
      <p:sp>
        <p:nvSpPr>
          <p:cNvPr id="4" name="Shape 2"/>
          <p:cNvSpPr/>
          <p:nvPr/>
        </p:nvSpPr>
        <p:spPr>
          <a:xfrm>
            <a:off x="457200" y="1371600"/>
            <a:ext cx="5440680" cy="4846320"/>
          </a:xfrm>
          <a:prstGeom prst="roundRect">
            <a:avLst>
              <a:gd name="adj" fmla="val 1509"/>
            </a:avLst>
          </a:prstGeom>
          <a:solidFill>
            <a:srgbClr val="F4F7FC"/>
          </a:solidFill>
          <a:ln/>
        </p:spPr>
      </p:sp>
      <p:sp>
        <p:nvSpPr>
          <p:cNvPr id="5" name="Text 3"/>
          <p:cNvSpPr/>
          <p:nvPr/>
        </p:nvSpPr>
        <p:spPr>
          <a:xfrm>
            <a:off x="685800" y="1508760"/>
            <a:ext cx="5029200" cy="365760"/>
          </a:xfrm>
          <a:prstGeom prst="rect">
            <a:avLst/>
          </a:prstGeom>
          <a:noFill/>
          <a:ln/>
        </p:spPr>
        <p:txBody>
          <a:bodyPr wrap="square" rtlCol="0" anchor="ctr"/>
          <a:lstStyle/>
          <a:p>
            <a:pPr indent="0" marL="0">
              <a:buNone/>
            </a:pPr>
            <a:r>
              <a:rPr lang="en-US" sz="1500" b="1" dirty="0">
                <a:solidFill>
                  <a:srgbClr val="3B60E4"/>
                </a:solidFill>
              </a:rPr>
              <a:t>SpaceX REST API</a:t>
            </a:r>
            <a:endParaRPr lang="en-US" sz="1500" dirty="0"/>
          </a:p>
        </p:txBody>
      </p:sp>
      <p:sp>
        <p:nvSpPr>
          <p:cNvPr id="6" name="Text 4"/>
          <p:cNvSpPr/>
          <p:nvPr/>
        </p:nvSpPr>
        <p:spPr>
          <a:xfrm>
            <a:off x="685800" y="1965960"/>
            <a:ext cx="4983480" cy="2743200"/>
          </a:xfrm>
          <a:prstGeom prst="rect">
            <a:avLst/>
          </a:prstGeom>
          <a:noFill/>
          <a:ln/>
        </p:spPr>
        <p:txBody>
          <a:bodyPr wrap="square" rtlCol="0" anchor="ctr"/>
          <a:lstStyle/>
          <a:p>
            <a:pPr indent="0" marL="0">
              <a:lnSpc>
                <a:spcPts val="1800"/>
              </a:lnSpc>
              <a:buNone/>
            </a:pPr>
            <a:r>
              <a:rPr lang="en-US" sz="1200" dirty="0">
                <a:solidFill>
                  <a:srgbClr val="0B1F3A"/>
                </a:solidFill>
              </a:rPr>
              <a:t>GET /v4/launches/past for all historical launches, filtered to single-core Falcon 9 flights, then enriched via /rockets, /launchpads, /payloads, /cores to resolve IDs into readable attributes.
</a:t>
            </a:r>
            <a:pPr indent="0" marL="0">
              <a:lnSpc>
                <a:spcPts val="1800"/>
              </a:lnSpc>
              <a:buNone/>
            </a:pPr>
            <a:r>
              <a:rPr lang="en-US" sz="1200" b="1" dirty="0">
                <a:solidFill>
                  <a:srgbClr val="0B1F3A"/>
                </a:solidFill>
              </a:rPr>
              <a:t>Result: </a:t>
            </a:r>
            <a:pPr indent="0" marL="0">
              <a:lnSpc>
                <a:spcPts val="1800"/>
              </a:lnSpc>
              <a:buNone/>
            </a:pPr>
            <a:r>
              <a:rPr lang="en-US" sz="1200" dirty="0">
                <a:solidFill>
                  <a:srgbClr val="0B1F3A"/>
                </a:solidFill>
              </a:rPr>
              <a:t>90 clean Falcon 9 launch records (2010–Nov 2020): booster version, payload mass, orbit, site, grid fins, reused flag, legs, landing pad, outcome.</a:t>
            </a:r>
            <a:endParaRPr lang="en-US" sz="1200" dirty="0"/>
          </a:p>
        </p:txBody>
      </p:sp>
      <p:sp>
        <p:nvSpPr>
          <p:cNvPr id="7" name="Text 5"/>
          <p:cNvSpPr/>
          <p:nvPr/>
        </p:nvSpPr>
        <p:spPr>
          <a:xfrm>
            <a:off x="685800" y="5029200"/>
            <a:ext cx="4983480" cy="1005840"/>
          </a:xfrm>
          <a:prstGeom prst="rect">
            <a:avLst/>
          </a:prstGeom>
          <a:noFill/>
          <a:ln/>
        </p:spPr>
        <p:txBody>
          <a:bodyPr wrap="square" rtlCol="0" anchor="ctr"/>
          <a:lstStyle/>
          <a:p>
            <a:pPr indent="0" marL="0">
              <a:buNone/>
            </a:pPr>
            <a:r>
              <a:rPr lang="en-US" sz="1050" i="1" dirty="0">
                <a:solidFill>
                  <a:srgbClr val="5B6472"/>
                </a:solidFill>
              </a:rPr>
              <a:t>Falcon 1 launches excluded — this project targets Falcon 9 landing prediction only.</a:t>
            </a:r>
            <a:endParaRPr lang="en-US" sz="1050" dirty="0"/>
          </a:p>
        </p:txBody>
      </p:sp>
      <p:sp>
        <p:nvSpPr>
          <p:cNvPr id="8" name="Shape 6"/>
          <p:cNvSpPr/>
          <p:nvPr/>
        </p:nvSpPr>
        <p:spPr>
          <a:xfrm>
            <a:off x="6263640" y="1371600"/>
            <a:ext cx="5440680" cy="4846320"/>
          </a:xfrm>
          <a:prstGeom prst="roundRect">
            <a:avLst>
              <a:gd name="adj" fmla="val 1509"/>
            </a:avLst>
          </a:prstGeom>
          <a:solidFill>
            <a:srgbClr val="F4F7FC"/>
          </a:solidFill>
          <a:ln/>
        </p:spPr>
      </p:sp>
      <p:sp>
        <p:nvSpPr>
          <p:cNvPr id="9" name="Text 7"/>
          <p:cNvSpPr/>
          <p:nvPr/>
        </p:nvSpPr>
        <p:spPr>
          <a:xfrm>
            <a:off x="6492240" y="1508760"/>
            <a:ext cx="5029200" cy="365760"/>
          </a:xfrm>
          <a:prstGeom prst="rect">
            <a:avLst/>
          </a:prstGeom>
          <a:noFill/>
          <a:ln/>
        </p:spPr>
        <p:txBody>
          <a:bodyPr wrap="square" rtlCol="0" anchor="ctr"/>
          <a:lstStyle/>
          <a:p>
            <a:pPr indent="0" marL="0">
              <a:buNone/>
            </a:pPr>
            <a:r>
              <a:rPr lang="en-US" sz="1500" b="1" dirty="0">
                <a:solidFill>
                  <a:srgbClr val="17BEBB"/>
                </a:solidFill>
              </a:rPr>
              <a:t>Wikipedia Web Scraping</a:t>
            </a:r>
            <a:endParaRPr lang="en-US" sz="1500" dirty="0"/>
          </a:p>
        </p:txBody>
      </p:sp>
      <p:sp>
        <p:nvSpPr>
          <p:cNvPr id="10" name="Text 8"/>
          <p:cNvSpPr/>
          <p:nvPr/>
        </p:nvSpPr>
        <p:spPr>
          <a:xfrm>
            <a:off x="6492240" y="1965960"/>
            <a:ext cx="4983480" cy="2743200"/>
          </a:xfrm>
          <a:prstGeom prst="rect">
            <a:avLst/>
          </a:prstGeom>
          <a:noFill/>
          <a:ln/>
        </p:spPr>
        <p:txBody>
          <a:bodyPr wrap="square" rtlCol="0" anchor="ctr"/>
          <a:lstStyle/>
          <a:p>
            <a:pPr indent="0" marL="0">
              <a:lnSpc>
                <a:spcPts val="1800"/>
              </a:lnSpc>
              <a:buNone/>
            </a:pPr>
            <a:r>
              <a:rPr lang="en-US" sz="1200" dirty="0">
                <a:solidFill>
                  <a:srgbClr val="0B1F3A"/>
                </a:solidFill>
              </a:rPr>
              <a:t>Requested the "List of Falcon 9 and Falcon Heavy launches" page, parsed HTML wikitables with BeautifulSoup, and cleaned each row's text (dates, booster serials, payload mass) into a dataframe.
</a:t>
            </a:r>
            <a:pPr indent="0" marL="0">
              <a:lnSpc>
                <a:spcPts val="1800"/>
              </a:lnSpc>
              <a:buNone/>
            </a:pPr>
            <a:r>
              <a:rPr lang="en-US" sz="1200" b="1" dirty="0">
                <a:solidFill>
                  <a:srgbClr val="0B1F3A"/>
                </a:solidFill>
              </a:rPr>
              <a:t>Purpose: </a:t>
            </a:r>
            <a:pPr indent="0" marL="0">
              <a:lnSpc>
                <a:spcPts val="1800"/>
              </a:lnSpc>
              <a:buNone/>
            </a:pPr>
            <a:r>
              <a:rPr lang="en-US" sz="1200" dirty="0">
                <a:solidFill>
                  <a:srgbClr val="0B1F3A"/>
                </a:solidFill>
              </a:rPr>
              <a:t>an independent, cross-checked source used to validate the API dataset and fill fields (like precise payload customer) the API doesn't expose.</a:t>
            </a:r>
            <a:endParaRPr lang="en-US" sz="1200" dirty="0"/>
          </a:p>
        </p:txBody>
      </p:sp>
      <p:sp>
        <p:nvSpPr>
          <p:cNvPr id="11" name="Text 9"/>
          <p:cNvSpPr/>
          <p:nvPr/>
        </p:nvSpPr>
        <p:spPr>
          <a:xfrm>
            <a:off x="6492240" y="5029200"/>
            <a:ext cx="4983480" cy="1005840"/>
          </a:xfrm>
          <a:prstGeom prst="rect">
            <a:avLst/>
          </a:prstGeom>
          <a:noFill/>
          <a:ln/>
        </p:spPr>
        <p:txBody>
          <a:bodyPr wrap="square" rtlCol="0" anchor="ctr"/>
          <a:lstStyle/>
          <a:p>
            <a:pPr indent="0" marL="0">
              <a:buNone/>
            </a:pPr>
            <a:r>
              <a:rPr lang="en-US" sz="1050" i="1" dirty="0">
                <a:solidFill>
                  <a:srgbClr val="5B6472"/>
                </a:solidFill>
              </a:rPr>
              <a:t>Key techniques: regex/Unicode cleanup for payload-mass strings; helper functions to pull booster version and landing status out of merged table cells.</a:t>
            </a:r>
            <a:endParaRPr lang="en-US" sz="1050" dirty="0"/>
          </a:p>
        </p:txBody>
      </p:sp>
      <p:sp>
        <p:nvSpPr>
          <p:cNvPr id="12" name="Text 10"/>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https://github.com/razerblade09/spacex-falcon9-capstone/blob/main/notebooks/01_data_collection_api.py  |  02_web_scraping.py</a:t>
            </a:r>
            <a:endParaRPr lang="en-US" sz="950" dirty="0"/>
          </a:p>
        </p:txBody>
      </p:sp>
      <p:sp>
        <p:nvSpPr>
          <p:cNvPr id="13" name="Text 11"/>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PREPARATION</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Data Wrangling Methodology</a:t>
            </a:r>
            <a:endParaRPr lang="en-US" sz="2400" dirty="0"/>
          </a:p>
        </p:txBody>
      </p:sp>
      <p:sp>
        <p:nvSpPr>
          <p:cNvPr id="4" name="Text 2"/>
          <p:cNvSpPr/>
          <p:nvPr/>
        </p:nvSpPr>
        <p:spPr>
          <a:xfrm>
            <a:off x="457200" y="1371600"/>
            <a:ext cx="6583680" cy="2743200"/>
          </a:xfrm>
          <a:prstGeom prst="rect">
            <a:avLst/>
          </a:prstGeom>
          <a:noFill/>
          <a:ln/>
        </p:spPr>
        <p:txBody>
          <a:bodyPr wrap="square" rtlCol="0" anchor="ctr"/>
          <a:lstStyle/>
          <a:p>
            <a:pPr indent="0" marL="0">
              <a:lnSpc>
                <a:spcPts val="2100"/>
              </a:lnSpc>
              <a:buNone/>
            </a:pPr>
            <a:r>
              <a:rPr lang="en-US" sz="1350" b="1" dirty="0">
                <a:solidFill>
                  <a:srgbClr val="0B1F3A"/>
                </a:solidFill>
              </a:rPr>
              <a:t>Missing values: </a:t>
            </a:r>
            <a:pPr indent="0" marL="0">
              <a:lnSpc>
                <a:spcPts val="2100"/>
              </a:lnSpc>
              <a:buNone/>
            </a:pPr>
            <a:r>
              <a:rPr lang="en-US" sz="1350" dirty="0">
                <a:solidFill>
                  <a:srgbClr val="5B6472"/>
                </a:solidFill>
              </a:rPr>
              <a:t>PayloadMass (5.6% missing) filled with column mean; LandingPad (28.9% missing) kept as-is since a null pad legitimately means "no ground/drone-ship landing occurred."
</a:t>
            </a:r>
            <a:pPr indent="0" marL="0">
              <a:lnSpc>
                <a:spcPts val="2100"/>
              </a:lnSpc>
              <a:buNone/>
            </a:pPr>
            <a:r>
              <a:rPr lang="en-US" sz="1350" b="1" dirty="0">
                <a:solidFill>
                  <a:srgbClr val="0B1F3A"/>
                </a:solidFill>
              </a:rPr>
              <a:t>Label engineering: </a:t>
            </a:r>
            <a:pPr indent="0" marL="0">
              <a:lnSpc>
                <a:spcPts val="2100"/>
              </a:lnSpc>
              <a:buNone/>
            </a:pPr>
            <a:r>
              <a:rPr lang="en-US" sz="1350" dirty="0">
                <a:solidFill>
                  <a:srgbClr val="5B6472"/>
                </a:solidFill>
              </a:rPr>
              <a:t>The raw Outcome field (e.g. "True ASDS", "False Ocean", "None None") was converted into a binary Class label — 1 if the booster landed successfully by any method, 0 otherwise.</a:t>
            </a:r>
            <a:endParaRPr lang="en-US" sz="1350" dirty="0"/>
          </a:p>
        </p:txBody>
      </p:sp>
      <p:sp>
        <p:nvSpPr>
          <p:cNvPr id="5" name="Shape 3"/>
          <p:cNvSpPr/>
          <p:nvPr/>
        </p:nvSpPr>
        <p:spPr>
          <a:xfrm>
            <a:off x="457200" y="4114800"/>
            <a:ext cx="6583680" cy="1280160"/>
          </a:xfrm>
          <a:prstGeom prst="roundRect">
            <a:avLst>
              <a:gd name="adj" fmla="val 5714"/>
            </a:avLst>
          </a:prstGeom>
          <a:solidFill>
            <a:srgbClr val="F4F7FC"/>
          </a:solidFill>
          <a:ln/>
        </p:spPr>
      </p:sp>
      <p:sp>
        <p:nvSpPr>
          <p:cNvPr id="6" name="Text 4"/>
          <p:cNvSpPr/>
          <p:nvPr/>
        </p:nvSpPr>
        <p:spPr>
          <a:xfrm>
            <a:off x="640080" y="4114800"/>
            <a:ext cx="6217920" cy="1280160"/>
          </a:xfrm>
          <a:prstGeom prst="rect">
            <a:avLst/>
          </a:prstGeom>
          <a:noFill/>
          <a:ln/>
        </p:spPr>
        <p:txBody>
          <a:bodyPr wrap="square" rtlCol="0" anchor="ctr"/>
          <a:lstStyle/>
          <a:p>
            <a:pPr indent="0" marL="0">
              <a:buNone/>
            </a:pPr>
            <a:r>
              <a:rPr lang="en-US" sz="1300" b="1" dirty="0">
                <a:solidFill>
                  <a:srgbClr val="0B1F3A"/>
                </a:solidFill>
              </a:rPr>
              <a:t>Result: 90 launches → 60 successful landings (66.7%), 30 unsuccessful (33.3%)</a:t>
            </a:r>
            <a:endParaRPr lang="en-US" sz="1300" dirty="0"/>
          </a:p>
        </p:txBody>
      </p:sp>
      <p:pic>
        <p:nvPicPr>
          <p:cNvPr id="7" name="Image 0" descr="/home/claude/capstone/images/eda_orbit_success.png">    </p:cNvPr>
          <p:cNvPicPr>
            <a:picLocks noChangeAspect="1"/>
          </p:cNvPicPr>
          <p:nvPr/>
        </p:nvPicPr>
        <p:blipFill>
          <a:blip r:embed="rId1"/>
          <a:stretch>
            <a:fillRect/>
          </a:stretch>
        </p:blipFill>
        <p:spPr>
          <a:xfrm>
            <a:off x="7315200" y="1371600"/>
            <a:ext cx="4389120" cy="3291840"/>
          </a:xfrm>
          <a:prstGeom prst="rect">
            <a:avLst/>
          </a:prstGeom>
        </p:spPr>
      </p:pic>
      <p:sp>
        <p:nvSpPr>
          <p:cNvPr id="8" name="Text 5"/>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https://github.com/razerblade09/spacex-falcon9-capstone/blob/main/notebooks/03_data_wrangling.py</a:t>
            </a:r>
            <a:endParaRPr lang="en-US" sz="950" dirty="0"/>
          </a:p>
        </p:txBody>
      </p:sp>
      <p:sp>
        <p:nvSpPr>
          <p:cNvPr id="9" name="Text 6"/>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EXPLORATORY ANALYSIS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EDA with Data Visualization</a:t>
            </a:r>
            <a:endParaRPr lang="en-US" sz="2400" dirty="0"/>
          </a:p>
        </p:txBody>
      </p:sp>
      <p:sp>
        <p:nvSpPr>
          <p:cNvPr id="4" name="Text 2"/>
          <p:cNvSpPr/>
          <p:nvPr/>
        </p:nvSpPr>
        <p:spPr>
          <a:xfrm>
            <a:off x="457200" y="1325880"/>
            <a:ext cx="11247120" cy="365760"/>
          </a:xfrm>
          <a:prstGeom prst="rect">
            <a:avLst/>
          </a:prstGeom>
          <a:noFill/>
          <a:ln/>
        </p:spPr>
        <p:txBody>
          <a:bodyPr wrap="square" rtlCol="0" anchor="ctr"/>
          <a:lstStyle/>
          <a:p>
            <a:pPr indent="0" marL="0">
              <a:buNone/>
            </a:pPr>
            <a:r>
              <a:rPr lang="en-US" sz="1250" dirty="0">
                <a:solidFill>
                  <a:srgbClr val="5B6472"/>
                </a:solidFill>
              </a:rPr>
              <a:t>We plotted flight number, payload mass, orbit type, and launch year against landing outcome to surface which factors correlate with success.</a:t>
            </a:r>
            <a:endParaRPr lang="en-US" sz="1250" dirty="0"/>
          </a:p>
        </p:txBody>
      </p:sp>
      <p:pic>
        <p:nvPicPr>
          <p:cNvPr id="5" name="Image 0" descr="/home/claude/capstone/images/eda_flightnum_site.png">    </p:cNvPr>
          <p:cNvPicPr>
            <a:picLocks noChangeAspect="1"/>
          </p:cNvPicPr>
          <p:nvPr/>
        </p:nvPicPr>
        <p:blipFill>
          <a:blip r:embed="rId1"/>
          <a:stretch>
            <a:fillRect/>
          </a:stretch>
        </p:blipFill>
        <p:spPr>
          <a:xfrm>
            <a:off x="457200" y="1783080"/>
            <a:ext cx="3657600" cy="1783080"/>
          </a:xfrm>
          <a:prstGeom prst="rect">
            <a:avLst/>
          </a:prstGeom>
        </p:spPr>
      </p:pic>
      <p:sp>
        <p:nvSpPr>
          <p:cNvPr id="6" name="Text 3"/>
          <p:cNvSpPr/>
          <p:nvPr/>
        </p:nvSpPr>
        <p:spPr>
          <a:xfrm>
            <a:off x="457200" y="3566160"/>
            <a:ext cx="3657600" cy="274320"/>
          </a:xfrm>
          <a:prstGeom prst="rect">
            <a:avLst/>
          </a:prstGeom>
          <a:noFill/>
          <a:ln/>
        </p:spPr>
        <p:txBody>
          <a:bodyPr wrap="square" rtlCol="0" anchor="ctr"/>
          <a:lstStyle/>
          <a:p>
            <a:pPr algn="ctr" indent="0" marL="0">
              <a:buNone/>
            </a:pPr>
            <a:r>
              <a:rPr lang="en-US" sz="1050" b="1" dirty="0">
                <a:solidFill>
                  <a:srgbClr val="0B1F3A"/>
                </a:solidFill>
              </a:rPr>
              <a:t>Flight # vs Site</a:t>
            </a:r>
            <a:endParaRPr lang="en-US" sz="1050" dirty="0"/>
          </a:p>
        </p:txBody>
      </p:sp>
      <p:pic>
        <p:nvPicPr>
          <p:cNvPr id="7" name="Image 1" descr="/home/claude/capstone/images/eda_payload_site.png">    </p:cNvPr>
          <p:cNvPicPr>
            <a:picLocks noChangeAspect="1"/>
          </p:cNvPicPr>
          <p:nvPr/>
        </p:nvPicPr>
        <p:blipFill>
          <a:blip r:embed="rId2"/>
          <a:stretch>
            <a:fillRect/>
          </a:stretch>
        </p:blipFill>
        <p:spPr>
          <a:xfrm>
            <a:off x="4343400" y="1783080"/>
            <a:ext cx="3657600" cy="1783080"/>
          </a:xfrm>
          <a:prstGeom prst="rect">
            <a:avLst/>
          </a:prstGeom>
        </p:spPr>
      </p:pic>
      <p:sp>
        <p:nvSpPr>
          <p:cNvPr id="8" name="Text 4"/>
          <p:cNvSpPr/>
          <p:nvPr/>
        </p:nvSpPr>
        <p:spPr>
          <a:xfrm>
            <a:off x="4343400" y="3566160"/>
            <a:ext cx="3657600" cy="274320"/>
          </a:xfrm>
          <a:prstGeom prst="rect">
            <a:avLst/>
          </a:prstGeom>
          <a:noFill/>
          <a:ln/>
        </p:spPr>
        <p:txBody>
          <a:bodyPr wrap="square" rtlCol="0" anchor="ctr"/>
          <a:lstStyle/>
          <a:p>
            <a:pPr algn="ctr" indent="0" marL="0">
              <a:buNone/>
            </a:pPr>
            <a:r>
              <a:rPr lang="en-US" sz="1050" b="1" dirty="0">
                <a:solidFill>
                  <a:srgbClr val="0B1F3A"/>
                </a:solidFill>
              </a:rPr>
              <a:t>Payload vs Site</a:t>
            </a:r>
            <a:endParaRPr lang="en-US" sz="1050" dirty="0"/>
          </a:p>
        </p:txBody>
      </p:sp>
      <p:pic>
        <p:nvPicPr>
          <p:cNvPr id="9" name="Image 2" descr="/home/claude/capstone/images/eda_orbit_success.png">    </p:cNvPr>
          <p:cNvPicPr>
            <a:picLocks noChangeAspect="1"/>
          </p:cNvPicPr>
          <p:nvPr/>
        </p:nvPicPr>
        <p:blipFill>
          <a:blip r:embed="rId3"/>
          <a:stretch>
            <a:fillRect/>
          </a:stretch>
        </p:blipFill>
        <p:spPr>
          <a:xfrm>
            <a:off x="8229600" y="1783080"/>
            <a:ext cx="3657600" cy="1783080"/>
          </a:xfrm>
          <a:prstGeom prst="rect">
            <a:avLst/>
          </a:prstGeom>
        </p:spPr>
      </p:pic>
      <p:sp>
        <p:nvSpPr>
          <p:cNvPr id="10" name="Text 5"/>
          <p:cNvSpPr/>
          <p:nvPr/>
        </p:nvSpPr>
        <p:spPr>
          <a:xfrm>
            <a:off x="8229600" y="3566160"/>
            <a:ext cx="3657600" cy="274320"/>
          </a:xfrm>
          <a:prstGeom prst="rect">
            <a:avLst/>
          </a:prstGeom>
          <a:noFill/>
          <a:ln/>
        </p:spPr>
        <p:txBody>
          <a:bodyPr wrap="square" rtlCol="0" anchor="ctr"/>
          <a:lstStyle/>
          <a:p>
            <a:pPr algn="ctr" indent="0" marL="0">
              <a:buNone/>
            </a:pPr>
            <a:r>
              <a:rPr lang="en-US" sz="1050" b="1" dirty="0">
                <a:solidFill>
                  <a:srgbClr val="0B1F3A"/>
                </a:solidFill>
              </a:rPr>
              <a:t>Success Rate by Orbit</a:t>
            </a:r>
            <a:endParaRPr lang="en-US" sz="1050" dirty="0"/>
          </a:p>
        </p:txBody>
      </p:sp>
      <p:pic>
        <p:nvPicPr>
          <p:cNvPr id="11" name="Image 3" descr="/home/claude/capstone/images/eda_flightnum_orbit.png">    </p:cNvPr>
          <p:cNvPicPr>
            <a:picLocks noChangeAspect="1"/>
          </p:cNvPicPr>
          <p:nvPr/>
        </p:nvPicPr>
        <p:blipFill>
          <a:blip r:embed="rId4"/>
          <a:stretch>
            <a:fillRect/>
          </a:stretch>
        </p:blipFill>
        <p:spPr>
          <a:xfrm>
            <a:off x="457200" y="3931920"/>
            <a:ext cx="3657600" cy="1783080"/>
          </a:xfrm>
          <a:prstGeom prst="rect">
            <a:avLst/>
          </a:prstGeom>
        </p:spPr>
      </p:pic>
      <p:sp>
        <p:nvSpPr>
          <p:cNvPr id="12" name="Text 6"/>
          <p:cNvSpPr/>
          <p:nvPr/>
        </p:nvSpPr>
        <p:spPr>
          <a:xfrm>
            <a:off x="457200" y="5715000"/>
            <a:ext cx="3657600" cy="274320"/>
          </a:xfrm>
          <a:prstGeom prst="rect">
            <a:avLst/>
          </a:prstGeom>
          <a:noFill/>
          <a:ln/>
        </p:spPr>
        <p:txBody>
          <a:bodyPr wrap="square" rtlCol="0" anchor="ctr"/>
          <a:lstStyle/>
          <a:p>
            <a:pPr algn="ctr" indent="0" marL="0">
              <a:buNone/>
            </a:pPr>
            <a:r>
              <a:rPr lang="en-US" sz="1050" b="1" dirty="0">
                <a:solidFill>
                  <a:srgbClr val="0B1F3A"/>
                </a:solidFill>
              </a:rPr>
              <a:t>Flight # vs Orbit</a:t>
            </a:r>
            <a:endParaRPr lang="en-US" sz="1050" dirty="0"/>
          </a:p>
        </p:txBody>
      </p:sp>
      <p:pic>
        <p:nvPicPr>
          <p:cNvPr id="13" name="Image 4" descr="/home/claude/capstone/images/eda_payload_orbit.png">    </p:cNvPr>
          <p:cNvPicPr>
            <a:picLocks noChangeAspect="1"/>
          </p:cNvPicPr>
          <p:nvPr/>
        </p:nvPicPr>
        <p:blipFill>
          <a:blip r:embed="rId5"/>
          <a:stretch>
            <a:fillRect/>
          </a:stretch>
        </p:blipFill>
        <p:spPr>
          <a:xfrm>
            <a:off x="4343400" y="3931920"/>
            <a:ext cx="3657600" cy="1783080"/>
          </a:xfrm>
          <a:prstGeom prst="rect">
            <a:avLst/>
          </a:prstGeom>
        </p:spPr>
      </p:pic>
      <p:sp>
        <p:nvSpPr>
          <p:cNvPr id="14" name="Text 7"/>
          <p:cNvSpPr/>
          <p:nvPr/>
        </p:nvSpPr>
        <p:spPr>
          <a:xfrm>
            <a:off x="4343400" y="5715000"/>
            <a:ext cx="3657600" cy="274320"/>
          </a:xfrm>
          <a:prstGeom prst="rect">
            <a:avLst/>
          </a:prstGeom>
          <a:noFill/>
          <a:ln/>
        </p:spPr>
        <p:txBody>
          <a:bodyPr wrap="square" rtlCol="0" anchor="ctr"/>
          <a:lstStyle/>
          <a:p>
            <a:pPr algn="ctr" indent="0" marL="0">
              <a:buNone/>
            </a:pPr>
            <a:r>
              <a:rPr lang="en-US" sz="1050" b="1" dirty="0">
                <a:solidFill>
                  <a:srgbClr val="0B1F3A"/>
                </a:solidFill>
              </a:rPr>
              <a:t>Payload vs Orbit</a:t>
            </a:r>
            <a:endParaRPr lang="en-US" sz="1050" dirty="0"/>
          </a:p>
        </p:txBody>
      </p:sp>
      <p:pic>
        <p:nvPicPr>
          <p:cNvPr id="15" name="Image 5" descr="/home/claude/capstone/images/eda_yearly_trend.png">    </p:cNvPr>
          <p:cNvPicPr>
            <a:picLocks noChangeAspect="1"/>
          </p:cNvPicPr>
          <p:nvPr/>
        </p:nvPicPr>
        <p:blipFill>
          <a:blip r:embed="rId6"/>
          <a:stretch>
            <a:fillRect/>
          </a:stretch>
        </p:blipFill>
        <p:spPr>
          <a:xfrm>
            <a:off x="8229600" y="3931920"/>
            <a:ext cx="3657600" cy="1783080"/>
          </a:xfrm>
          <a:prstGeom prst="rect">
            <a:avLst/>
          </a:prstGeom>
        </p:spPr>
      </p:pic>
      <p:sp>
        <p:nvSpPr>
          <p:cNvPr id="16" name="Text 8"/>
          <p:cNvSpPr/>
          <p:nvPr/>
        </p:nvSpPr>
        <p:spPr>
          <a:xfrm>
            <a:off x="8229600" y="5715000"/>
            <a:ext cx="3657600" cy="274320"/>
          </a:xfrm>
          <a:prstGeom prst="rect">
            <a:avLst/>
          </a:prstGeom>
          <a:noFill/>
          <a:ln/>
        </p:spPr>
        <p:txBody>
          <a:bodyPr wrap="square" rtlCol="0" anchor="ctr"/>
          <a:lstStyle/>
          <a:p>
            <a:pPr algn="ctr" indent="0" marL="0">
              <a:buNone/>
            </a:pPr>
            <a:r>
              <a:rPr lang="en-US" sz="1050" b="1" dirty="0">
                <a:solidFill>
                  <a:srgbClr val="0B1F3A"/>
                </a:solidFill>
              </a:rPr>
              <a:t>Success Rate by Year</a:t>
            </a:r>
            <a:endParaRPr lang="en-US" sz="1050" dirty="0"/>
          </a:p>
        </p:txBody>
      </p:sp>
      <p:sp>
        <p:nvSpPr>
          <p:cNvPr id="17" name="Text 9"/>
          <p:cNvSpPr/>
          <p:nvPr/>
        </p:nvSpPr>
        <p:spPr>
          <a:xfrm>
            <a:off x="457200" y="6126480"/>
            <a:ext cx="11247120" cy="365760"/>
          </a:xfrm>
          <a:prstGeom prst="rect">
            <a:avLst/>
          </a:prstGeom>
          <a:noFill/>
          <a:ln/>
        </p:spPr>
        <p:txBody>
          <a:bodyPr wrap="square" rtlCol="0" anchor="ctr"/>
          <a:lstStyle/>
          <a:p>
            <a:pPr indent="0" marL="0">
              <a:buNone/>
            </a:pPr>
            <a:r>
              <a:rPr lang="en-US" sz="1050" i="1" dirty="0">
                <a:solidFill>
                  <a:srgbClr val="0B1F3A"/>
                </a:solidFill>
              </a:rPr>
              <a:t>Takeaway: GTO/ISS-orbit missions (heavier, higher-energy) show lower success rates; success climbed year-over-year, from ~0% in 2010–2013 to near 100% by 2019–2020. Chart types used: scatter plots and bar/line charts.</a:t>
            </a:r>
            <a:endParaRPr lang="en-US" sz="1050" dirty="0"/>
          </a:p>
        </p:txBody>
      </p:sp>
      <p:sp>
        <p:nvSpPr>
          <p:cNvPr id="18" name="Text 10"/>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7"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9" name="Text 11"/>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EXPLORATORY ANALYSIS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EDA with SQL</a:t>
            </a:r>
            <a:endParaRPr lang="en-US" sz="2400" dirty="0"/>
          </a:p>
        </p:txBody>
      </p:sp>
      <p:sp>
        <p:nvSpPr>
          <p:cNvPr id="4" name="Text 2"/>
          <p:cNvSpPr/>
          <p:nvPr/>
        </p:nvSpPr>
        <p:spPr>
          <a:xfrm>
            <a:off x="457200" y="1325880"/>
            <a:ext cx="11247120" cy="457200"/>
          </a:xfrm>
          <a:prstGeom prst="rect">
            <a:avLst/>
          </a:prstGeom>
          <a:noFill/>
          <a:ln/>
        </p:spPr>
        <p:txBody>
          <a:bodyPr wrap="square" rtlCol="0" anchor="ctr"/>
          <a:lstStyle/>
          <a:p>
            <a:pPr indent="0" marL="0">
              <a:buNone/>
            </a:pPr>
            <a:r>
              <a:rPr lang="en-US" sz="1250" dirty="0">
                <a:solidFill>
                  <a:srgbClr val="5B6472"/>
                </a:solidFill>
              </a:rPr>
              <a:t>The scraped launch table was loaded into a SQL database (SQLite / IBM Db2) as SPACEXTABLE and queried to answer specific business questions:</a:t>
            </a:r>
            <a:endParaRPr lang="en-US" sz="1250" dirty="0"/>
          </a:p>
        </p:txBody>
      </p:sp>
      <p:sp>
        <p:nvSpPr>
          <p:cNvPr id="5" name="Text 3"/>
          <p:cNvSpPr/>
          <p:nvPr/>
        </p:nvSpPr>
        <p:spPr>
          <a:xfrm>
            <a:off x="457200" y="1874520"/>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Distinct launch sites used</a:t>
            </a:r>
            <a:endParaRPr lang="en-US" sz="1100" dirty="0"/>
          </a:p>
        </p:txBody>
      </p:sp>
      <p:sp>
        <p:nvSpPr>
          <p:cNvPr id="6" name="Text 4"/>
          <p:cNvSpPr/>
          <p:nvPr/>
        </p:nvSpPr>
        <p:spPr>
          <a:xfrm>
            <a:off x="457200" y="2203704"/>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Total payload mass for NASA (CRS)</a:t>
            </a:r>
            <a:endParaRPr lang="en-US" sz="1100" dirty="0"/>
          </a:p>
        </p:txBody>
      </p:sp>
      <p:sp>
        <p:nvSpPr>
          <p:cNvPr id="7" name="Text 5"/>
          <p:cNvSpPr/>
          <p:nvPr/>
        </p:nvSpPr>
        <p:spPr>
          <a:xfrm>
            <a:off x="457200" y="2532888"/>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Avg. payload mass, F9 v1.1 boosters</a:t>
            </a:r>
            <a:endParaRPr lang="en-US" sz="1100" dirty="0"/>
          </a:p>
        </p:txBody>
      </p:sp>
      <p:sp>
        <p:nvSpPr>
          <p:cNvPr id="8" name="Text 6"/>
          <p:cNvSpPr/>
          <p:nvPr/>
        </p:nvSpPr>
        <p:spPr>
          <a:xfrm>
            <a:off x="457200" y="2862072"/>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Date of first successful ground-pad landing</a:t>
            </a:r>
            <a:endParaRPr lang="en-US" sz="1100" dirty="0"/>
          </a:p>
        </p:txBody>
      </p:sp>
      <p:sp>
        <p:nvSpPr>
          <p:cNvPr id="9" name="Text 7"/>
          <p:cNvSpPr/>
          <p:nvPr/>
        </p:nvSpPr>
        <p:spPr>
          <a:xfrm>
            <a:off x="457200" y="3191256"/>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Boosters landing on drone ship, 4–6t payload</a:t>
            </a:r>
            <a:endParaRPr lang="en-US" sz="1100" dirty="0"/>
          </a:p>
        </p:txBody>
      </p:sp>
      <p:sp>
        <p:nvSpPr>
          <p:cNvPr id="10" name="Text 8"/>
          <p:cNvSpPr/>
          <p:nvPr/>
        </p:nvSpPr>
        <p:spPr>
          <a:xfrm>
            <a:off x="5943600" y="1874520"/>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Count of each mission outcome</a:t>
            </a:r>
            <a:endParaRPr lang="en-US" sz="1100" dirty="0"/>
          </a:p>
        </p:txBody>
      </p:sp>
      <p:sp>
        <p:nvSpPr>
          <p:cNvPr id="11" name="Text 9"/>
          <p:cNvSpPr/>
          <p:nvPr/>
        </p:nvSpPr>
        <p:spPr>
          <a:xfrm>
            <a:off x="5943600" y="2203704"/>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Booster(s) carrying max payload mass</a:t>
            </a:r>
            <a:endParaRPr lang="en-US" sz="1100" dirty="0"/>
          </a:p>
        </p:txBody>
      </p:sp>
      <p:sp>
        <p:nvSpPr>
          <p:cNvPr id="12" name="Text 10"/>
          <p:cNvSpPr/>
          <p:nvPr/>
        </p:nvSpPr>
        <p:spPr>
          <a:xfrm>
            <a:off x="5943600" y="2532888"/>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Failed drone-ship landings in 2015</a:t>
            </a:r>
            <a:endParaRPr lang="en-US" sz="1100" dirty="0"/>
          </a:p>
        </p:txBody>
      </p:sp>
      <p:sp>
        <p:nvSpPr>
          <p:cNvPr id="13" name="Text 11"/>
          <p:cNvSpPr/>
          <p:nvPr/>
        </p:nvSpPr>
        <p:spPr>
          <a:xfrm>
            <a:off x="5943600" y="2862072"/>
            <a:ext cx="5394960" cy="310896"/>
          </a:xfrm>
          <a:prstGeom prst="rect">
            <a:avLst/>
          </a:prstGeom>
          <a:noFill/>
          <a:ln/>
        </p:spPr>
        <p:txBody>
          <a:bodyPr wrap="square" rtlCol="0" anchor="ctr"/>
          <a:lstStyle/>
          <a:p>
            <a:pPr marL="342900" indent="-342900">
              <a:buSzPct val="100000"/>
              <a:buChar char="✓"/>
            </a:pPr>
            <a:r>
              <a:rPr lang="en-US" sz="1100" dirty="0">
                <a:solidFill>
                  <a:srgbClr val="0B1F3A"/>
                </a:solidFill>
              </a:rPr>
              <a:t>Ranking of landing outcomes 2010–2017</a:t>
            </a:r>
            <a:endParaRPr lang="en-US" sz="1100" dirty="0"/>
          </a:p>
        </p:txBody>
      </p:sp>
      <p:sp>
        <p:nvSpPr>
          <p:cNvPr id="14" name="Shape 12"/>
          <p:cNvSpPr/>
          <p:nvPr/>
        </p:nvSpPr>
        <p:spPr>
          <a:xfrm>
            <a:off x="457200" y="3703320"/>
            <a:ext cx="5394960" cy="2606040"/>
          </a:xfrm>
          <a:prstGeom prst="roundRect">
            <a:avLst>
              <a:gd name="adj" fmla="val 2807"/>
            </a:avLst>
          </a:prstGeom>
          <a:solidFill>
            <a:srgbClr val="F4F7FC"/>
          </a:solidFill>
          <a:ln/>
        </p:spPr>
      </p:sp>
      <p:sp>
        <p:nvSpPr>
          <p:cNvPr id="15" name="Text 13"/>
          <p:cNvSpPr/>
          <p:nvPr/>
        </p:nvSpPr>
        <p:spPr>
          <a:xfrm>
            <a:off x="640080" y="3794760"/>
            <a:ext cx="5029200" cy="320040"/>
          </a:xfrm>
          <a:prstGeom prst="rect">
            <a:avLst/>
          </a:prstGeom>
          <a:noFill/>
          <a:ln/>
        </p:spPr>
        <p:txBody>
          <a:bodyPr wrap="square" rtlCol="0" anchor="ctr"/>
          <a:lstStyle/>
          <a:p>
            <a:pPr indent="0" marL="0">
              <a:buNone/>
            </a:pPr>
            <a:r>
              <a:rPr lang="en-US" sz="1250" b="1" dirty="0">
                <a:solidFill>
                  <a:srgbClr val="0B1F3A"/>
                </a:solidFill>
              </a:rPr>
              <a:t>Query Results</a:t>
            </a:r>
            <a:endParaRPr lang="en-US" sz="1250" dirty="0"/>
          </a:p>
        </p:txBody>
      </p:sp>
      <p:sp>
        <p:nvSpPr>
          <p:cNvPr id="16" name="Text 14"/>
          <p:cNvSpPr/>
          <p:nvPr/>
        </p:nvSpPr>
        <p:spPr>
          <a:xfrm>
            <a:off x="640080" y="4160520"/>
            <a:ext cx="5029200" cy="2103120"/>
          </a:xfrm>
          <a:prstGeom prst="rect">
            <a:avLst/>
          </a:prstGeom>
          <a:noFill/>
          <a:ln/>
        </p:spPr>
        <p:txBody>
          <a:bodyPr wrap="square" rtlCol="0" anchor="ctr"/>
          <a:lstStyle/>
          <a:p>
            <a:pPr indent="0" marL="0">
              <a:lnSpc>
                <a:spcPts val="1500"/>
              </a:lnSpc>
              <a:buNone/>
            </a:pPr>
            <a:r>
              <a:rPr lang="en-US" sz="1000" b="1" dirty="0">
                <a:solidFill>
                  <a:srgbClr val="5B6472"/>
                </a:solidFill>
              </a:rPr>
              <a:t>4 launch sites: </a:t>
            </a:r>
            <a:pPr indent="0" marL="0">
              <a:lnSpc>
                <a:spcPts val="1500"/>
              </a:lnSpc>
              <a:buNone/>
            </a:pPr>
            <a:r>
              <a:rPr lang="en-US" sz="1000" dirty="0">
                <a:solidFill>
                  <a:srgbClr val="5B6472"/>
                </a:solidFill>
              </a:rPr>
              <a:t>CCAFS LC-40, CCAFS SLC-40, KSC LC-39A, VAFB SLC-4E
</a:t>
            </a:r>
            <a:pPr indent="0" marL="0">
              <a:lnSpc>
                <a:spcPts val="1500"/>
              </a:lnSpc>
              <a:buNone/>
            </a:pPr>
            <a:r>
              <a:rPr lang="en-US" sz="1000" b="1" dirty="0">
                <a:solidFill>
                  <a:srgbClr val="5B6472"/>
                </a:solidFill>
              </a:rPr>
              <a:t>NASA (CRS) total payload: </a:t>
            </a:r>
            <a:pPr indent="0" marL="0">
              <a:lnSpc>
                <a:spcPts val="1500"/>
              </a:lnSpc>
              <a:buNone/>
            </a:pPr>
            <a:r>
              <a:rPr lang="en-US" sz="1000" dirty="0">
                <a:solidFill>
                  <a:srgbClr val="5B6472"/>
                </a:solidFill>
              </a:rPr>
              <a:t>45,596 kg
</a:t>
            </a:r>
            <a:pPr indent="0" marL="0">
              <a:lnSpc>
                <a:spcPts val="1500"/>
              </a:lnSpc>
              <a:buNone/>
            </a:pPr>
            <a:r>
              <a:rPr lang="en-US" sz="1000" b="1" dirty="0">
                <a:solidFill>
                  <a:srgbClr val="5B6472"/>
                </a:solidFill>
              </a:rPr>
              <a:t>Max single payload: </a:t>
            </a:r>
            <a:pPr indent="0" marL="0">
              <a:lnSpc>
                <a:spcPts val="1500"/>
              </a:lnSpc>
              <a:buNone/>
            </a:pPr>
            <a:r>
              <a:rPr lang="en-US" sz="1000" dirty="0">
                <a:solidFill>
                  <a:srgbClr val="5B6472"/>
                </a:solidFill>
              </a:rPr>
              <a:t>15,600 kg (F9 B5)
</a:t>
            </a:r>
            <a:pPr indent="0" marL="0">
              <a:lnSpc>
                <a:spcPts val="1500"/>
              </a:lnSpc>
              <a:buNone/>
            </a:pPr>
            <a:r>
              <a:rPr lang="en-US" sz="1000" b="1" dirty="0">
                <a:solidFill>
                  <a:srgbClr val="5B6472"/>
                </a:solidFill>
              </a:rPr>
              <a:t>First successful ground-pad landing: </a:t>
            </a:r>
            <a:pPr indent="0" marL="0">
              <a:lnSpc>
                <a:spcPts val="1500"/>
              </a:lnSpc>
              <a:buNone/>
            </a:pPr>
            <a:r>
              <a:rPr lang="en-US" sz="1000" dirty="0">
                <a:solidFill>
                  <a:srgbClr val="5B6472"/>
                </a:solidFill>
              </a:rPr>
              <a:t>1 May 2017
</a:t>
            </a:r>
            <a:pPr indent="0" marL="0">
              <a:lnSpc>
                <a:spcPts val="1500"/>
              </a:lnSpc>
              <a:buNone/>
            </a:pPr>
            <a:r>
              <a:rPr lang="en-US" sz="1000" b="1" dirty="0">
                <a:solidFill>
                  <a:srgbClr val="5B6472"/>
                </a:solidFill>
              </a:rPr>
              <a:t>Mission outcomes 2010–2020: </a:t>
            </a:r>
            <a:pPr indent="0" marL="0">
              <a:lnSpc>
                <a:spcPts val="1500"/>
              </a:lnSpc>
              <a:buNone/>
            </a:pPr>
            <a:r>
              <a:rPr lang="en-US" sz="1000" dirty="0">
                <a:solidFill>
                  <a:srgbClr val="5B6472"/>
                </a:solidFill>
              </a:rPr>
              <a:t>98 of 101 successful (booster-recovery success is the separate, harder metric this model targets)</a:t>
            </a:r>
            <a:endParaRPr lang="en-US" sz="1000" dirty="0"/>
          </a:p>
        </p:txBody>
      </p:sp>
      <p:sp>
        <p:nvSpPr>
          <p:cNvPr id="17" name="Shape 15"/>
          <p:cNvSpPr/>
          <p:nvPr/>
        </p:nvSpPr>
        <p:spPr>
          <a:xfrm>
            <a:off x="5943600" y="3703320"/>
            <a:ext cx="5394960" cy="2606040"/>
          </a:xfrm>
          <a:prstGeom prst="roundRect">
            <a:avLst>
              <a:gd name="adj" fmla="val 2807"/>
            </a:avLst>
          </a:prstGeom>
          <a:solidFill>
            <a:srgbClr val="F4F7FC"/>
          </a:solidFill>
          <a:ln/>
        </p:spPr>
      </p:sp>
      <p:sp>
        <p:nvSpPr>
          <p:cNvPr id="18" name="Text 16"/>
          <p:cNvSpPr/>
          <p:nvPr/>
        </p:nvSpPr>
        <p:spPr>
          <a:xfrm>
            <a:off x="6126480" y="3794760"/>
            <a:ext cx="5029200" cy="320040"/>
          </a:xfrm>
          <a:prstGeom prst="rect">
            <a:avLst/>
          </a:prstGeom>
          <a:noFill/>
          <a:ln/>
        </p:spPr>
        <p:txBody>
          <a:bodyPr wrap="square" rtlCol="0" anchor="ctr"/>
          <a:lstStyle/>
          <a:p>
            <a:pPr indent="0" marL="0">
              <a:buNone/>
            </a:pPr>
            <a:r>
              <a:rPr lang="en-US" sz="1250" b="1" dirty="0">
                <a:solidFill>
                  <a:srgbClr val="0B1F3A"/>
                </a:solidFill>
              </a:rPr>
              <a:t>Landing Outcome Ranking (2010–2017, top 5 by count)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6480" y="4160520"/>
          <a:ext cx="5029200" cy="2011680"/>
        </p:xfrm>
        <a:graphic>
          <a:graphicData uri="http://schemas.openxmlformats.org/drawingml/2006/table">
            <a:tbl>
              <a:tblPr/>
              <a:tblGrid>
                <a:gridCol w="3657600"/>
                <a:gridCol w="1371600"/>
              </a:tblGrid>
              <a:tr h="335280">
                <a:tc>
                  <a:txBody>
                    <a:bodyPr/>
                    <a:lstStyle/>
                    <a:p>
                      <a:pPr indent="0" marL="0">
                        <a:buNone/>
                      </a:pPr>
                      <a:r>
                        <a:rPr lang="en-US" sz="1050" b="1" dirty="0">
                          <a:solidFill>
                            <a:srgbClr val="FFFFFF"/>
                          </a:solidFill>
                        </a:rPr>
                        <a:t>Outcome</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050" b="1" dirty="0">
                          <a:solidFill>
                            <a:srgbClr val="FFFFFF"/>
                          </a:solidFill>
                        </a:rPr>
                        <a:t>Count</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335280">
                <a:tc>
                  <a:txBody>
                    <a:bodyPr/>
                    <a:lstStyle/>
                    <a:p>
                      <a:pPr indent="0" marL="0">
                        <a:buNone/>
                      </a:pPr>
                      <a:r>
                        <a:rPr lang="en-US" sz="1050" dirty="0">
                          <a:solidFill>
                            <a:srgbClr val="0B1F3A"/>
                          </a:solidFill>
                        </a:rPr>
                        <a:t>Success</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050" dirty="0">
                          <a:solidFill>
                            <a:srgbClr val="0B1F3A"/>
                          </a:solidFill>
                        </a:rPr>
                        <a:t>20</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35280">
                <a:tc>
                  <a:txBody>
                    <a:bodyPr/>
                    <a:lstStyle/>
                    <a:p>
                      <a:pPr indent="0" marL="0">
                        <a:buNone/>
                      </a:pPr>
                      <a:r>
                        <a:rPr lang="en-US" sz="1050" dirty="0">
                          <a:solidFill>
                            <a:srgbClr val="0B1F3A"/>
                          </a:solidFill>
                        </a:rPr>
                        <a:t>No attempt</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050" dirty="0">
                          <a:solidFill>
                            <a:srgbClr val="0B1F3A"/>
                          </a:solidFill>
                        </a:rPr>
                        <a:t>10</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35280">
                <a:tc>
                  <a:txBody>
                    <a:bodyPr/>
                    <a:lstStyle/>
                    <a:p>
                      <a:pPr indent="0" marL="0">
                        <a:buNone/>
                      </a:pPr>
                      <a:r>
                        <a:rPr lang="en-US" sz="1050" dirty="0">
                          <a:solidFill>
                            <a:srgbClr val="0B1F3A"/>
                          </a:solidFill>
                        </a:rPr>
                        <a:t>Success (drone ship)</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050" dirty="0">
                          <a:solidFill>
                            <a:srgbClr val="0B1F3A"/>
                          </a:solidFill>
                        </a:rPr>
                        <a:t>8</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35280">
                <a:tc>
                  <a:txBody>
                    <a:bodyPr/>
                    <a:lstStyle/>
                    <a:p>
                      <a:pPr indent="0" marL="0">
                        <a:buNone/>
                      </a:pPr>
                      <a:r>
                        <a:rPr lang="en-US" sz="1050" dirty="0">
                          <a:solidFill>
                            <a:srgbClr val="0B1F3A"/>
                          </a:solidFill>
                        </a:rPr>
                        <a:t>Success (ground pad)</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050" dirty="0">
                          <a:solidFill>
                            <a:srgbClr val="0B1F3A"/>
                          </a:solidFill>
                        </a:rPr>
                        <a:t>6</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35280">
                <a:tc>
                  <a:txBody>
                    <a:bodyPr/>
                    <a:lstStyle/>
                    <a:p>
                      <a:pPr indent="0" marL="0">
                        <a:buNone/>
                      </a:pPr>
                      <a:r>
                        <a:rPr lang="en-US" sz="1050" dirty="0">
                          <a:solidFill>
                            <a:srgbClr val="0B1F3A"/>
                          </a:solidFill>
                        </a:rPr>
                        <a:t>Failure (drone ship)</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050" dirty="0">
                          <a:solidFill>
                            <a:srgbClr val="0B1F3A"/>
                          </a:solidFill>
                        </a:rPr>
                        <a:t>4</a:t>
                      </a:r>
                      <a:endParaRPr lang="en-US" sz="10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20" name="Text 17"/>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21" name="Text 18"/>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INTERACTIVE VISUAL ANALYTICS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Folium Map</a:t>
            </a:r>
            <a:endParaRPr lang="en-US" sz="2400" dirty="0"/>
          </a:p>
        </p:txBody>
      </p:sp>
      <p:pic>
        <p:nvPicPr>
          <p:cNvPr id="4" name="Image 0" descr="/home/claude/capstone/images/folium_static_view.png">    </p:cNvPr>
          <p:cNvPicPr>
            <a:picLocks noChangeAspect="1"/>
          </p:cNvPicPr>
          <p:nvPr/>
        </p:nvPicPr>
        <p:blipFill>
          <a:blip r:embed="rId1"/>
          <a:stretch>
            <a:fillRect/>
          </a:stretch>
        </p:blipFill>
        <p:spPr>
          <a:xfrm>
            <a:off x="457200" y="1371600"/>
            <a:ext cx="6583680" cy="4114800"/>
          </a:xfrm>
          <a:prstGeom prst="rect">
            <a:avLst/>
          </a:prstGeom>
        </p:spPr>
      </p:pic>
      <p:sp>
        <p:nvSpPr>
          <p:cNvPr id="5" name="Text 2"/>
          <p:cNvSpPr/>
          <p:nvPr/>
        </p:nvSpPr>
        <p:spPr>
          <a:xfrm>
            <a:off x="7269480" y="1371600"/>
            <a:ext cx="4434840" cy="5029200"/>
          </a:xfrm>
          <a:prstGeom prst="rect">
            <a:avLst/>
          </a:prstGeom>
          <a:noFill/>
          <a:ln/>
        </p:spPr>
        <p:txBody>
          <a:bodyPr wrap="square" rtlCol="0" anchor="ctr"/>
          <a:lstStyle/>
          <a:p>
            <a:pPr indent="0" marL="0">
              <a:lnSpc>
                <a:spcPts val="1600"/>
              </a:lnSpc>
              <a:buNone/>
            </a:pPr>
            <a:r>
              <a:rPr lang="en-US" sz="1100" b="1" dirty="0">
                <a:solidFill>
                  <a:srgbClr val="0B1F3A"/>
                </a:solidFill>
              </a:rPr>
              <a:t>All 4 launch sites plotted with markers. </a:t>
            </a:r>
            <a:pPr indent="0" marL="0">
              <a:lnSpc>
                <a:spcPts val="1600"/>
              </a:lnSpc>
              <a:buNone/>
            </a:pPr>
            <a:r>
              <a:rPr lang="en-US" sz="1100" dirty="0">
                <a:solidFill>
                  <a:srgbClr val="5B6472"/>
                </a:solidFill>
              </a:rPr>
              <a:t>Every individual launch (55 records) is a marker, colored green for a successful landing and red for a failed/no-attempt landing — showing which sites cluster more successes.
</a:t>
            </a:r>
            <a:pPr indent="0" marL="0">
              <a:lnSpc>
                <a:spcPts val="1600"/>
              </a:lnSpc>
              <a:buNone/>
            </a:pPr>
            <a:r>
              <a:rPr lang="en-US" sz="1100" b="1" dirty="0">
                <a:solidFill>
                  <a:srgbClr val="0B1F3A"/>
                </a:solidFill>
              </a:rPr>
              <a:t>Observation: </a:t>
            </a:r>
            <a:pPr indent="0" marL="0">
              <a:lnSpc>
                <a:spcPts val="1600"/>
              </a:lnSpc>
              <a:buNone/>
            </a:pPr>
            <a:r>
              <a:rPr lang="en-US" sz="1100" dirty="0">
                <a:solidFill>
                  <a:srgbClr val="5B6472"/>
                </a:solidFill>
              </a:rPr>
              <a:t>KSC LC-39A and CCAFS SLC-40 show visibly denser green clusters than VAFB SLC-4E, consistent with higher launch cadence and a more refined recovery process.
</a:t>
            </a:r>
            <a:pPr indent="0" marL="0">
              <a:lnSpc>
                <a:spcPts val="1600"/>
              </a:lnSpc>
              <a:buNone/>
            </a:pPr>
            <a:r>
              <a:rPr lang="en-US" sz="1100" b="1" dirty="0">
                <a:solidFill>
                  <a:srgbClr val="0B1F3A"/>
                </a:solidFill>
              </a:rPr>
              <a:t>Proximity analysis (haversine distance from KSC LC-39A): </a:t>
            </a:r>
            <a:pPr indent="0" marL="0">
              <a:lnSpc>
                <a:spcPts val="1600"/>
              </a:lnSpc>
              <a:buNone/>
            </a:pPr>
            <a:r>
              <a:rPr lang="en-US" sz="1100" dirty="0">
                <a:solidFill>
                  <a:srgbClr val="5B6472"/>
                </a:solidFill>
              </a:rPr>
              <a:t>nearest coastline point 7.43 km; nearest city (Titusville area) 20.50 km. Sites are deliberately close to coastlines for downrange safety but a safe distance from population centers — a siting constraint any competing provider must replicate.</a:t>
            </a:r>
            <a:endParaRPr lang="en-US" sz="1100" dirty="0"/>
          </a:p>
        </p:txBody>
      </p:sp>
      <p:sp>
        <p:nvSpPr>
          <p:cNvPr id="6" name="Text 3"/>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https://github.com/razerblade09/spacex-falcon9-capstone/blob/main/notebooks/06_folium_map.py</a:t>
            </a:r>
            <a:endParaRPr lang="en-US" sz="950" dirty="0"/>
          </a:p>
        </p:txBody>
      </p:sp>
      <p:sp>
        <p:nvSpPr>
          <p:cNvPr id="7" name="Text 4"/>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INTERACTIVE VISUAL ANALYTICS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Plotly Dash App</a:t>
            </a:r>
            <a:endParaRPr lang="en-US" sz="2400" dirty="0"/>
          </a:p>
        </p:txBody>
      </p:sp>
      <p:pic>
        <p:nvPicPr>
          <p:cNvPr id="4" name="Image 0" descr="/home/claude/capstone/images/dash_pie_all_sites.png">    </p:cNvPr>
          <p:cNvPicPr>
            <a:picLocks noChangeAspect="1"/>
          </p:cNvPicPr>
          <p:nvPr/>
        </p:nvPicPr>
        <p:blipFill>
          <a:blip r:embed="rId1"/>
          <a:stretch>
            <a:fillRect/>
          </a:stretch>
        </p:blipFill>
        <p:spPr>
          <a:xfrm>
            <a:off x="365760" y="1371600"/>
            <a:ext cx="3749040" cy="3017520"/>
          </a:xfrm>
          <a:prstGeom prst="rect">
            <a:avLst/>
          </a:prstGeom>
        </p:spPr>
      </p:pic>
      <p:pic>
        <p:nvPicPr>
          <p:cNvPr id="5" name="Image 1" descr="/home/claude/capstone/images/dash_pie_top_site.png">    </p:cNvPr>
          <p:cNvPicPr>
            <a:picLocks noChangeAspect="1"/>
          </p:cNvPicPr>
          <p:nvPr/>
        </p:nvPicPr>
        <p:blipFill>
          <a:blip r:embed="rId2"/>
          <a:stretch>
            <a:fillRect/>
          </a:stretch>
        </p:blipFill>
        <p:spPr>
          <a:xfrm>
            <a:off x="4206240" y="1554480"/>
            <a:ext cx="3474720" cy="2743200"/>
          </a:xfrm>
          <a:prstGeom prst="rect">
            <a:avLst/>
          </a:prstGeom>
        </p:spPr>
      </p:pic>
      <p:pic>
        <p:nvPicPr>
          <p:cNvPr id="6" name="Image 2" descr="/home/claude/capstone/images/dash_payload_scatter.png">    </p:cNvPr>
          <p:cNvPicPr>
            <a:picLocks noChangeAspect="1"/>
          </p:cNvPicPr>
          <p:nvPr/>
        </p:nvPicPr>
        <p:blipFill>
          <a:blip r:embed="rId3"/>
          <a:stretch>
            <a:fillRect/>
          </a:stretch>
        </p:blipFill>
        <p:spPr>
          <a:xfrm>
            <a:off x="7772400" y="1417320"/>
            <a:ext cx="3931920" cy="3017520"/>
          </a:xfrm>
          <a:prstGeom prst="rect">
            <a:avLst/>
          </a:prstGeom>
        </p:spPr>
      </p:pic>
      <p:sp>
        <p:nvSpPr>
          <p:cNvPr id="7" name="Text 2"/>
          <p:cNvSpPr/>
          <p:nvPr/>
        </p:nvSpPr>
        <p:spPr>
          <a:xfrm>
            <a:off x="457200" y="4572000"/>
            <a:ext cx="11247120" cy="1828800"/>
          </a:xfrm>
          <a:prstGeom prst="rect">
            <a:avLst/>
          </a:prstGeom>
          <a:noFill/>
          <a:ln/>
        </p:spPr>
        <p:txBody>
          <a:bodyPr wrap="square" rtlCol="0" anchor="ctr"/>
          <a:lstStyle/>
          <a:p>
            <a:pPr indent="0" marL="0">
              <a:lnSpc>
                <a:spcPts val="1700"/>
              </a:lnSpc>
              <a:buNone/>
            </a:pPr>
            <a:r>
              <a:rPr lang="en-US" sz="1150" b="1" dirty="0">
                <a:solidFill>
                  <a:srgbClr val="0B1F3A"/>
                </a:solidFill>
              </a:rPr>
              <a:t>Dropdown to filter by launch site </a:t>
            </a:r>
            <a:pPr indent="0" marL="0">
              <a:lnSpc>
                <a:spcPts val="1700"/>
              </a:lnSpc>
              <a:buNone/>
            </a:pPr>
            <a:r>
              <a:rPr lang="en-US" sz="1150" dirty="0">
                <a:solidFill>
                  <a:srgbClr val="5B6472"/>
                </a:solidFill>
              </a:rPr>
              <a:t>drives a live-updating success-rate pie chart (left: share of successful landings per site; center: success/failure split at the top-volume site, CCAFS LC-40) and a </a:t>
            </a:r>
            <a:pPr indent="0" marL="0">
              <a:lnSpc>
                <a:spcPts val="1700"/>
              </a:lnSpc>
              <a:buNone/>
            </a:pPr>
            <a:r>
              <a:rPr lang="en-US" sz="1150" b="1" dirty="0">
                <a:solidFill>
                  <a:srgbClr val="0B1F3A"/>
                </a:solidFill>
              </a:rPr>
              <a:t>RangeSlider (0–10,000 kg) </a:t>
            </a:r>
            <a:pPr indent="0" marL="0">
              <a:lnSpc>
                <a:spcPts val="1700"/>
              </a:lnSpc>
              <a:buNone/>
            </a:pPr>
            <a:r>
              <a:rPr lang="en-US" sz="1150" dirty="0">
                <a:solidFill>
                  <a:srgbClr val="5B6472"/>
                </a:solidFill>
              </a:rPr>
              <a:t>narrows the payload window on the scatter plot (right), which recolors by booster version (v1.0/v1.1/FT/B4/B5).
</a:t>
            </a:r>
            <a:pPr indent="0" marL="0">
              <a:lnSpc>
                <a:spcPts val="1700"/>
              </a:lnSpc>
              <a:buNone/>
            </a:pPr>
            <a:r>
              <a:rPr lang="en-US" sz="1150" b="1" dirty="0">
                <a:solidFill>
                  <a:srgbClr val="0B1F3A"/>
                </a:solidFill>
              </a:rPr>
              <a:t>Insight: </a:t>
            </a:r>
            <a:pPr indent="0" marL="0">
              <a:lnSpc>
                <a:spcPts val="1700"/>
              </a:lnSpc>
              <a:buNone/>
            </a:pPr>
            <a:r>
              <a:rPr lang="en-US" sz="1150" dirty="0">
                <a:solidFill>
                  <a:srgbClr val="5B6472"/>
                </a:solidFill>
              </a:rPr>
              <a:t>newer booster generations succeed reliably across a much wider payload range than early versions — reusability maturity, not just payload size, drives success.</a:t>
            </a:r>
            <a:endParaRPr lang="en-US" sz="1150" dirty="0"/>
          </a:p>
        </p:txBody>
      </p:sp>
      <p:sp>
        <p:nvSpPr>
          <p:cNvPr id="8" name="Text 3"/>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4"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https://github.com/razerblade09/spacex-falcon9-capstone/blob/main/dashboard/app.py</a:t>
            </a:r>
            <a:endParaRPr lang="en-US" sz="950" dirty="0"/>
          </a:p>
        </p:txBody>
      </p:sp>
      <p:sp>
        <p:nvSpPr>
          <p:cNvPr id="9" name="Text 4"/>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PREDICTIVE ANALYSIS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Model Development &amp; Comparison</a:t>
            </a:r>
            <a:endParaRPr lang="en-US" sz="2400" dirty="0"/>
          </a:p>
        </p:txBody>
      </p:sp>
      <p:sp>
        <p:nvSpPr>
          <p:cNvPr id="4" name="Text 2"/>
          <p:cNvSpPr/>
          <p:nvPr/>
        </p:nvSpPr>
        <p:spPr>
          <a:xfrm>
            <a:off x="457200" y="1371600"/>
            <a:ext cx="5760720" cy="2377440"/>
          </a:xfrm>
          <a:prstGeom prst="rect">
            <a:avLst/>
          </a:prstGeom>
          <a:noFill/>
          <a:ln/>
        </p:spPr>
        <p:txBody>
          <a:bodyPr wrap="square" rtlCol="0" anchor="ctr"/>
          <a:lstStyle/>
          <a:p>
            <a:pPr indent="0" marL="0">
              <a:lnSpc>
                <a:spcPts val="1800"/>
              </a:lnSpc>
              <a:buNone/>
            </a:pPr>
            <a:r>
              <a:rPr lang="en-US" sz="1200" b="1" dirty="0">
                <a:solidFill>
                  <a:srgbClr val="0B1F3A"/>
                </a:solidFill>
              </a:rPr>
              <a:t>Features: </a:t>
            </a:r>
            <a:pPr indent="0" marL="0">
              <a:lnSpc>
                <a:spcPts val="1800"/>
              </a:lnSpc>
              <a:buNone/>
            </a:pPr>
            <a:r>
              <a:rPr lang="en-US" sz="1200" dirty="0">
                <a:solidFill>
                  <a:srgbClr val="5B6472"/>
                </a:solidFill>
              </a:rPr>
              <a:t>80 one-hot-encoded columns (orbit, launch site, landing pad, booster serial) plus flight number, payload mass, flights, grid fins, reused, legs, block — standardized with StandardScaler.
</a:t>
            </a:r>
            <a:pPr indent="0" marL="0">
              <a:lnSpc>
                <a:spcPts val="1800"/>
              </a:lnSpc>
              <a:buNone/>
            </a:pPr>
            <a:r>
              <a:rPr lang="en-US" sz="1200" b="1" dirty="0">
                <a:solidFill>
                  <a:srgbClr val="0B1F3A"/>
                </a:solidFill>
              </a:rPr>
              <a:t>Split: </a:t>
            </a:r>
            <a:pPr indent="0" marL="0">
              <a:lnSpc>
                <a:spcPts val="1800"/>
              </a:lnSpc>
              <a:buNone/>
            </a:pPr>
            <a:r>
              <a:rPr lang="en-US" sz="1200" dirty="0">
                <a:solidFill>
                  <a:srgbClr val="5B6472"/>
                </a:solidFill>
              </a:rPr>
              <a:t>80% train / 20% test (72 / 18 launches), stratified, random_state=2.
</a:t>
            </a:r>
            <a:pPr indent="0" marL="0">
              <a:lnSpc>
                <a:spcPts val="1800"/>
              </a:lnSpc>
              <a:buNone/>
            </a:pPr>
            <a:r>
              <a:rPr lang="en-US" sz="1200" b="1" dirty="0">
                <a:solidFill>
                  <a:srgbClr val="0B1F3A"/>
                </a:solidFill>
              </a:rPr>
              <a:t>Models compared (10-fold GridSearchCV each):</a:t>
            </a:r>
            <a:endParaRPr lang="en-US" sz="1200" dirty="0"/>
          </a:p>
        </p:txBody>
      </p:sp>
      <p:sp>
        <p:nvSpPr>
          <p:cNvPr id="5" name="Text 3"/>
          <p:cNvSpPr/>
          <p:nvPr/>
        </p:nvSpPr>
        <p:spPr>
          <a:xfrm>
            <a:off x="731520" y="3749040"/>
            <a:ext cx="5486400" cy="329184"/>
          </a:xfrm>
          <a:prstGeom prst="rect">
            <a:avLst/>
          </a:prstGeom>
          <a:noFill/>
          <a:ln/>
        </p:spPr>
        <p:txBody>
          <a:bodyPr wrap="square" rtlCol="0" anchor="ctr"/>
          <a:lstStyle/>
          <a:p>
            <a:pPr marL="342900" indent="-342900">
              <a:buSzPct val="100000"/>
              <a:buChar char="•"/>
            </a:pPr>
            <a:r>
              <a:rPr lang="en-US" sz="1100" dirty="0">
                <a:solidFill>
                  <a:srgbClr val="0B1F3A"/>
                </a:solidFill>
              </a:rPr>
              <a:t>Logistic Regression — C, penalty, solver</a:t>
            </a:r>
            <a:endParaRPr lang="en-US" sz="1100" dirty="0"/>
          </a:p>
        </p:txBody>
      </p:sp>
      <p:sp>
        <p:nvSpPr>
          <p:cNvPr id="6" name="Text 4"/>
          <p:cNvSpPr/>
          <p:nvPr/>
        </p:nvSpPr>
        <p:spPr>
          <a:xfrm>
            <a:off x="731520" y="4096512"/>
            <a:ext cx="5486400" cy="329184"/>
          </a:xfrm>
          <a:prstGeom prst="rect">
            <a:avLst/>
          </a:prstGeom>
          <a:noFill/>
          <a:ln/>
        </p:spPr>
        <p:txBody>
          <a:bodyPr wrap="square" rtlCol="0" anchor="ctr"/>
          <a:lstStyle/>
          <a:p>
            <a:pPr marL="342900" indent="-342900">
              <a:buSzPct val="100000"/>
              <a:buChar char="•"/>
            </a:pPr>
            <a:r>
              <a:rPr lang="en-US" sz="1100" dirty="0">
                <a:solidFill>
                  <a:srgbClr val="0B1F3A"/>
                </a:solidFill>
              </a:rPr>
              <a:t>Support Vector Machine — kernel, C, gamma</a:t>
            </a:r>
            <a:endParaRPr lang="en-US" sz="1100" dirty="0"/>
          </a:p>
        </p:txBody>
      </p:sp>
      <p:sp>
        <p:nvSpPr>
          <p:cNvPr id="7" name="Text 5"/>
          <p:cNvSpPr/>
          <p:nvPr/>
        </p:nvSpPr>
        <p:spPr>
          <a:xfrm>
            <a:off x="731520" y="4443984"/>
            <a:ext cx="5486400" cy="329184"/>
          </a:xfrm>
          <a:prstGeom prst="rect">
            <a:avLst/>
          </a:prstGeom>
          <a:noFill/>
          <a:ln/>
        </p:spPr>
        <p:txBody>
          <a:bodyPr wrap="square" rtlCol="0" anchor="ctr"/>
          <a:lstStyle/>
          <a:p>
            <a:pPr marL="342900" indent="-342900">
              <a:buSzPct val="100000"/>
              <a:buChar char="•"/>
            </a:pPr>
            <a:r>
              <a:rPr lang="en-US" sz="1100" dirty="0">
                <a:solidFill>
                  <a:srgbClr val="0B1F3A"/>
                </a:solidFill>
              </a:rPr>
              <a:t>Decision Tree — criterion, max_depth, min_samples_split</a:t>
            </a:r>
            <a:endParaRPr lang="en-US" sz="1100" dirty="0"/>
          </a:p>
        </p:txBody>
      </p:sp>
      <p:sp>
        <p:nvSpPr>
          <p:cNvPr id="8" name="Text 6"/>
          <p:cNvSpPr/>
          <p:nvPr/>
        </p:nvSpPr>
        <p:spPr>
          <a:xfrm>
            <a:off x="731520" y="4791456"/>
            <a:ext cx="5486400" cy="329184"/>
          </a:xfrm>
          <a:prstGeom prst="rect">
            <a:avLst/>
          </a:prstGeom>
          <a:noFill/>
          <a:ln/>
        </p:spPr>
        <p:txBody>
          <a:bodyPr wrap="square" rtlCol="0" anchor="ctr"/>
          <a:lstStyle/>
          <a:p>
            <a:pPr marL="342900" indent="-342900">
              <a:buSzPct val="100000"/>
              <a:buChar char="•"/>
            </a:pPr>
            <a:r>
              <a:rPr lang="en-US" sz="1100" dirty="0">
                <a:solidFill>
                  <a:srgbClr val="0B1F3A"/>
                </a:solidFill>
              </a:rPr>
              <a:t>K-Nearest Neighbors — n_neighbors, distance metric (p)</a:t>
            </a:r>
            <a:endParaRPr lang="en-US" sz="1100" dirty="0"/>
          </a:p>
        </p:txBody>
      </p:sp>
      <p:pic>
        <p:nvPicPr>
          <p:cNvPr id="9" name="Image 0" descr="/home/claude/capstone/images/model_comparison.png">    </p:cNvPr>
          <p:cNvPicPr>
            <a:picLocks noChangeAspect="1"/>
          </p:cNvPicPr>
          <p:nvPr/>
        </p:nvPicPr>
        <p:blipFill>
          <a:blip r:embed="rId1"/>
          <a:stretch>
            <a:fillRect/>
          </a:stretch>
        </p:blipFill>
        <p:spPr>
          <a:xfrm>
            <a:off x="6492240" y="1371600"/>
            <a:ext cx="5212080" cy="3566160"/>
          </a:xfrm>
          <a:prstGeom prst="rect">
            <a:avLst/>
          </a:prstGeom>
        </p:spPr>
      </p:pic>
      <p:sp>
        <p:nvSpPr>
          <p:cNvPr id="10" name="Text 7"/>
          <p:cNvSpPr/>
          <p:nvPr/>
        </p:nvSpPr>
        <p:spPr>
          <a:xfrm>
            <a:off x="6492240" y="5029200"/>
            <a:ext cx="5212080" cy="1097280"/>
          </a:xfrm>
          <a:prstGeom prst="rect">
            <a:avLst/>
          </a:prstGeom>
          <a:noFill/>
          <a:ln/>
        </p:spPr>
        <p:txBody>
          <a:bodyPr wrap="square" rtlCol="0" anchor="ctr"/>
          <a:lstStyle/>
          <a:p>
            <a:pPr indent="0" marL="0">
              <a:buNone/>
            </a:pPr>
            <a:r>
              <a:rPr lang="en-US" sz="1100" i="1" dirty="0">
                <a:solidFill>
                  <a:srgbClr val="5B6472"/>
                </a:solidFill>
              </a:rPr>
              <a:t>All four models converged near 83% test accuracy, with Decision Tree slightly behind — the engineered features are strong, and model choice matters less than feature quality here.</a:t>
            </a:r>
            <a:endParaRPr lang="en-US" sz="1100" dirty="0"/>
          </a:p>
        </p:txBody>
      </p:sp>
      <p:sp>
        <p:nvSpPr>
          <p:cNvPr id="11" name="Text 8"/>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12" name="Text 9"/>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PREDICTIVE ANALYSIS</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Evaluation Results &amp; Best Model</a:t>
            </a:r>
            <a:endParaRPr lang="en-US" sz="2400" dirty="0"/>
          </a:p>
        </p:txBody>
      </p:sp>
      <p:pic>
        <p:nvPicPr>
          <p:cNvPr id="4" name="Image 0" descr="/home/claude/capstone/images/confusion_matrix_best.png">    </p:cNvPr>
          <p:cNvPicPr>
            <a:picLocks noChangeAspect="1"/>
          </p:cNvPicPr>
          <p:nvPr/>
        </p:nvPicPr>
        <p:blipFill>
          <a:blip r:embed="rId1"/>
          <a:stretch>
            <a:fillRect/>
          </a:stretch>
        </p:blipFill>
        <p:spPr>
          <a:xfrm>
            <a:off x="457200" y="1371600"/>
            <a:ext cx="4480560" cy="402336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212080" y="1371600"/>
          <a:ext cx="6492240" cy="1554480"/>
        </p:xfrm>
        <a:graphic>
          <a:graphicData uri="http://schemas.openxmlformats.org/drawingml/2006/table">
            <a:tbl>
              <a:tblPr/>
              <a:tblGrid>
                <a:gridCol w="3108960"/>
                <a:gridCol w="1691640"/>
                <a:gridCol w="1691640"/>
              </a:tblGrid>
              <a:tr h="310896">
                <a:tc>
                  <a:txBody>
                    <a:bodyPr/>
                    <a:lstStyle/>
                    <a:p>
                      <a:pPr indent="0" marL="0">
                        <a:buNone/>
                      </a:pPr>
                      <a:r>
                        <a:rPr lang="en-US" sz="1150" b="1" dirty="0">
                          <a:solidFill>
                            <a:srgbClr val="FFFFFF"/>
                          </a:solidFill>
                        </a:rPr>
                        <a:t>Model</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150" b="1" dirty="0">
                          <a:solidFill>
                            <a:srgbClr val="FFFFFF"/>
                          </a:solidFill>
                        </a:rPr>
                        <a:t>CV Score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c>
                  <a:txBody>
                    <a:bodyPr/>
                    <a:lstStyle/>
                    <a:p>
                      <a:pPr indent="0" marL="0">
                        <a:buNone/>
                      </a:pPr>
                      <a:r>
                        <a:rPr lang="en-US" sz="1150" b="1" dirty="0">
                          <a:solidFill>
                            <a:srgbClr val="FFFFFF"/>
                          </a:solidFill>
                        </a:rPr>
                        <a:t>Test Acc.</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solidFill>
                      <a:srgbClr val="3B60E4"/>
                    </a:solidFill>
                  </a:tcPr>
                </a:tc>
              </a:tr>
              <a:tr h="310896">
                <a:tc>
                  <a:txBody>
                    <a:bodyPr/>
                    <a:lstStyle/>
                    <a:p>
                      <a:pPr indent="0" marL="0">
                        <a:buNone/>
                      </a:pPr>
                      <a:r>
                        <a:rPr lang="en-US" sz="1150" b="1" dirty="0">
                          <a:solidFill>
                            <a:srgbClr val="0B1F3A"/>
                          </a:solidFill>
                        </a:rPr>
                        <a:t>Logistic Regression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0.821</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10896">
                <a:tc>
                  <a:txBody>
                    <a:bodyPr/>
                    <a:lstStyle/>
                    <a:p>
                      <a:pPr indent="0" marL="0">
                        <a:buNone/>
                      </a:pPr>
                      <a:r>
                        <a:rPr lang="en-US" sz="1150" dirty="0">
                          <a:solidFill>
                            <a:srgbClr val="0B1F3A"/>
                          </a:solidFill>
                        </a:rPr>
                        <a:t>SVM</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10896">
                <a:tc>
                  <a:txBody>
                    <a:bodyPr/>
                    <a:lstStyle/>
                    <a:p>
                      <a:pPr indent="0" marL="0">
                        <a:buNone/>
                      </a:pPr>
                      <a:r>
                        <a:rPr lang="en-US" sz="1150" dirty="0">
                          <a:solidFill>
                            <a:srgbClr val="0B1F3A"/>
                          </a:solidFill>
                        </a:rPr>
                        <a:t>KNN</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0.833</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r h="310896">
                <a:tc>
                  <a:txBody>
                    <a:bodyPr/>
                    <a:lstStyle/>
                    <a:p>
                      <a:pPr indent="0" marL="0">
                        <a:buNone/>
                      </a:pPr>
                      <a:r>
                        <a:rPr lang="en-US" sz="1150" dirty="0">
                          <a:solidFill>
                            <a:srgbClr val="0B1F3A"/>
                          </a:solidFill>
                        </a:rPr>
                        <a:t>Decision Tree</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0.804</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c>
                  <a:txBody>
                    <a:bodyPr/>
                    <a:lstStyle/>
                    <a:p>
                      <a:pPr algn="ctr" indent="0" marL="0">
                        <a:buNone/>
                      </a:pPr>
                      <a:r>
                        <a:rPr lang="en-US" sz="1150" dirty="0">
                          <a:solidFill>
                            <a:srgbClr val="0B1F3A"/>
                          </a:solidFill>
                        </a:rPr>
                        <a:t>0.778</a:t>
                      </a:r>
                      <a:endParaRPr lang="en-US" sz="1150" dirty="0"/>
                    </a:p>
                  </a:txBody>
                  <a:tcPr marL="91440" marR="91440" marT="45720" marB="45720">
                    <a:lnL w="12700" cap="flat" cmpd="sng" algn="ctr">
                      <a:solidFill>
                        <a:srgbClr val="E2E8F5"/>
                      </a:solidFill>
                      <a:prstDash val="solid"/>
                      <a:round/>
                      <a:headEnd type="none" w="med" len="med"/>
                      <a:tailEnd type="none" w="med" len="med"/>
                    </a:lnL>
                    <a:lnR w="12700" cap="flat" cmpd="sng" algn="ctr">
                      <a:solidFill>
                        <a:srgbClr val="E2E8F5"/>
                      </a:solidFill>
                      <a:prstDash val="solid"/>
                      <a:round/>
                      <a:headEnd type="none" w="med" len="med"/>
                      <a:tailEnd type="none" w="med" len="med"/>
                    </a:lnR>
                    <a:lnT w="12700" cap="flat" cmpd="sng" algn="ctr">
                      <a:solidFill>
                        <a:srgbClr val="E2E8F5"/>
                      </a:solidFill>
                      <a:prstDash val="solid"/>
                      <a:round/>
                      <a:headEnd type="none" w="med" len="med"/>
                      <a:tailEnd type="none" w="med" len="med"/>
                    </a:lnT>
                    <a:lnB w="12700" cap="flat" cmpd="sng" algn="ctr">
                      <a:solidFill>
                        <a:srgbClr val="E2E8F5"/>
                      </a:solidFill>
                      <a:prstDash val="solid"/>
                      <a:round/>
                      <a:headEnd type="none" w="med" len="med"/>
                      <a:tailEnd type="none" w="med" len="med"/>
                    </a:lnB>
                  </a:tcPr>
                </a:tc>
              </a:tr>
            </a:tbl>
          </a:graphicData>
        </a:graphic>
      </p:graphicFrame>
      <p:sp>
        <p:nvSpPr>
          <p:cNvPr id="6" name="Text 2"/>
          <p:cNvSpPr/>
          <p:nvPr/>
        </p:nvSpPr>
        <p:spPr>
          <a:xfrm>
            <a:off x="5212080" y="3108960"/>
            <a:ext cx="6492240" cy="2651760"/>
          </a:xfrm>
          <a:prstGeom prst="rect">
            <a:avLst/>
          </a:prstGeom>
          <a:noFill/>
          <a:ln/>
        </p:spPr>
        <p:txBody>
          <a:bodyPr wrap="square" rtlCol="0" anchor="ctr"/>
          <a:lstStyle/>
          <a:p>
            <a:pPr indent="0" marL="0">
              <a:lnSpc>
                <a:spcPts val="1700"/>
              </a:lnSpc>
              <a:buNone/>
            </a:pPr>
            <a:r>
              <a:rPr lang="en-US" sz="1150" b="1" dirty="0">
                <a:solidFill>
                  <a:srgbClr val="0B1F3A"/>
                </a:solidFill>
              </a:rPr>
              <a:t>Confusion matrix (18 test launches): </a:t>
            </a:r>
            <a:pPr indent="0" marL="0">
              <a:lnSpc>
                <a:spcPts val="1700"/>
              </a:lnSpc>
              <a:buNone/>
            </a:pPr>
            <a:r>
              <a:rPr lang="en-US" sz="1150" dirty="0">
                <a:solidFill>
                  <a:srgbClr val="5B6472"/>
                </a:solidFill>
              </a:rPr>
              <a:t>12 successful landings correctly predicted, 3 unsuccessful correctly predicted, 3 unsuccessful misclassified as successful, 0 successful landings missed — the model is conservative in the safer direction for cost bidding.
</a:t>
            </a:r>
            <a:pPr indent="0" marL="0">
              <a:lnSpc>
                <a:spcPts val="1700"/>
              </a:lnSpc>
              <a:buNone/>
            </a:pPr>
            <a:r>
              <a:rPr lang="en-US" sz="1150" b="1" dirty="0">
                <a:solidFill>
                  <a:srgbClr val="3B60E4"/>
                </a:solidFill>
              </a:rPr>
              <a:t>Best model: Logistic Regression </a:t>
            </a:r>
            <a:pPr indent="0" marL="0">
              <a:lnSpc>
                <a:spcPts val="1700"/>
              </a:lnSpc>
              <a:buNone/>
            </a:pPr>
            <a:r>
              <a:rPr lang="en-US" sz="1150" dirty="0">
                <a:solidFill>
                  <a:srgbClr val="5B6472"/>
                </a:solidFill>
              </a:rPr>
              <a:t>(C=1, L2 penalty, lbfgs solver). Ties SVM/KNN on accuracy (83.3%) but is far more interpretable — each coefficient directly shows its effect on landing-success odds, which matters for explaining a cost bid to stakeholders, and it's the cheapest to retrain as new launches arrive.</a:t>
            </a:r>
            <a:endParaRPr lang="en-US" sz="1150" dirty="0"/>
          </a:p>
        </p:txBody>
      </p:sp>
      <p:sp>
        <p:nvSpPr>
          <p:cNvPr id="7" name="Text 3"/>
          <p:cNvSpPr/>
          <p:nvPr/>
        </p:nvSpPr>
        <p:spPr>
          <a:xfrm>
            <a:off x="457200" y="6537960"/>
            <a:ext cx="11247120" cy="256032"/>
          </a:xfrm>
          <a:prstGeom prst="rect">
            <a:avLst/>
          </a:prstGeom>
          <a:noFill/>
          <a:ln/>
        </p:spPr>
        <p:txBody>
          <a:bodyPr wrap="square" rtlCol="0" anchor="ctr"/>
          <a:lstStyle/>
          <a:p>
            <a:pPr indent="0" marL="0">
              <a:buNone/>
            </a:pPr>
            <a:r>
              <a:rPr lang="en-US" sz="950" b="1" dirty="0">
                <a:solidFill>
                  <a:srgbClr val="5B6472"/>
                </a:solidFill>
              </a:rPr>
              <a:t>GitHub: </a:t>
            </a:r>
            <a:pPr indent="0" marL="0">
              <a:buNone/>
            </a:pPr>
            <a:r>
              <a:rPr lang="en-US" sz="950" u="sng" dirty="0">
                <a:solidFill>
                  <a:srgbClr val="3B60E4"/>
                </a:solidFill>
                <a:hlinkClick r:id="rId2" invalidUrl="" action="" tgtFrame="" tooltip="" history="1" highlightClick="0" endSnd="0">
                  <a:extLst>
                    <a:ext uri="{A12FA001-AC4F-418D-AE19-62706E023703}">
                      <ahyp:hlinkClr xmlns:ahyp="http://schemas.microsoft.com/office/drawing/2018/hyperlinkcolor" val="tx"/>
                    </a:ext>
                  </a:extLst>
                </a:hlinkClick>
              </a:rPr>
              <a:t>https://github.com/razerblade09/spacex-falcon9-capstone/blob/main/notebooks/04_07_eda_sql_ml.py</a:t>
            </a:r>
            <a:endParaRPr lang="en-US" sz="950" dirty="0"/>
          </a:p>
        </p:txBody>
      </p:sp>
      <p:sp>
        <p:nvSpPr>
          <p:cNvPr id="8" name="Text 4"/>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7315200" cy="256032"/>
          </a:xfrm>
          <a:prstGeom prst="rect">
            <a:avLst/>
          </a:prstGeom>
          <a:noFill/>
          <a:ln/>
        </p:spPr>
        <p:txBody>
          <a:bodyPr wrap="square" rtlCol="0" anchor="ctr"/>
          <a:lstStyle/>
          <a:p>
            <a:pPr indent="0" marL="0">
              <a:buNone/>
            </a:pPr>
            <a:r>
              <a:rPr lang="en-US" sz="1150" b="1" spc="200" kern="0" dirty="0">
                <a:solidFill>
                  <a:srgbClr val="3B60E4"/>
                </a:solidFill>
              </a:rPr>
              <a:t>WRAP-UP</a:t>
            </a:r>
            <a:endParaRPr lang="en-US" sz="1150" dirty="0"/>
          </a:p>
        </p:txBody>
      </p:sp>
      <p:sp>
        <p:nvSpPr>
          <p:cNvPr id="3" name="Text 1"/>
          <p:cNvSpPr/>
          <p:nvPr/>
        </p:nvSpPr>
        <p:spPr>
          <a:xfrm>
            <a:off x="457200" y="512064"/>
            <a:ext cx="11247120" cy="548640"/>
          </a:xfrm>
          <a:prstGeom prst="rect">
            <a:avLst/>
          </a:prstGeom>
          <a:noFill/>
          <a:ln/>
        </p:spPr>
        <p:txBody>
          <a:bodyPr wrap="square" rtlCol="0" anchor="ctr"/>
          <a:lstStyle/>
          <a:p>
            <a:pPr indent="0" marL="0">
              <a:buNone/>
            </a:pPr>
            <a:r>
              <a:rPr lang="en-US" sz="2400" b="1" dirty="0">
                <a:solidFill>
                  <a:srgbClr val="0B1F3A"/>
                </a:solidFill>
              </a:rPr>
              <a:t>Conclusion &amp; Insights</a:t>
            </a:r>
            <a:endParaRPr lang="en-US" sz="2400" dirty="0"/>
          </a:p>
        </p:txBody>
      </p:sp>
      <p:sp>
        <p:nvSpPr>
          <p:cNvPr id="4" name="Shape 2"/>
          <p:cNvSpPr/>
          <p:nvPr/>
        </p:nvSpPr>
        <p:spPr>
          <a:xfrm>
            <a:off x="457200" y="1417320"/>
            <a:ext cx="320040" cy="320040"/>
          </a:xfrm>
          <a:prstGeom prst="roundRect">
            <a:avLst>
              <a:gd name="adj" fmla="val 142857"/>
            </a:avLst>
          </a:prstGeom>
          <a:solidFill>
            <a:srgbClr val="3B60E4"/>
          </a:solidFill>
          <a:ln/>
        </p:spPr>
      </p:sp>
      <p:sp>
        <p:nvSpPr>
          <p:cNvPr id="5" name="Text 3"/>
          <p:cNvSpPr/>
          <p:nvPr/>
        </p:nvSpPr>
        <p:spPr>
          <a:xfrm>
            <a:off x="457200" y="1417320"/>
            <a:ext cx="320040" cy="320040"/>
          </a:xfrm>
          <a:prstGeom prst="rect">
            <a:avLst/>
          </a:prstGeom>
          <a:noFill/>
          <a:ln/>
        </p:spPr>
        <p:txBody>
          <a:bodyPr wrap="square" rtlCol="0" anchor="ctr"/>
          <a:lstStyle/>
          <a:p>
            <a:pPr algn="ctr" indent="0" marL="0">
              <a:buNone/>
            </a:pPr>
            <a:r>
              <a:rPr lang="en-US" sz="1200" b="1" dirty="0">
                <a:solidFill>
                  <a:srgbClr val="FFFFFF"/>
                </a:solidFill>
              </a:rPr>
              <a:t>1</a:t>
            </a:r>
            <a:endParaRPr lang="en-US" sz="1200" dirty="0"/>
          </a:p>
        </p:txBody>
      </p:sp>
      <p:sp>
        <p:nvSpPr>
          <p:cNvPr id="6" name="Text 4"/>
          <p:cNvSpPr/>
          <p:nvPr/>
        </p:nvSpPr>
        <p:spPr>
          <a:xfrm>
            <a:off x="960120" y="1371600"/>
            <a:ext cx="10698480" cy="868680"/>
          </a:xfrm>
          <a:prstGeom prst="rect">
            <a:avLst/>
          </a:prstGeom>
          <a:noFill/>
          <a:ln/>
        </p:spPr>
        <p:txBody>
          <a:bodyPr wrap="square" rtlCol="0" anchor="ctr"/>
          <a:lstStyle/>
          <a:p>
            <a:pPr indent="0" marL="0">
              <a:lnSpc>
                <a:spcPts val="1800"/>
              </a:lnSpc>
              <a:buNone/>
            </a:pPr>
            <a:r>
              <a:rPr lang="en-US" sz="1300" dirty="0">
                <a:solidFill>
                  <a:srgbClr val="0B1F3A"/>
                </a:solidFill>
              </a:rPr>
              <a:t>Landing success is highly learnable from launch parameters — 83% test accuracy from a simple, interpretable model (Logistic Regression).</a:t>
            </a:r>
            <a:endParaRPr lang="en-US" sz="1300" dirty="0"/>
          </a:p>
        </p:txBody>
      </p:sp>
      <p:sp>
        <p:nvSpPr>
          <p:cNvPr id="7" name="Shape 5"/>
          <p:cNvSpPr/>
          <p:nvPr/>
        </p:nvSpPr>
        <p:spPr>
          <a:xfrm>
            <a:off x="457200" y="2377440"/>
            <a:ext cx="320040" cy="320040"/>
          </a:xfrm>
          <a:prstGeom prst="roundRect">
            <a:avLst>
              <a:gd name="adj" fmla="val 142857"/>
            </a:avLst>
          </a:prstGeom>
          <a:solidFill>
            <a:srgbClr val="3B60E4"/>
          </a:solidFill>
          <a:ln/>
        </p:spPr>
      </p:sp>
      <p:sp>
        <p:nvSpPr>
          <p:cNvPr id="8" name="Text 6"/>
          <p:cNvSpPr/>
          <p:nvPr/>
        </p:nvSpPr>
        <p:spPr>
          <a:xfrm>
            <a:off x="457200" y="2377440"/>
            <a:ext cx="320040" cy="320040"/>
          </a:xfrm>
          <a:prstGeom prst="rect">
            <a:avLst/>
          </a:prstGeom>
          <a:noFill/>
          <a:ln/>
        </p:spPr>
        <p:txBody>
          <a:bodyPr wrap="square" rtlCol="0" anchor="ctr"/>
          <a:lstStyle/>
          <a:p>
            <a:pPr algn="ctr" indent="0" marL="0">
              <a:buNone/>
            </a:pPr>
            <a:r>
              <a:rPr lang="en-US" sz="1200" b="1" dirty="0">
                <a:solidFill>
                  <a:srgbClr val="FFFFFF"/>
                </a:solidFill>
              </a:rPr>
              <a:t>2</a:t>
            </a:r>
            <a:endParaRPr lang="en-US" sz="1200" dirty="0"/>
          </a:p>
        </p:txBody>
      </p:sp>
      <p:sp>
        <p:nvSpPr>
          <p:cNvPr id="9" name="Text 7"/>
          <p:cNvSpPr/>
          <p:nvPr/>
        </p:nvSpPr>
        <p:spPr>
          <a:xfrm>
            <a:off x="960120" y="2331720"/>
            <a:ext cx="10698480" cy="868680"/>
          </a:xfrm>
          <a:prstGeom prst="rect">
            <a:avLst/>
          </a:prstGeom>
          <a:noFill/>
          <a:ln/>
        </p:spPr>
        <p:txBody>
          <a:bodyPr wrap="square" rtlCol="0" anchor="ctr"/>
          <a:lstStyle/>
          <a:p>
            <a:pPr indent="0" marL="0">
              <a:lnSpc>
                <a:spcPts val="1800"/>
              </a:lnSpc>
              <a:buNone/>
            </a:pPr>
            <a:r>
              <a:rPr lang="en-US" sz="1300" dirty="0">
                <a:solidFill>
                  <a:srgbClr val="0B1F3A"/>
                </a:solidFill>
              </a:rPr>
              <a:t>Orbit type and payload mass are the strongest predictors; heavier GTO missions land less reliably than light LEO/ISS missions.</a:t>
            </a:r>
            <a:endParaRPr lang="en-US" sz="1300" dirty="0"/>
          </a:p>
        </p:txBody>
      </p:sp>
      <p:sp>
        <p:nvSpPr>
          <p:cNvPr id="10" name="Shape 8"/>
          <p:cNvSpPr/>
          <p:nvPr/>
        </p:nvSpPr>
        <p:spPr>
          <a:xfrm>
            <a:off x="457200" y="3337560"/>
            <a:ext cx="320040" cy="320040"/>
          </a:xfrm>
          <a:prstGeom prst="roundRect">
            <a:avLst>
              <a:gd name="adj" fmla="val 142857"/>
            </a:avLst>
          </a:prstGeom>
          <a:solidFill>
            <a:srgbClr val="3B60E4"/>
          </a:solidFill>
          <a:ln/>
        </p:spPr>
      </p:sp>
      <p:sp>
        <p:nvSpPr>
          <p:cNvPr id="11" name="Text 9"/>
          <p:cNvSpPr/>
          <p:nvPr/>
        </p:nvSpPr>
        <p:spPr>
          <a:xfrm>
            <a:off x="457200" y="3337560"/>
            <a:ext cx="320040" cy="320040"/>
          </a:xfrm>
          <a:prstGeom prst="rect">
            <a:avLst/>
          </a:prstGeom>
          <a:noFill/>
          <a:ln/>
        </p:spPr>
        <p:txBody>
          <a:bodyPr wrap="square" rtlCol="0" anchor="ctr"/>
          <a:lstStyle/>
          <a:p>
            <a:pPr algn="ctr" indent="0" marL="0">
              <a:buNone/>
            </a:pPr>
            <a:r>
              <a:rPr lang="en-US" sz="1200" b="1" dirty="0">
                <a:solidFill>
                  <a:srgbClr val="FFFFFF"/>
                </a:solidFill>
              </a:rPr>
              <a:t>3</a:t>
            </a:r>
            <a:endParaRPr lang="en-US" sz="1200" dirty="0"/>
          </a:p>
        </p:txBody>
      </p:sp>
      <p:sp>
        <p:nvSpPr>
          <p:cNvPr id="12" name="Text 10"/>
          <p:cNvSpPr/>
          <p:nvPr/>
        </p:nvSpPr>
        <p:spPr>
          <a:xfrm>
            <a:off x="960120" y="3291840"/>
            <a:ext cx="10698480" cy="868680"/>
          </a:xfrm>
          <a:prstGeom prst="rect">
            <a:avLst/>
          </a:prstGeom>
          <a:noFill/>
          <a:ln/>
        </p:spPr>
        <p:txBody>
          <a:bodyPr wrap="square" rtlCol="0" anchor="ctr"/>
          <a:lstStyle/>
          <a:p>
            <a:pPr indent="0" marL="0">
              <a:lnSpc>
                <a:spcPts val="1800"/>
              </a:lnSpc>
              <a:buNone/>
            </a:pPr>
            <a:r>
              <a:rPr lang="en-US" sz="1300" dirty="0">
                <a:solidFill>
                  <a:srgbClr val="0B1F3A"/>
                </a:solidFill>
              </a:rPr>
              <a:t>Success rate improved dramatically over time (2013 → 2020), reflecting SpaceX's iterative process improvements — not a static property of the hardware.</a:t>
            </a:r>
            <a:endParaRPr lang="en-US" sz="1300" dirty="0"/>
          </a:p>
        </p:txBody>
      </p:sp>
      <p:sp>
        <p:nvSpPr>
          <p:cNvPr id="13" name="Shape 11"/>
          <p:cNvSpPr/>
          <p:nvPr/>
        </p:nvSpPr>
        <p:spPr>
          <a:xfrm>
            <a:off x="457200" y="4297680"/>
            <a:ext cx="320040" cy="320040"/>
          </a:xfrm>
          <a:prstGeom prst="roundRect">
            <a:avLst>
              <a:gd name="adj" fmla="val 142857"/>
            </a:avLst>
          </a:prstGeom>
          <a:solidFill>
            <a:srgbClr val="3B60E4"/>
          </a:solidFill>
          <a:ln/>
        </p:spPr>
      </p:sp>
      <p:sp>
        <p:nvSpPr>
          <p:cNvPr id="14" name="Text 12"/>
          <p:cNvSpPr/>
          <p:nvPr/>
        </p:nvSpPr>
        <p:spPr>
          <a:xfrm>
            <a:off x="457200" y="4297680"/>
            <a:ext cx="320040" cy="320040"/>
          </a:xfrm>
          <a:prstGeom prst="rect">
            <a:avLst/>
          </a:prstGeom>
          <a:noFill/>
          <a:ln/>
        </p:spPr>
        <p:txBody>
          <a:bodyPr wrap="square" rtlCol="0" anchor="ctr"/>
          <a:lstStyle/>
          <a:p>
            <a:pPr algn="ctr" indent="0" marL="0">
              <a:buNone/>
            </a:pPr>
            <a:r>
              <a:rPr lang="en-US" sz="1200" b="1" dirty="0">
                <a:solidFill>
                  <a:srgbClr val="FFFFFF"/>
                </a:solidFill>
              </a:rPr>
              <a:t>4</a:t>
            </a:r>
            <a:endParaRPr lang="en-US" sz="1200" dirty="0"/>
          </a:p>
        </p:txBody>
      </p:sp>
      <p:sp>
        <p:nvSpPr>
          <p:cNvPr id="15" name="Text 13"/>
          <p:cNvSpPr/>
          <p:nvPr/>
        </p:nvSpPr>
        <p:spPr>
          <a:xfrm>
            <a:off x="960120" y="4251960"/>
            <a:ext cx="10698480" cy="868680"/>
          </a:xfrm>
          <a:prstGeom prst="rect">
            <a:avLst/>
          </a:prstGeom>
          <a:noFill/>
          <a:ln/>
        </p:spPr>
        <p:txBody>
          <a:bodyPr wrap="square" rtlCol="0" anchor="ctr"/>
          <a:lstStyle/>
          <a:p>
            <a:pPr indent="0" marL="0">
              <a:lnSpc>
                <a:spcPts val="1800"/>
              </a:lnSpc>
              <a:buNone/>
            </a:pPr>
            <a:r>
              <a:rPr lang="en-US" sz="1300" dirty="0">
                <a:solidFill>
                  <a:srgbClr val="0B1F3A"/>
                </a:solidFill>
              </a:rPr>
              <a:t>Interactive tools (Folium map, Plotly Dash) let stakeholders verify these patterns themselves rather than trusting static charts alone.</a:t>
            </a:r>
            <a:endParaRPr lang="en-US" sz="1300" dirty="0"/>
          </a:p>
        </p:txBody>
      </p:sp>
      <p:sp>
        <p:nvSpPr>
          <p:cNvPr id="16" name="Shape 14"/>
          <p:cNvSpPr/>
          <p:nvPr/>
        </p:nvSpPr>
        <p:spPr>
          <a:xfrm>
            <a:off x="457200" y="5257800"/>
            <a:ext cx="320040" cy="320040"/>
          </a:xfrm>
          <a:prstGeom prst="roundRect">
            <a:avLst>
              <a:gd name="adj" fmla="val 142857"/>
            </a:avLst>
          </a:prstGeom>
          <a:solidFill>
            <a:srgbClr val="3B60E4"/>
          </a:solidFill>
          <a:ln/>
        </p:spPr>
      </p:sp>
      <p:sp>
        <p:nvSpPr>
          <p:cNvPr id="17" name="Text 15"/>
          <p:cNvSpPr/>
          <p:nvPr/>
        </p:nvSpPr>
        <p:spPr>
          <a:xfrm>
            <a:off x="457200" y="5257800"/>
            <a:ext cx="320040" cy="320040"/>
          </a:xfrm>
          <a:prstGeom prst="rect">
            <a:avLst/>
          </a:prstGeom>
          <a:noFill/>
          <a:ln/>
        </p:spPr>
        <p:txBody>
          <a:bodyPr wrap="square" rtlCol="0" anchor="ctr"/>
          <a:lstStyle/>
          <a:p>
            <a:pPr algn="ctr" indent="0" marL="0">
              <a:buNone/>
            </a:pPr>
            <a:r>
              <a:rPr lang="en-US" sz="1200" b="1" dirty="0">
                <a:solidFill>
                  <a:srgbClr val="FFFFFF"/>
                </a:solidFill>
              </a:rPr>
              <a:t>5</a:t>
            </a:r>
            <a:endParaRPr lang="en-US" sz="1200" dirty="0"/>
          </a:p>
        </p:txBody>
      </p:sp>
      <p:sp>
        <p:nvSpPr>
          <p:cNvPr id="18" name="Text 16"/>
          <p:cNvSpPr/>
          <p:nvPr/>
        </p:nvSpPr>
        <p:spPr>
          <a:xfrm>
            <a:off x="960120" y="5212080"/>
            <a:ext cx="10698480" cy="868680"/>
          </a:xfrm>
          <a:prstGeom prst="rect">
            <a:avLst/>
          </a:prstGeom>
          <a:noFill/>
          <a:ln/>
        </p:spPr>
        <p:txBody>
          <a:bodyPr wrap="square" rtlCol="0" anchor="ctr"/>
          <a:lstStyle/>
          <a:p>
            <a:pPr indent="0" marL="0">
              <a:lnSpc>
                <a:spcPts val="1800"/>
              </a:lnSpc>
              <a:buNone/>
            </a:pPr>
            <a:r>
              <a:rPr lang="en-US" sz="1300" dirty="0">
                <a:solidFill>
                  <a:srgbClr val="0B1F3A"/>
                </a:solidFill>
              </a:rPr>
              <a:t>Recommendation: a competing bidder can use this model as a first-pass cost-risk estimator, refining it further with more recent launches and continuous re-training.</a:t>
            </a:r>
            <a:endParaRPr lang="en-US" sz="1300" dirty="0"/>
          </a:p>
        </p:txBody>
      </p:sp>
      <p:sp>
        <p:nvSpPr>
          <p:cNvPr id="19" name="Text 17">
            <a:hlinkClick r:id="rId1" tooltip=""/>
          </p:cNvPr>
          <p:cNvSpPr/>
          <p:nvPr/>
        </p:nvSpPr>
        <p:spPr>
          <a:xfrm>
            <a:off x="457200" y="6263640"/>
            <a:ext cx="11247120" cy="320040"/>
          </a:xfrm>
          <a:prstGeom prst="rect">
            <a:avLst/>
          </a:prstGeom>
          <a:noFill/>
          <a:ln/>
        </p:spPr>
        <p:txBody>
          <a:bodyPr wrap="square" rtlCol="0" anchor="ctr"/>
          <a:lstStyle/>
          <a:p>
            <a:pPr indent="0" marL="0">
              <a:buNone/>
            </a:pPr>
            <a:r>
              <a:rPr lang="en-US" sz="1100" u="sng" dirty="0">
                <a:solidFill>
                  <a:srgbClr val="3B60E4"/>
                </a:solidFill>
                <a:hlinkClick r:id="rId1" invalidUrl="" action="" tgtFrame="" tooltip="" history="1" highlightClick="0" endSnd="0">
                  <a:extLst>
                    <a:ext uri="{A12FA001-AC4F-418D-AE19-62706E023703}">
                      <ahyp:hlinkClr xmlns:ahyp="http://schemas.microsoft.com/office/drawing/2018/hyperlinkcolor" val="tx"/>
                    </a:ext>
                  </a:extLst>
                </a:hlinkClick>
              </a:rPr>
              <a:t>Full code, notebooks, and dashboard: https://github.com/razerblade09/spacex-falcon9-capstone</a:t>
            </a:r>
            <a:endParaRPr lang="en-US" sz="1100" dirty="0"/>
          </a:p>
        </p:txBody>
      </p:sp>
      <p:sp>
        <p:nvSpPr>
          <p:cNvPr id="20" name="Text 18"/>
          <p:cNvSpPr/>
          <p:nvPr/>
        </p:nvSpPr>
        <p:spPr>
          <a:xfrm>
            <a:off x="11750040" y="6537960"/>
            <a:ext cx="365760" cy="256032"/>
          </a:xfrm>
          <a:prstGeom prst="rect">
            <a:avLst/>
          </a:prstGeom>
          <a:noFill/>
          <a:ln/>
        </p:spPr>
        <p:txBody>
          <a:bodyPr wrap="square" rtlCol="0" anchor="ctr"/>
          <a:lstStyle/>
          <a:p>
            <a:pPr algn="r" indent="0" marL="0">
              <a:buNone/>
            </a:pPr>
            <a:r>
              <a:rPr lang="en-US" sz="950" dirty="0">
                <a:solidFill>
                  <a:srgbClr val="5B6472"/>
                </a:solidFill>
              </a:rPr>
              <a:t>12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2026-08-03T00:14:00Z</dcterms:created>
  <dcterms:modified xsi:type="dcterms:W3CDTF">2026-08-03T00:14:00Z</dcterms:modified>
</cp:coreProperties>
</file>