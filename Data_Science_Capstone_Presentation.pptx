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1_data_collection_api.py"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2_web_scraping.py"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3_data_wrangling.py"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4_07_eda_sql_ml.py"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4_07_eda_sql_ml.py"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github.com/razerblade09/spacex-falcon9-capstone/blob/main/dashboard/app.py"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6_folium_map.py"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6_folium_map.py"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razerblade09/spacex-falcon9-capstone/blob/main/dashboard/app.py"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razerblade09/spacex-falcon9-capstone/blob/main/dashboard/app.py" TargetMode="Externa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731520" y="2103120"/>
            <a:ext cx="10698480" cy="1828800"/>
          </a:xfrm>
          <a:prstGeom prst="rect">
            <a:avLst/>
          </a:prstGeom>
          <a:noFill/>
          <a:ln/>
        </p:spPr>
        <p:txBody>
          <a:bodyPr wrap="square" rtlCol="0" anchor="ctr"/>
          <a:lstStyle/>
          <a:p>
            <a:pPr algn="l" indent="0" marL="0">
              <a:buNone/>
            </a:pPr>
            <a:r>
              <a:rPr lang="en-US" sz="4000" b="1" dirty="0">
                <a:solidFill>
                  <a:srgbClr val="FFFFFF"/>
                </a:solidFill>
              </a:rPr>
              <a:t>SpaceX Falcon 9</a:t>
            </a:r>
            <a:endParaRPr lang="en-US" sz="4000" dirty="0"/>
          </a:p>
          <a:p>
            <a:pPr algn="l" indent="0" marL="0">
              <a:buNone/>
            </a:pPr>
            <a:r>
              <a:rPr lang="en-US" sz="4000" b="1" dirty="0">
                <a:solidFill>
                  <a:srgbClr val="FFFFFF"/>
                </a:solidFill>
              </a:rPr>
              <a:t>First-Stage Landing Prediction</a:t>
            </a:r>
            <a:endParaRPr lang="en-US" sz="4000" dirty="0"/>
          </a:p>
        </p:txBody>
      </p:sp>
      <p:sp>
        <p:nvSpPr>
          <p:cNvPr id="3" name="Text 1"/>
          <p:cNvSpPr/>
          <p:nvPr/>
        </p:nvSpPr>
        <p:spPr>
          <a:xfrm>
            <a:off x="731520" y="3749040"/>
            <a:ext cx="10058400" cy="457200"/>
          </a:xfrm>
          <a:prstGeom prst="rect">
            <a:avLst/>
          </a:prstGeom>
          <a:noFill/>
          <a:ln/>
        </p:spPr>
        <p:txBody>
          <a:bodyPr wrap="square" rtlCol="0" anchor="ctr"/>
          <a:lstStyle/>
          <a:p>
            <a:pPr indent="0" marL="0">
              <a:buNone/>
            </a:pPr>
            <a:r>
              <a:rPr lang="en-US" sz="2000" dirty="0">
                <a:solidFill>
                  <a:srgbClr val="17BEBB"/>
                </a:solidFill>
              </a:rPr>
              <a:t>Data Science Capstone Project Report</a:t>
            </a:r>
            <a:endParaRPr lang="en-US" sz="20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300" dirty="0">
                <a:solidFill>
                  <a:srgbClr val="AAB4C8"/>
                </a:solidFill>
              </a:rPr>
              <a:t>Presented by: Aaron Vargas   |   2026-08-19</a:t>
            </a:r>
            <a:endParaRPr lang="en-US" sz="1300" dirty="0"/>
          </a:p>
        </p:txBody>
      </p:sp>
      <p:sp>
        <p:nvSpPr>
          <p:cNvPr id="5" name="Shape 3"/>
          <p:cNvSpPr/>
          <p:nvPr/>
        </p:nvSpPr>
        <p:spPr>
          <a:xfrm>
            <a:off x="731520" y="4343400"/>
            <a:ext cx="2011680" cy="54864"/>
          </a:xfrm>
          <a:prstGeom prst="rect">
            <a:avLst/>
          </a:prstGeom>
          <a:solidFill>
            <a:srgbClr val="3B60E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OVERVIEW</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Executive Summary</a:t>
            </a:r>
            <a:endParaRPr lang="en-US" sz="2600" dirty="0"/>
          </a:p>
        </p:txBody>
      </p:sp>
      <p:sp>
        <p:nvSpPr>
          <p:cNvPr id="4" name="Text 2"/>
          <p:cNvSpPr/>
          <p:nvPr/>
        </p:nvSpPr>
        <p:spPr>
          <a:xfrm>
            <a:off x="457200" y="1463040"/>
            <a:ext cx="5577840" cy="1920240"/>
          </a:xfrm>
          <a:prstGeom prst="rect">
            <a:avLst/>
          </a:prstGeom>
          <a:noFill/>
          <a:ln/>
        </p:spPr>
        <p:txBody>
          <a:bodyPr wrap="square" rtlCol="0" anchor="ctr"/>
          <a:lstStyle/>
          <a:p>
            <a:pPr indent="0" marL="0">
              <a:lnSpc>
                <a:spcPts val="2200"/>
              </a:lnSpc>
              <a:buNone/>
            </a:pPr>
            <a:r>
              <a:rPr lang="en-US" sz="1400" b="1" dirty="0">
                <a:solidFill>
                  <a:srgbClr val="0B1F3A"/>
                </a:solidFill>
              </a:rPr>
              <a:t>Methods used: </a:t>
            </a:r>
            <a:pPr indent="0" marL="0">
              <a:lnSpc>
                <a:spcPts val="2200"/>
              </a:lnSpc>
              <a:buNone/>
            </a:pPr>
            <a:r>
              <a:rPr lang="en-US" sz="1400" dirty="0">
                <a:solidFill>
                  <a:srgbClr val="5B6472"/>
                </a:solidFill>
              </a:rPr>
              <a:t>Data was collected via the SpaceX REST API and Wikipedia web scraping, cleaned and labeled, explored with visualization and SQL, mapped geospatially with Folium, and modeled with four classifiers (Logistic Regression, SVM, Decision Tree, KNN) tuned via GridSearchCV.</a:t>
            </a:r>
            <a:endParaRPr lang="en-US" sz="1400" dirty="0"/>
          </a:p>
        </p:txBody>
      </p:sp>
      <p:sp>
        <p:nvSpPr>
          <p:cNvPr id="5" name="Text 3"/>
          <p:cNvSpPr/>
          <p:nvPr/>
        </p:nvSpPr>
        <p:spPr>
          <a:xfrm>
            <a:off x="6217920" y="1463040"/>
            <a:ext cx="5486400" cy="1920240"/>
          </a:xfrm>
          <a:prstGeom prst="rect">
            <a:avLst/>
          </a:prstGeom>
          <a:noFill/>
          <a:ln/>
        </p:spPr>
        <p:txBody>
          <a:bodyPr wrap="square" rtlCol="0" anchor="ctr"/>
          <a:lstStyle/>
          <a:p>
            <a:pPr indent="0" marL="0">
              <a:lnSpc>
                <a:spcPts val="2200"/>
              </a:lnSpc>
              <a:buNone/>
            </a:pPr>
            <a:r>
              <a:rPr lang="en-US" sz="1400" b="1" dirty="0">
                <a:solidFill>
                  <a:srgbClr val="0B1F3A"/>
                </a:solidFill>
              </a:rPr>
              <a:t>Key results: </a:t>
            </a:r>
            <a:pPr indent="0" marL="0">
              <a:lnSpc>
                <a:spcPts val="2200"/>
              </a:lnSpc>
              <a:buNone/>
            </a:pPr>
            <a:r>
              <a:rPr lang="en-US" sz="1400" dirty="0">
                <a:solidFill>
                  <a:srgbClr val="5B6472"/>
                </a:solidFill>
              </a:rPr>
              <a:t>Across 90 Falcon 9 launches, the overall first-stage landing success rate was 67%. The best-performing model, Logistic Regression, reached 83% test accuracy in predicting landing outcome.</a:t>
            </a:r>
            <a:endParaRPr lang="en-US" sz="1400" dirty="0"/>
          </a:p>
        </p:txBody>
      </p:sp>
      <p:sp>
        <p:nvSpPr>
          <p:cNvPr id="6" name="Shape 4"/>
          <p:cNvSpPr/>
          <p:nvPr/>
        </p:nvSpPr>
        <p:spPr>
          <a:xfrm>
            <a:off x="457200" y="3657600"/>
            <a:ext cx="2606040" cy="1371600"/>
          </a:xfrm>
          <a:prstGeom prst="roundRect">
            <a:avLst>
              <a:gd name="adj" fmla="val 6667"/>
            </a:avLst>
          </a:prstGeom>
          <a:solidFill>
            <a:srgbClr val="F4F7FC"/>
          </a:solidFill>
          <a:ln w="12700">
            <a:solidFill>
              <a:srgbClr val="E2E8F5"/>
            </a:solidFill>
            <a:prstDash val="solid"/>
          </a:ln>
        </p:spPr>
      </p:sp>
      <p:sp>
        <p:nvSpPr>
          <p:cNvPr id="7" name="Text 5"/>
          <p:cNvSpPr/>
          <p:nvPr/>
        </p:nvSpPr>
        <p:spPr>
          <a:xfrm>
            <a:off x="457200" y="3794760"/>
            <a:ext cx="2606040" cy="640080"/>
          </a:xfrm>
          <a:prstGeom prst="rect">
            <a:avLst/>
          </a:prstGeom>
          <a:noFill/>
          <a:ln/>
        </p:spPr>
        <p:txBody>
          <a:bodyPr wrap="square" rtlCol="0" anchor="ctr"/>
          <a:lstStyle/>
          <a:p>
            <a:pPr algn="ctr" indent="0" marL="0">
              <a:buNone/>
            </a:pPr>
            <a:r>
              <a:rPr lang="en-US" sz="2800" b="1" dirty="0">
                <a:solidFill>
                  <a:srgbClr val="3B60E4"/>
                </a:solidFill>
              </a:rPr>
              <a:t>90</a:t>
            </a:r>
            <a:endParaRPr lang="en-US" sz="2800" dirty="0"/>
          </a:p>
        </p:txBody>
      </p:sp>
      <p:sp>
        <p:nvSpPr>
          <p:cNvPr id="8" name="Text 6"/>
          <p:cNvSpPr/>
          <p:nvPr/>
        </p:nvSpPr>
        <p:spPr>
          <a:xfrm>
            <a:off x="457200" y="4434840"/>
            <a:ext cx="2606040" cy="457200"/>
          </a:xfrm>
          <a:prstGeom prst="rect">
            <a:avLst/>
          </a:prstGeom>
          <a:noFill/>
          <a:ln/>
        </p:spPr>
        <p:txBody>
          <a:bodyPr wrap="square" rtlCol="0" anchor="ctr"/>
          <a:lstStyle/>
          <a:p>
            <a:pPr algn="ctr" indent="0" marL="0">
              <a:buNone/>
            </a:pPr>
            <a:r>
              <a:rPr lang="en-US" sz="1150" dirty="0">
                <a:solidFill>
                  <a:srgbClr val="5B6472"/>
                </a:solidFill>
              </a:rPr>
              <a:t>Launches analyzed</a:t>
            </a:r>
            <a:endParaRPr lang="en-US" sz="1150" dirty="0"/>
          </a:p>
        </p:txBody>
      </p:sp>
      <p:sp>
        <p:nvSpPr>
          <p:cNvPr id="9" name="Shape 7"/>
          <p:cNvSpPr/>
          <p:nvPr/>
        </p:nvSpPr>
        <p:spPr>
          <a:xfrm>
            <a:off x="3291840" y="3657600"/>
            <a:ext cx="2606040" cy="1371600"/>
          </a:xfrm>
          <a:prstGeom prst="roundRect">
            <a:avLst>
              <a:gd name="adj" fmla="val 6667"/>
            </a:avLst>
          </a:prstGeom>
          <a:solidFill>
            <a:srgbClr val="F4F7FC"/>
          </a:solidFill>
          <a:ln w="12700">
            <a:solidFill>
              <a:srgbClr val="E2E8F5"/>
            </a:solidFill>
            <a:prstDash val="solid"/>
          </a:ln>
        </p:spPr>
      </p:sp>
      <p:sp>
        <p:nvSpPr>
          <p:cNvPr id="10" name="Text 8"/>
          <p:cNvSpPr/>
          <p:nvPr/>
        </p:nvSpPr>
        <p:spPr>
          <a:xfrm>
            <a:off x="3291840" y="3794760"/>
            <a:ext cx="2606040" cy="640080"/>
          </a:xfrm>
          <a:prstGeom prst="rect">
            <a:avLst/>
          </a:prstGeom>
          <a:noFill/>
          <a:ln/>
        </p:spPr>
        <p:txBody>
          <a:bodyPr wrap="square" rtlCol="0" anchor="ctr"/>
          <a:lstStyle/>
          <a:p>
            <a:pPr algn="ctr" indent="0" marL="0">
              <a:buNone/>
            </a:pPr>
            <a:r>
              <a:rPr lang="en-US" sz="2800" b="1" dirty="0">
                <a:solidFill>
                  <a:srgbClr val="3B60E4"/>
                </a:solidFill>
              </a:rPr>
              <a:t>67%</a:t>
            </a:r>
            <a:endParaRPr lang="en-US" sz="2800" dirty="0"/>
          </a:p>
        </p:txBody>
      </p:sp>
      <p:sp>
        <p:nvSpPr>
          <p:cNvPr id="11" name="Text 9"/>
          <p:cNvSpPr/>
          <p:nvPr/>
        </p:nvSpPr>
        <p:spPr>
          <a:xfrm>
            <a:off x="3291840" y="4434840"/>
            <a:ext cx="2606040" cy="457200"/>
          </a:xfrm>
          <a:prstGeom prst="rect">
            <a:avLst/>
          </a:prstGeom>
          <a:noFill/>
          <a:ln/>
        </p:spPr>
        <p:txBody>
          <a:bodyPr wrap="square" rtlCol="0" anchor="ctr"/>
          <a:lstStyle/>
          <a:p>
            <a:pPr algn="ctr" indent="0" marL="0">
              <a:buNone/>
            </a:pPr>
            <a:r>
              <a:rPr lang="en-US" sz="1150" dirty="0">
                <a:solidFill>
                  <a:srgbClr val="5B6472"/>
                </a:solidFill>
              </a:rPr>
              <a:t>Overall landing success rate</a:t>
            </a:r>
            <a:endParaRPr lang="en-US" sz="1150" dirty="0"/>
          </a:p>
        </p:txBody>
      </p:sp>
      <p:sp>
        <p:nvSpPr>
          <p:cNvPr id="12" name="Shape 10"/>
          <p:cNvSpPr/>
          <p:nvPr/>
        </p:nvSpPr>
        <p:spPr>
          <a:xfrm>
            <a:off x="6126480" y="3657600"/>
            <a:ext cx="2606040" cy="1371600"/>
          </a:xfrm>
          <a:prstGeom prst="roundRect">
            <a:avLst>
              <a:gd name="adj" fmla="val 6667"/>
            </a:avLst>
          </a:prstGeom>
          <a:solidFill>
            <a:srgbClr val="F4F7FC"/>
          </a:solidFill>
          <a:ln w="12700">
            <a:solidFill>
              <a:srgbClr val="E2E8F5"/>
            </a:solidFill>
            <a:prstDash val="solid"/>
          </a:ln>
        </p:spPr>
      </p:sp>
      <p:sp>
        <p:nvSpPr>
          <p:cNvPr id="13" name="Text 11"/>
          <p:cNvSpPr/>
          <p:nvPr/>
        </p:nvSpPr>
        <p:spPr>
          <a:xfrm>
            <a:off x="6126480" y="3794760"/>
            <a:ext cx="2606040" cy="640080"/>
          </a:xfrm>
          <a:prstGeom prst="rect">
            <a:avLst/>
          </a:prstGeom>
          <a:noFill/>
          <a:ln/>
        </p:spPr>
        <p:txBody>
          <a:bodyPr wrap="square" rtlCol="0" anchor="ctr"/>
          <a:lstStyle/>
          <a:p>
            <a:pPr algn="ctr" indent="0" marL="0">
              <a:buNone/>
            </a:pPr>
            <a:r>
              <a:rPr lang="en-US" sz="2800" b="1" dirty="0">
                <a:solidFill>
                  <a:srgbClr val="3B60E4"/>
                </a:solidFill>
              </a:rPr>
              <a:t>83.3%</a:t>
            </a:r>
            <a:endParaRPr lang="en-US" sz="2800" dirty="0"/>
          </a:p>
        </p:txBody>
      </p:sp>
      <p:sp>
        <p:nvSpPr>
          <p:cNvPr id="14" name="Text 12"/>
          <p:cNvSpPr/>
          <p:nvPr/>
        </p:nvSpPr>
        <p:spPr>
          <a:xfrm>
            <a:off x="6126480" y="4434840"/>
            <a:ext cx="2606040" cy="457200"/>
          </a:xfrm>
          <a:prstGeom prst="rect">
            <a:avLst/>
          </a:prstGeom>
          <a:noFill/>
          <a:ln/>
        </p:spPr>
        <p:txBody>
          <a:bodyPr wrap="square" rtlCol="0" anchor="ctr"/>
          <a:lstStyle/>
          <a:p>
            <a:pPr algn="ctr" indent="0" marL="0">
              <a:buNone/>
            </a:pPr>
            <a:r>
              <a:rPr lang="en-US" sz="1150" dirty="0">
                <a:solidFill>
                  <a:srgbClr val="5B6472"/>
                </a:solidFill>
              </a:rPr>
              <a:t>Best model test accuracy</a:t>
            </a:r>
            <a:endParaRPr lang="en-US" sz="1150" dirty="0"/>
          </a:p>
        </p:txBody>
      </p:sp>
      <p:sp>
        <p:nvSpPr>
          <p:cNvPr id="15" name="Shape 13"/>
          <p:cNvSpPr/>
          <p:nvPr/>
        </p:nvSpPr>
        <p:spPr>
          <a:xfrm>
            <a:off x="8961120" y="3657600"/>
            <a:ext cx="2606040" cy="1371600"/>
          </a:xfrm>
          <a:prstGeom prst="roundRect">
            <a:avLst>
              <a:gd name="adj" fmla="val 6667"/>
            </a:avLst>
          </a:prstGeom>
          <a:solidFill>
            <a:srgbClr val="F4F7FC"/>
          </a:solidFill>
          <a:ln w="12700">
            <a:solidFill>
              <a:srgbClr val="E2E8F5"/>
            </a:solidFill>
            <a:prstDash val="solid"/>
          </a:ln>
        </p:spPr>
      </p:sp>
      <p:sp>
        <p:nvSpPr>
          <p:cNvPr id="16" name="Text 14"/>
          <p:cNvSpPr/>
          <p:nvPr/>
        </p:nvSpPr>
        <p:spPr>
          <a:xfrm>
            <a:off x="8961120" y="3794760"/>
            <a:ext cx="2606040" cy="640080"/>
          </a:xfrm>
          <a:prstGeom prst="rect">
            <a:avLst/>
          </a:prstGeom>
          <a:noFill/>
          <a:ln/>
        </p:spPr>
        <p:txBody>
          <a:bodyPr wrap="square" rtlCol="0" anchor="ctr"/>
          <a:lstStyle/>
          <a:p>
            <a:pPr algn="ctr" indent="0" marL="0">
              <a:buNone/>
            </a:pPr>
            <a:r>
              <a:rPr lang="en-US" sz="2800" b="1" dirty="0">
                <a:solidFill>
                  <a:srgbClr val="3B60E4"/>
                </a:solidFill>
              </a:rPr>
              <a:t>4</a:t>
            </a:r>
            <a:endParaRPr lang="en-US" sz="2800" dirty="0"/>
          </a:p>
        </p:txBody>
      </p:sp>
      <p:sp>
        <p:nvSpPr>
          <p:cNvPr id="17" name="Text 15"/>
          <p:cNvSpPr/>
          <p:nvPr/>
        </p:nvSpPr>
        <p:spPr>
          <a:xfrm>
            <a:off x="8961120" y="4434840"/>
            <a:ext cx="2606040" cy="457200"/>
          </a:xfrm>
          <a:prstGeom prst="rect">
            <a:avLst/>
          </a:prstGeom>
          <a:noFill/>
          <a:ln/>
        </p:spPr>
        <p:txBody>
          <a:bodyPr wrap="square" rtlCol="0" anchor="ctr"/>
          <a:lstStyle/>
          <a:p>
            <a:pPr algn="ctr" indent="0" marL="0">
              <a:buNone/>
            </a:pPr>
            <a:r>
              <a:rPr lang="en-US" sz="1150" dirty="0">
                <a:solidFill>
                  <a:srgbClr val="5B6472"/>
                </a:solidFill>
              </a:rPr>
              <a:t>ML models compared</a:t>
            </a:r>
            <a:endParaRPr lang="en-US" sz="1150" dirty="0"/>
          </a:p>
        </p:txBody>
      </p:sp>
      <p:sp>
        <p:nvSpPr>
          <p:cNvPr id="18" name="Text 16"/>
          <p:cNvSpPr/>
          <p:nvPr/>
        </p:nvSpPr>
        <p:spPr>
          <a:xfrm>
            <a:off x="457200" y="5349240"/>
            <a:ext cx="11247120" cy="822960"/>
          </a:xfrm>
          <a:prstGeom prst="rect">
            <a:avLst/>
          </a:prstGeom>
          <a:noFill/>
          <a:ln/>
        </p:spPr>
        <p:txBody>
          <a:bodyPr wrap="square" rtlCol="0" anchor="ctr"/>
          <a:lstStyle/>
          <a:p>
            <a:pPr indent="0" marL="0">
              <a:buNone/>
            </a:pPr>
            <a:r>
              <a:rPr lang="en-US" sz="1300" i="1" dirty="0">
                <a:solidFill>
                  <a:srgbClr val="0B1F3A"/>
                </a:solidFill>
              </a:rPr>
              <a:t>Conclusion: Landing success is highly predictable from launch parameters, meaning a competing launch provider could reliably estimate SpaceX's true reusable-launch cost advantage.</a:t>
            </a:r>
            <a:endParaRPr lang="en-US" sz="1300" dirty="0"/>
          </a:p>
        </p:txBody>
      </p:sp>
      <p:sp>
        <p:nvSpPr>
          <p:cNvPr id="19" name="Text 17"/>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BACKGROUND</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Introduction</a:t>
            </a:r>
            <a:endParaRPr lang="en-US" sz="2600" dirty="0"/>
          </a:p>
        </p:txBody>
      </p:sp>
      <p:sp>
        <p:nvSpPr>
          <p:cNvPr id="4" name="Text 2"/>
          <p:cNvSpPr/>
          <p:nvPr/>
        </p:nvSpPr>
        <p:spPr>
          <a:xfrm>
            <a:off x="457200" y="1463040"/>
            <a:ext cx="6675120" cy="2926080"/>
          </a:xfrm>
          <a:prstGeom prst="rect">
            <a:avLst/>
          </a:prstGeom>
          <a:noFill/>
          <a:ln/>
        </p:spPr>
        <p:txBody>
          <a:bodyPr wrap="square" rtlCol="0" anchor="ctr"/>
          <a:lstStyle/>
          <a:p>
            <a:pPr indent="0" marL="0">
              <a:lnSpc>
                <a:spcPts val="2400"/>
              </a:lnSpc>
              <a:buNone/>
            </a:pPr>
            <a:r>
              <a:rPr lang="en-US" sz="1450" dirty="0">
                <a:solidFill>
                  <a:srgbClr val="5B6472"/>
                </a:solidFill>
              </a:rPr>
              <a:t>SpaceX advertises Falcon 9 launches at $62 million, versus $165M+ from other providers — largely because SpaceX reuses the rocket's first stage instead of discarding it.
</a:t>
            </a:r>
            <a:pPr indent="0" marL="0">
              <a:lnSpc>
                <a:spcPts val="2400"/>
              </a:lnSpc>
              <a:buNone/>
            </a:pPr>
            <a:r>
              <a:rPr lang="en-US" sz="1450" b="1" dirty="0">
                <a:solidFill>
                  <a:srgbClr val="0B1F3A"/>
                </a:solidFill>
              </a:rPr>
              <a:t>Problem statement: </a:t>
            </a:r>
            <a:pPr indent="0" marL="0">
              <a:lnSpc>
                <a:spcPts val="2400"/>
              </a:lnSpc>
              <a:buNone/>
            </a:pPr>
            <a:r>
              <a:rPr lang="en-US" sz="1450" dirty="0">
                <a:solidFill>
                  <a:srgbClr val="5B6472"/>
                </a:solidFill>
              </a:rPr>
              <a:t>If the first stage does not land successfully, that launch's cost estimate changes substantially. This project builds a model to predict whether the first stage will land, using historical launch data — enabling accurate cost estimation for a competing bid.
</a:t>
            </a:r>
            <a:pPr indent="0" marL="0">
              <a:lnSpc>
                <a:spcPts val="2400"/>
              </a:lnSpc>
              <a:buNone/>
            </a:pPr>
            <a:r>
              <a:rPr lang="en-US" sz="1450" b="1" dirty="0">
                <a:solidFill>
                  <a:srgbClr val="0B1F3A"/>
                </a:solidFill>
              </a:rPr>
              <a:t>Objectives:</a:t>
            </a:r>
            <a:endParaRPr lang="en-US" sz="1450" dirty="0"/>
          </a:p>
        </p:txBody>
      </p:sp>
      <p:sp>
        <p:nvSpPr>
          <p:cNvPr id="5" name="Text 3"/>
          <p:cNvSpPr/>
          <p:nvPr/>
        </p:nvSpPr>
        <p:spPr>
          <a:xfrm>
            <a:off x="731520" y="4343400"/>
            <a:ext cx="6217920" cy="365760"/>
          </a:xfrm>
          <a:prstGeom prst="rect">
            <a:avLst/>
          </a:prstGeom>
          <a:noFill/>
          <a:ln/>
        </p:spPr>
        <p:txBody>
          <a:bodyPr wrap="square" rtlCol="0" anchor="ctr"/>
          <a:lstStyle/>
          <a:p>
            <a:pPr marL="342900" indent="-342900">
              <a:buSzPct val="100000"/>
              <a:buChar char="•"/>
            </a:pPr>
            <a:r>
              <a:rPr lang="en-US" sz="1300" dirty="0">
                <a:solidFill>
                  <a:srgbClr val="0B1F3A"/>
                </a:solidFill>
              </a:rPr>
              <a:t>Collect and clean historical Falcon 9 launch data</a:t>
            </a:r>
            <a:endParaRPr lang="en-US" sz="1300" dirty="0"/>
          </a:p>
        </p:txBody>
      </p:sp>
      <p:sp>
        <p:nvSpPr>
          <p:cNvPr id="6" name="Text 4"/>
          <p:cNvSpPr/>
          <p:nvPr/>
        </p:nvSpPr>
        <p:spPr>
          <a:xfrm>
            <a:off x="731520" y="4727448"/>
            <a:ext cx="6217920" cy="365760"/>
          </a:xfrm>
          <a:prstGeom prst="rect">
            <a:avLst/>
          </a:prstGeom>
          <a:noFill/>
          <a:ln/>
        </p:spPr>
        <p:txBody>
          <a:bodyPr wrap="square" rtlCol="0" anchor="ctr"/>
          <a:lstStyle/>
          <a:p>
            <a:pPr marL="342900" indent="-342900">
              <a:buSzPct val="100000"/>
              <a:buChar char="•"/>
            </a:pPr>
            <a:r>
              <a:rPr lang="en-US" sz="1300" dirty="0">
                <a:solidFill>
                  <a:srgbClr val="0B1F3A"/>
                </a:solidFill>
              </a:rPr>
              <a:t>Identify factors correlated with landing success</a:t>
            </a:r>
            <a:endParaRPr lang="en-US" sz="1300" dirty="0"/>
          </a:p>
        </p:txBody>
      </p:sp>
      <p:sp>
        <p:nvSpPr>
          <p:cNvPr id="7" name="Text 5"/>
          <p:cNvSpPr/>
          <p:nvPr/>
        </p:nvSpPr>
        <p:spPr>
          <a:xfrm>
            <a:off x="731520" y="5111496"/>
            <a:ext cx="6217920" cy="365760"/>
          </a:xfrm>
          <a:prstGeom prst="rect">
            <a:avLst/>
          </a:prstGeom>
          <a:noFill/>
          <a:ln/>
        </p:spPr>
        <p:txBody>
          <a:bodyPr wrap="square" rtlCol="0" anchor="ctr"/>
          <a:lstStyle/>
          <a:p>
            <a:pPr marL="342900" indent="-342900">
              <a:buSzPct val="100000"/>
              <a:buChar char="•"/>
            </a:pPr>
            <a:r>
              <a:rPr lang="en-US" sz="1300" dirty="0">
                <a:solidFill>
                  <a:srgbClr val="0B1F3A"/>
                </a:solidFill>
              </a:rPr>
              <a:t>Visualize patterns across sites, orbits, and time</a:t>
            </a:r>
            <a:endParaRPr lang="en-US" sz="1300" dirty="0"/>
          </a:p>
        </p:txBody>
      </p:sp>
      <p:sp>
        <p:nvSpPr>
          <p:cNvPr id="8" name="Text 6"/>
          <p:cNvSpPr/>
          <p:nvPr/>
        </p:nvSpPr>
        <p:spPr>
          <a:xfrm>
            <a:off x="731520" y="5495544"/>
            <a:ext cx="6217920" cy="365760"/>
          </a:xfrm>
          <a:prstGeom prst="rect">
            <a:avLst/>
          </a:prstGeom>
          <a:noFill/>
          <a:ln/>
        </p:spPr>
        <p:txBody>
          <a:bodyPr wrap="square" rtlCol="0" anchor="ctr"/>
          <a:lstStyle/>
          <a:p>
            <a:pPr marL="342900" indent="-342900">
              <a:buSzPct val="100000"/>
              <a:buChar char="•"/>
            </a:pPr>
            <a:r>
              <a:rPr lang="en-US" sz="1300" dirty="0">
                <a:solidFill>
                  <a:srgbClr val="0B1F3A"/>
                </a:solidFill>
              </a:rPr>
              <a:t>Build and evaluate a landing-outcome classifier</a:t>
            </a:r>
            <a:endParaRPr lang="en-US" sz="1300" dirty="0"/>
          </a:p>
        </p:txBody>
      </p:sp>
      <p:pic>
        <p:nvPicPr>
          <p:cNvPr id="9" name="Image 0" descr="C:\Users\USER\Documents\Coursera\repo\images\eda_yearly_trend.png">    </p:cNvPr>
          <p:cNvPicPr>
            <a:picLocks noChangeAspect="1"/>
          </p:cNvPicPr>
          <p:nvPr/>
        </p:nvPicPr>
        <p:blipFill>
          <a:blip r:embed="rId1"/>
          <a:stretch>
            <a:fillRect/>
          </a:stretch>
        </p:blipFill>
        <p:spPr>
          <a:xfrm>
            <a:off x="7406640" y="1463040"/>
            <a:ext cx="4297680" cy="2834640"/>
          </a:xfrm>
          <a:prstGeom prst="rect">
            <a:avLst/>
          </a:prstGeom>
        </p:spPr>
      </p:pic>
      <p:sp>
        <p:nvSpPr>
          <p:cNvPr id="10" name="Text 7"/>
          <p:cNvSpPr/>
          <p:nvPr/>
        </p:nvSpPr>
        <p:spPr>
          <a:xfrm>
            <a:off x="7406640" y="4343400"/>
            <a:ext cx="4297680" cy="1188720"/>
          </a:xfrm>
          <a:prstGeom prst="rect">
            <a:avLst/>
          </a:prstGeom>
          <a:noFill/>
          <a:ln/>
        </p:spPr>
        <p:txBody>
          <a:bodyPr wrap="square" rtlCol="0" anchor="ctr"/>
          <a:lstStyle/>
          <a:p>
            <a:pPr indent="0" marL="0">
              <a:buNone/>
            </a:pPr>
            <a:r>
              <a:rPr lang="en-US" sz="1150" i="1" dirty="0">
                <a:solidFill>
                  <a:srgbClr val="5B6472"/>
                </a:solidFill>
              </a:rPr>
              <a:t>Falcon 9 landing success climbed steadily as SpaceX matured its recovery process.</a:t>
            </a:r>
            <a:endParaRPr lang="en-US" sz="1150" dirty="0"/>
          </a:p>
        </p:txBody>
      </p:sp>
      <p:sp>
        <p:nvSpPr>
          <p:cNvPr id="11" name="Text 8"/>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DATA COLLECTION · PART 1</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Data Collection – SpaceX API</a:t>
            </a:r>
            <a:endParaRPr lang="en-US" sz="2600" dirty="0"/>
          </a:p>
        </p:txBody>
      </p:sp>
      <p:sp>
        <p:nvSpPr>
          <p:cNvPr id="4" name="Text 2"/>
          <p:cNvSpPr/>
          <p:nvPr/>
        </p:nvSpPr>
        <p:spPr>
          <a:xfrm>
            <a:off x="457200" y="1463040"/>
            <a:ext cx="5394960" cy="320040"/>
          </a:xfrm>
          <a:prstGeom prst="rect">
            <a:avLst/>
          </a:prstGeom>
          <a:noFill/>
          <a:ln/>
        </p:spPr>
        <p:txBody>
          <a:bodyPr wrap="square" rtlCol="0" anchor="ctr"/>
          <a:lstStyle/>
          <a:p>
            <a:pPr indent="0" marL="0">
              <a:buNone/>
            </a:pPr>
            <a:r>
              <a:rPr lang="en-US" sz="1400" b="1" dirty="0">
                <a:solidFill>
                  <a:srgbClr val="0B1F3A"/>
                </a:solidFill>
              </a:rPr>
              <a:t>Pipeline:</a:t>
            </a:r>
            <a:endParaRPr lang="en-US" sz="1400" dirty="0"/>
          </a:p>
        </p:txBody>
      </p:sp>
      <p:sp>
        <p:nvSpPr>
          <p:cNvPr id="5" name="Shape 3"/>
          <p:cNvSpPr/>
          <p:nvPr/>
        </p:nvSpPr>
        <p:spPr>
          <a:xfrm>
            <a:off x="457200" y="1874520"/>
            <a:ext cx="411480" cy="411480"/>
          </a:xfrm>
          <a:prstGeom prst="roundRect">
            <a:avLst>
              <a:gd name="adj" fmla="val 111111"/>
            </a:avLst>
          </a:prstGeom>
          <a:solidFill>
            <a:srgbClr val="3B60E4"/>
          </a:solidFill>
          <a:ln/>
        </p:spPr>
      </p:sp>
      <p:sp>
        <p:nvSpPr>
          <p:cNvPr id="6" name="Text 4"/>
          <p:cNvSpPr/>
          <p:nvPr/>
        </p:nvSpPr>
        <p:spPr>
          <a:xfrm>
            <a:off x="457200" y="1874520"/>
            <a:ext cx="411480" cy="41148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874520"/>
            <a:ext cx="4846320" cy="640080"/>
          </a:xfrm>
          <a:prstGeom prst="rect">
            <a:avLst/>
          </a:prstGeom>
          <a:noFill/>
          <a:ln/>
        </p:spPr>
        <p:txBody>
          <a:bodyPr wrap="square" rtlCol="0" anchor="ctr"/>
          <a:lstStyle/>
          <a:p>
            <a:pPr indent="0" marL="0">
              <a:buNone/>
            </a:pPr>
            <a:r>
              <a:rPr lang="en-US" sz="1250" dirty="0">
                <a:solidFill>
                  <a:srgbClr val="5B6472"/>
                </a:solidFill>
              </a:rPr>
              <a:t>GET /v4/launches/past → all historical launches</a:t>
            </a:r>
            <a:endParaRPr lang="en-US" sz="1250" dirty="0"/>
          </a:p>
        </p:txBody>
      </p:sp>
      <p:sp>
        <p:nvSpPr>
          <p:cNvPr id="8" name="Shape 6"/>
          <p:cNvSpPr/>
          <p:nvPr/>
        </p:nvSpPr>
        <p:spPr>
          <a:xfrm>
            <a:off x="457200" y="2587752"/>
            <a:ext cx="411480" cy="411480"/>
          </a:xfrm>
          <a:prstGeom prst="roundRect">
            <a:avLst>
              <a:gd name="adj" fmla="val 111111"/>
            </a:avLst>
          </a:prstGeom>
          <a:solidFill>
            <a:srgbClr val="3B60E4"/>
          </a:solidFill>
          <a:ln/>
        </p:spPr>
      </p:sp>
      <p:sp>
        <p:nvSpPr>
          <p:cNvPr id="9" name="Text 7"/>
          <p:cNvSpPr/>
          <p:nvPr/>
        </p:nvSpPr>
        <p:spPr>
          <a:xfrm>
            <a:off x="457200" y="2587752"/>
            <a:ext cx="411480" cy="41148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1005840" y="2587752"/>
            <a:ext cx="4846320" cy="640080"/>
          </a:xfrm>
          <a:prstGeom prst="rect">
            <a:avLst/>
          </a:prstGeom>
          <a:noFill/>
          <a:ln/>
        </p:spPr>
        <p:txBody>
          <a:bodyPr wrap="square" rtlCol="0" anchor="ctr"/>
          <a:lstStyle/>
          <a:p>
            <a:pPr indent="0" marL="0">
              <a:buNone/>
            </a:pPr>
            <a:r>
              <a:rPr lang="en-US" sz="1250" dirty="0">
                <a:solidFill>
                  <a:srgbClr val="5B6472"/>
                </a:solidFill>
              </a:rPr>
              <a:t>Filter to single-core, single-payload Falcon 9 flights</a:t>
            </a:r>
            <a:endParaRPr lang="en-US" sz="1250" dirty="0"/>
          </a:p>
        </p:txBody>
      </p:sp>
      <p:sp>
        <p:nvSpPr>
          <p:cNvPr id="11" name="Shape 9"/>
          <p:cNvSpPr/>
          <p:nvPr/>
        </p:nvSpPr>
        <p:spPr>
          <a:xfrm>
            <a:off x="457200" y="3300984"/>
            <a:ext cx="411480" cy="411480"/>
          </a:xfrm>
          <a:prstGeom prst="roundRect">
            <a:avLst>
              <a:gd name="adj" fmla="val 111111"/>
            </a:avLst>
          </a:prstGeom>
          <a:solidFill>
            <a:srgbClr val="3B60E4"/>
          </a:solidFill>
          <a:ln/>
        </p:spPr>
      </p:sp>
      <p:sp>
        <p:nvSpPr>
          <p:cNvPr id="12" name="Text 10"/>
          <p:cNvSpPr/>
          <p:nvPr/>
        </p:nvSpPr>
        <p:spPr>
          <a:xfrm>
            <a:off x="457200" y="3300984"/>
            <a:ext cx="411480" cy="41148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1005840" y="3300984"/>
            <a:ext cx="4846320" cy="640080"/>
          </a:xfrm>
          <a:prstGeom prst="rect">
            <a:avLst/>
          </a:prstGeom>
          <a:noFill/>
          <a:ln/>
        </p:spPr>
        <p:txBody>
          <a:bodyPr wrap="square" rtlCol="0" anchor="ctr"/>
          <a:lstStyle/>
          <a:p>
            <a:pPr indent="0" marL="0">
              <a:buNone/>
            </a:pPr>
            <a:r>
              <a:rPr lang="en-US" sz="1250" dirty="0">
                <a:solidFill>
                  <a:srgbClr val="5B6472"/>
                </a:solidFill>
              </a:rPr>
              <a:t>For each launch, call /rockets, /launchpads, /payloads, /cores endpoints</a:t>
            </a:r>
            <a:endParaRPr lang="en-US" sz="1250" dirty="0"/>
          </a:p>
        </p:txBody>
      </p:sp>
      <p:sp>
        <p:nvSpPr>
          <p:cNvPr id="14" name="Shape 12"/>
          <p:cNvSpPr/>
          <p:nvPr/>
        </p:nvSpPr>
        <p:spPr>
          <a:xfrm>
            <a:off x="457200" y="4014216"/>
            <a:ext cx="411480" cy="411480"/>
          </a:xfrm>
          <a:prstGeom prst="roundRect">
            <a:avLst>
              <a:gd name="adj" fmla="val 111111"/>
            </a:avLst>
          </a:prstGeom>
          <a:solidFill>
            <a:srgbClr val="3B60E4"/>
          </a:solidFill>
          <a:ln/>
        </p:spPr>
      </p:sp>
      <p:sp>
        <p:nvSpPr>
          <p:cNvPr id="15" name="Text 13"/>
          <p:cNvSpPr/>
          <p:nvPr/>
        </p:nvSpPr>
        <p:spPr>
          <a:xfrm>
            <a:off x="457200" y="4014216"/>
            <a:ext cx="411480" cy="41148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1005840" y="4014216"/>
            <a:ext cx="4846320" cy="640080"/>
          </a:xfrm>
          <a:prstGeom prst="rect">
            <a:avLst/>
          </a:prstGeom>
          <a:noFill/>
          <a:ln/>
        </p:spPr>
        <p:txBody>
          <a:bodyPr wrap="square" rtlCol="0" anchor="ctr"/>
          <a:lstStyle/>
          <a:p>
            <a:pPr indent="0" marL="0">
              <a:buNone/>
            </a:pPr>
            <a:r>
              <a:rPr lang="en-US" sz="1250" dirty="0">
                <a:solidFill>
                  <a:srgbClr val="5B6472"/>
                </a:solidFill>
              </a:rPr>
              <a:t>Assemble into one row per launch: booster, orbit, site, outcome, mass</a:t>
            </a:r>
            <a:endParaRPr lang="en-US" sz="1250" dirty="0"/>
          </a:p>
        </p:txBody>
      </p:sp>
      <p:sp>
        <p:nvSpPr>
          <p:cNvPr id="17" name="Shape 15"/>
          <p:cNvSpPr/>
          <p:nvPr/>
        </p:nvSpPr>
        <p:spPr>
          <a:xfrm>
            <a:off x="6309360" y="1463040"/>
            <a:ext cx="5394960" cy="3566160"/>
          </a:xfrm>
          <a:prstGeom prst="roundRect">
            <a:avLst>
              <a:gd name="adj" fmla="val 2051"/>
            </a:avLst>
          </a:prstGeom>
          <a:solidFill>
            <a:srgbClr val="F4F7FC"/>
          </a:solidFill>
          <a:ln w="12700">
            <a:solidFill>
              <a:srgbClr val="E2E8F5"/>
            </a:solidFill>
            <a:prstDash val="solid"/>
          </a:ln>
        </p:spPr>
      </p:sp>
      <p:sp>
        <p:nvSpPr>
          <p:cNvPr id="18" name="Text 16"/>
          <p:cNvSpPr/>
          <p:nvPr/>
        </p:nvSpPr>
        <p:spPr>
          <a:xfrm>
            <a:off x="6537960" y="1645920"/>
            <a:ext cx="4937760" cy="36576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api.spacexdata.com/v4/launches/past</a:t>
            </a:r>
            <a:endParaRPr lang="en-US" sz="1200" dirty="0"/>
          </a:p>
        </p:txBody>
      </p:sp>
      <p:sp>
        <p:nvSpPr>
          <p:cNvPr id="19" name="Text 17"/>
          <p:cNvSpPr/>
          <p:nvPr/>
        </p:nvSpPr>
        <p:spPr>
          <a:xfrm>
            <a:off x="6537960" y="2148840"/>
            <a:ext cx="4937760" cy="1645920"/>
          </a:xfrm>
          <a:prstGeom prst="rect">
            <a:avLst/>
          </a:prstGeom>
          <a:noFill/>
          <a:ln/>
        </p:spPr>
        <p:txBody>
          <a:bodyPr wrap="square" rtlCol="0" anchor="ctr"/>
          <a:lstStyle/>
          <a:p>
            <a:pPr indent="0" marL="0">
              <a:lnSpc>
                <a:spcPts val="2000"/>
              </a:lnSpc>
              <a:buNone/>
            </a:pPr>
            <a:r>
              <a:rPr lang="en-US" sz="1250" dirty="0">
                <a:solidFill>
                  <a:srgbClr val="0B1F3A"/>
                </a:solidFill>
              </a:rPr>
              <a:t>Result: 90 clean Falcon 9 launch records (2010–Nov 2020), each with booster version, payload mass, orbit, launch site, flight count, grid fins, reused flag, legs, landing pad, and outcome.</a:t>
            </a:r>
            <a:endParaRPr lang="en-US" sz="1250" dirty="0"/>
          </a:p>
        </p:txBody>
      </p:sp>
      <p:sp>
        <p:nvSpPr>
          <p:cNvPr id="20" name="Text 18"/>
          <p:cNvSpPr/>
          <p:nvPr/>
        </p:nvSpPr>
        <p:spPr>
          <a:xfrm>
            <a:off x="6537960" y="4114800"/>
            <a:ext cx="4937760" cy="822960"/>
          </a:xfrm>
          <a:prstGeom prst="rect">
            <a:avLst/>
          </a:prstGeom>
          <a:noFill/>
          <a:ln/>
        </p:spPr>
        <p:txBody>
          <a:bodyPr wrap="square" rtlCol="0" anchor="ctr"/>
          <a:lstStyle/>
          <a:p>
            <a:pPr indent="0" marL="0">
              <a:buNone/>
            </a:pPr>
            <a:r>
              <a:rPr lang="en-US" sz="1100" i="1" dirty="0">
                <a:solidFill>
                  <a:srgbClr val="5B6472"/>
                </a:solidFill>
              </a:rPr>
              <a:t>Falcon 1 launches were excluded — this project focuses only on the Falcon 9 landing-prediction problem.</a:t>
            </a:r>
            <a:endParaRPr lang="en-US" sz="1100" dirty="0"/>
          </a:p>
        </p:txBody>
      </p:sp>
      <p:sp>
        <p:nvSpPr>
          <p:cNvPr id="21" name="Text 19"/>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https://github.com/razerblade09/spacex-falcon9-capstone/blob/main/notebooks/01_data_collection_api.py</a:t>
            </a:r>
            <a:endParaRPr lang="en-US" sz="1050" dirty="0"/>
          </a:p>
        </p:txBody>
      </p:sp>
      <p:sp>
        <p:nvSpPr>
          <p:cNvPr id="22" name="Text 20"/>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DATA COLLECTION · PART 2</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Data Collection – Web Scraping</a:t>
            </a:r>
            <a:endParaRPr lang="en-US" sz="2600" dirty="0"/>
          </a:p>
        </p:txBody>
      </p:sp>
      <p:sp>
        <p:nvSpPr>
          <p:cNvPr id="4" name="Text 2"/>
          <p:cNvSpPr/>
          <p:nvPr/>
        </p:nvSpPr>
        <p:spPr>
          <a:xfrm>
            <a:off x="457200" y="1463040"/>
            <a:ext cx="5394960" cy="320040"/>
          </a:xfrm>
          <a:prstGeom prst="rect">
            <a:avLst/>
          </a:prstGeom>
          <a:noFill/>
          <a:ln/>
        </p:spPr>
        <p:txBody>
          <a:bodyPr wrap="square" rtlCol="0" anchor="ctr"/>
          <a:lstStyle/>
          <a:p>
            <a:pPr indent="0" marL="0">
              <a:buNone/>
            </a:pPr>
            <a:r>
              <a:rPr lang="en-US" sz="1400" b="1" dirty="0">
                <a:solidFill>
                  <a:srgbClr val="0B1F3A"/>
                </a:solidFill>
              </a:rPr>
              <a:t>Pipeline:</a:t>
            </a:r>
            <a:endParaRPr lang="en-US" sz="1400" dirty="0"/>
          </a:p>
        </p:txBody>
      </p:sp>
      <p:sp>
        <p:nvSpPr>
          <p:cNvPr id="5" name="Shape 3"/>
          <p:cNvSpPr/>
          <p:nvPr/>
        </p:nvSpPr>
        <p:spPr>
          <a:xfrm>
            <a:off x="457200" y="1874520"/>
            <a:ext cx="411480" cy="411480"/>
          </a:xfrm>
          <a:prstGeom prst="roundRect">
            <a:avLst>
              <a:gd name="adj" fmla="val 111111"/>
            </a:avLst>
          </a:prstGeom>
          <a:solidFill>
            <a:srgbClr val="17BEBB"/>
          </a:solidFill>
          <a:ln/>
        </p:spPr>
      </p:sp>
      <p:sp>
        <p:nvSpPr>
          <p:cNvPr id="6" name="Text 4"/>
          <p:cNvSpPr/>
          <p:nvPr/>
        </p:nvSpPr>
        <p:spPr>
          <a:xfrm>
            <a:off x="457200" y="1874520"/>
            <a:ext cx="411480" cy="41148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874520"/>
            <a:ext cx="4846320" cy="640080"/>
          </a:xfrm>
          <a:prstGeom prst="rect">
            <a:avLst/>
          </a:prstGeom>
          <a:noFill/>
          <a:ln/>
        </p:spPr>
        <p:txBody>
          <a:bodyPr wrap="square" rtlCol="0" anchor="ctr"/>
          <a:lstStyle/>
          <a:p>
            <a:pPr indent="0" marL="0">
              <a:buNone/>
            </a:pPr>
            <a:r>
              <a:rPr lang="en-US" sz="1250" dirty="0">
                <a:solidFill>
                  <a:srgbClr val="5B6472"/>
                </a:solidFill>
              </a:rPr>
              <a:t>Request the Wikipedia "List of Falcon 9 and Falcon Heavy launches" page</a:t>
            </a:r>
            <a:endParaRPr lang="en-US" sz="1250" dirty="0"/>
          </a:p>
        </p:txBody>
      </p:sp>
      <p:sp>
        <p:nvSpPr>
          <p:cNvPr id="8" name="Shape 6"/>
          <p:cNvSpPr/>
          <p:nvPr/>
        </p:nvSpPr>
        <p:spPr>
          <a:xfrm>
            <a:off x="457200" y="2587752"/>
            <a:ext cx="411480" cy="411480"/>
          </a:xfrm>
          <a:prstGeom prst="roundRect">
            <a:avLst>
              <a:gd name="adj" fmla="val 111111"/>
            </a:avLst>
          </a:prstGeom>
          <a:solidFill>
            <a:srgbClr val="17BEBB"/>
          </a:solidFill>
          <a:ln/>
        </p:spPr>
      </p:sp>
      <p:sp>
        <p:nvSpPr>
          <p:cNvPr id="9" name="Text 7"/>
          <p:cNvSpPr/>
          <p:nvPr/>
        </p:nvSpPr>
        <p:spPr>
          <a:xfrm>
            <a:off x="457200" y="2587752"/>
            <a:ext cx="411480" cy="41148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1005840" y="2587752"/>
            <a:ext cx="4846320" cy="640080"/>
          </a:xfrm>
          <a:prstGeom prst="rect">
            <a:avLst/>
          </a:prstGeom>
          <a:noFill/>
          <a:ln/>
        </p:spPr>
        <p:txBody>
          <a:bodyPr wrap="square" rtlCol="0" anchor="ctr"/>
          <a:lstStyle/>
          <a:p>
            <a:pPr indent="0" marL="0">
              <a:buNone/>
            </a:pPr>
            <a:r>
              <a:rPr lang="en-US" sz="1250" dirty="0">
                <a:solidFill>
                  <a:srgbClr val="5B6472"/>
                </a:solidFill>
              </a:rPr>
              <a:t>Parse HTML tables with BeautifulSoup, locate the wikitable elements</a:t>
            </a:r>
            <a:endParaRPr lang="en-US" sz="1250" dirty="0"/>
          </a:p>
        </p:txBody>
      </p:sp>
      <p:sp>
        <p:nvSpPr>
          <p:cNvPr id="11" name="Shape 9"/>
          <p:cNvSpPr/>
          <p:nvPr/>
        </p:nvSpPr>
        <p:spPr>
          <a:xfrm>
            <a:off x="457200" y="3300984"/>
            <a:ext cx="411480" cy="411480"/>
          </a:xfrm>
          <a:prstGeom prst="roundRect">
            <a:avLst>
              <a:gd name="adj" fmla="val 111111"/>
            </a:avLst>
          </a:prstGeom>
          <a:solidFill>
            <a:srgbClr val="17BEBB"/>
          </a:solidFill>
          <a:ln/>
        </p:spPr>
      </p:sp>
      <p:sp>
        <p:nvSpPr>
          <p:cNvPr id="12" name="Text 10"/>
          <p:cNvSpPr/>
          <p:nvPr/>
        </p:nvSpPr>
        <p:spPr>
          <a:xfrm>
            <a:off x="457200" y="3300984"/>
            <a:ext cx="411480" cy="41148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1005840" y="3300984"/>
            <a:ext cx="4846320" cy="640080"/>
          </a:xfrm>
          <a:prstGeom prst="rect">
            <a:avLst/>
          </a:prstGeom>
          <a:noFill/>
          <a:ln/>
        </p:spPr>
        <p:txBody>
          <a:bodyPr wrap="square" rtlCol="0" anchor="ctr"/>
          <a:lstStyle/>
          <a:p>
            <a:pPr indent="0" marL="0">
              <a:buNone/>
            </a:pPr>
            <a:r>
              <a:rPr lang="en-US" sz="1250" dirty="0">
                <a:solidFill>
                  <a:srgbClr val="5B6472"/>
                </a:solidFill>
              </a:rPr>
              <a:t>Extract column headers, then walk each row of launch data</a:t>
            </a:r>
            <a:endParaRPr lang="en-US" sz="1250" dirty="0"/>
          </a:p>
        </p:txBody>
      </p:sp>
      <p:sp>
        <p:nvSpPr>
          <p:cNvPr id="14" name="Shape 12"/>
          <p:cNvSpPr/>
          <p:nvPr/>
        </p:nvSpPr>
        <p:spPr>
          <a:xfrm>
            <a:off x="457200" y="4014216"/>
            <a:ext cx="411480" cy="411480"/>
          </a:xfrm>
          <a:prstGeom prst="roundRect">
            <a:avLst>
              <a:gd name="adj" fmla="val 111111"/>
            </a:avLst>
          </a:prstGeom>
          <a:solidFill>
            <a:srgbClr val="17BEBB"/>
          </a:solidFill>
          <a:ln/>
        </p:spPr>
      </p:sp>
      <p:sp>
        <p:nvSpPr>
          <p:cNvPr id="15" name="Text 13"/>
          <p:cNvSpPr/>
          <p:nvPr/>
        </p:nvSpPr>
        <p:spPr>
          <a:xfrm>
            <a:off x="457200" y="4014216"/>
            <a:ext cx="411480" cy="41148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1005840" y="4014216"/>
            <a:ext cx="4846320" cy="640080"/>
          </a:xfrm>
          <a:prstGeom prst="rect">
            <a:avLst/>
          </a:prstGeom>
          <a:noFill/>
          <a:ln/>
        </p:spPr>
        <p:txBody>
          <a:bodyPr wrap="square" rtlCol="0" anchor="ctr"/>
          <a:lstStyle/>
          <a:p>
            <a:pPr indent="0" marL="0">
              <a:buNone/>
            </a:pPr>
            <a:r>
              <a:rPr lang="en-US" sz="1250" dirty="0">
                <a:solidFill>
                  <a:srgbClr val="5B6472"/>
                </a:solidFill>
              </a:rPr>
              <a:t>Clean text (dates, booster serials, payload mass) into a dataframe</a:t>
            </a:r>
            <a:endParaRPr lang="en-US" sz="1250" dirty="0"/>
          </a:p>
        </p:txBody>
      </p:sp>
      <p:sp>
        <p:nvSpPr>
          <p:cNvPr id="17" name="Shape 15"/>
          <p:cNvSpPr/>
          <p:nvPr/>
        </p:nvSpPr>
        <p:spPr>
          <a:xfrm>
            <a:off x="6309360" y="1463040"/>
            <a:ext cx="5394960" cy="3566160"/>
          </a:xfrm>
          <a:prstGeom prst="roundRect">
            <a:avLst>
              <a:gd name="adj" fmla="val 2051"/>
            </a:avLst>
          </a:prstGeom>
          <a:solidFill>
            <a:srgbClr val="F4F7FC"/>
          </a:solidFill>
          <a:ln w="12700">
            <a:solidFill>
              <a:srgbClr val="E2E8F5"/>
            </a:solidFill>
            <a:prstDash val="solid"/>
          </a:ln>
        </p:spPr>
      </p:sp>
      <p:sp>
        <p:nvSpPr>
          <p:cNvPr id="18" name="Text 16"/>
          <p:cNvSpPr/>
          <p:nvPr/>
        </p:nvSpPr>
        <p:spPr>
          <a:xfrm>
            <a:off x="6537960" y="1645920"/>
            <a:ext cx="4937760" cy="365760"/>
          </a:xfrm>
          <a:prstGeom prst="rect">
            <a:avLst/>
          </a:prstGeom>
          <a:noFill/>
          <a:ln/>
        </p:spPr>
        <p:txBody>
          <a:bodyPr wrap="square" rtlCol="0" anchor="ctr"/>
          <a:lstStyle/>
          <a:p>
            <a:pPr indent="0" marL="0">
              <a:buNone/>
            </a:pPr>
            <a:r>
              <a:rPr lang="en-US" sz="1200" b="1" dirty="0">
                <a:solidFill>
                  <a:srgbClr val="17BEBB"/>
                </a:solidFill>
                <a:latin typeface="Courier New" pitchFamily="34" charset="0"/>
                <a:ea typeface="Courier New" pitchFamily="34" charset="-122"/>
                <a:cs typeface="Courier New" pitchFamily="34" charset="-120"/>
              </a:rPr>
              <a:t>BeautifulSoup(response.text, 'html.parser')</a:t>
            </a:r>
            <a:endParaRPr lang="en-US" sz="1200" dirty="0"/>
          </a:p>
        </p:txBody>
      </p:sp>
      <p:sp>
        <p:nvSpPr>
          <p:cNvPr id="19" name="Text 17"/>
          <p:cNvSpPr/>
          <p:nvPr/>
        </p:nvSpPr>
        <p:spPr>
          <a:xfrm>
            <a:off x="6537960" y="2148840"/>
            <a:ext cx="4937760" cy="1645920"/>
          </a:xfrm>
          <a:prstGeom prst="rect">
            <a:avLst/>
          </a:prstGeom>
          <a:noFill/>
          <a:ln/>
        </p:spPr>
        <p:txBody>
          <a:bodyPr wrap="square" rtlCol="0" anchor="ctr"/>
          <a:lstStyle/>
          <a:p>
            <a:pPr indent="0" marL="0">
              <a:lnSpc>
                <a:spcPts val="2000"/>
              </a:lnSpc>
              <a:buNone/>
            </a:pPr>
            <a:r>
              <a:rPr lang="en-US" sz="1250" dirty="0">
                <a:solidFill>
                  <a:srgbClr val="0B1F3A"/>
                </a:solidFill>
              </a:rPr>
              <a:t>This gives an independent, cross-checked source for launch records — used to validate the API dataset and fill in fields (like precise payload customer) the API doesn't expose.</a:t>
            </a:r>
            <a:endParaRPr lang="en-US" sz="1250" dirty="0"/>
          </a:p>
        </p:txBody>
      </p:sp>
      <p:sp>
        <p:nvSpPr>
          <p:cNvPr id="20" name="Text 18"/>
          <p:cNvSpPr/>
          <p:nvPr/>
        </p:nvSpPr>
        <p:spPr>
          <a:xfrm>
            <a:off x="6537960" y="4114800"/>
            <a:ext cx="4937760" cy="914400"/>
          </a:xfrm>
          <a:prstGeom prst="rect">
            <a:avLst/>
          </a:prstGeom>
          <a:noFill/>
          <a:ln/>
        </p:spPr>
        <p:txBody>
          <a:bodyPr wrap="square" rtlCol="0" anchor="ctr"/>
          <a:lstStyle/>
          <a:p>
            <a:pPr indent="0" marL="0">
              <a:buNone/>
            </a:pPr>
            <a:r>
              <a:rPr lang="en-US" sz="1100" i="1" dirty="0">
                <a:solidFill>
                  <a:srgbClr val="5B6472"/>
                </a:solidFill>
              </a:rPr>
              <a:t>Key techniques: regex/Unicode cleanup for payload mass strings, and helper functions to pull booster version and landing status out of merged table cells.</a:t>
            </a:r>
            <a:endParaRPr lang="en-US" sz="1100" dirty="0"/>
          </a:p>
        </p:txBody>
      </p:sp>
      <p:sp>
        <p:nvSpPr>
          <p:cNvPr id="21" name="Text 19"/>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https://github.com/razerblade09/spacex-falcon9-capstone/blob/main/notebooks/02_web_scraping.py</a:t>
            </a:r>
            <a:endParaRPr lang="en-US" sz="1050" dirty="0"/>
          </a:p>
        </p:txBody>
      </p:sp>
      <p:sp>
        <p:nvSpPr>
          <p:cNvPr id="22" name="Text 20"/>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PREPARATION</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Data Wrangling Methodology</a:t>
            </a:r>
            <a:endParaRPr lang="en-US" sz="2600" dirty="0"/>
          </a:p>
        </p:txBody>
      </p:sp>
      <p:sp>
        <p:nvSpPr>
          <p:cNvPr id="4" name="Text 2"/>
          <p:cNvSpPr/>
          <p:nvPr/>
        </p:nvSpPr>
        <p:spPr>
          <a:xfrm>
            <a:off x="457200" y="1463040"/>
            <a:ext cx="6583680" cy="2743200"/>
          </a:xfrm>
          <a:prstGeom prst="rect">
            <a:avLst/>
          </a:prstGeom>
          <a:noFill/>
          <a:ln/>
        </p:spPr>
        <p:txBody>
          <a:bodyPr wrap="square" rtlCol="0" anchor="ctr"/>
          <a:lstStyle/>
          <a:p>
            <a:pPr indent="0" marL="0">
              <a:lnSpc>
                <a:spcPts val="2300"/>
              </a:lnSpc>
              <a:buNone/>
            </a:pPr>
            <a:r>
              <a:rPr lang="en-US" sz="1400" b="1" dirty="0">
                <a:solidFill>
                  <a:srgbClr val="0B1F3A"/>
                </a:solidFill>
              </a:rPr>
              <a:t>Missing values: </a:t>
            </a:r>
            <a:pPr indent="0" marL="0">
              <a:lnSpc>
                <a:spcPts val="2300"/>
              </a:lnSpc>
              <a:buNone/>
            </a:pPr>
            <a:r>
              <a:rPr lang="en-US" sz="1400" dirty="0">
                <a:solidFill>
                  <a:srgbClr val="5B6472"/>
                </a:solidFill>
              </a:rPr>
              <a:t>PayloadMass (5.6% missing) filled with column mean; LandingPad (28.9% missing) kept as-is since a null pad legitimately means "no ground/drone-ship landing occurred."
</a:t>
            </a:r>
            <a:pPr indent="0" marL="0">
              <a:lnSpc>
                <a:spcPts val="2300"/>
              </a:lnSpc>
              <a:buNone/>
            </a:pPr>
            <a:r>
              <a:rPr lang="en-US" sz="1400" b="1" dirty="0">
                <a:solidFill>
                  <a:srgbClr val="0B1F3A"/>
                </a:solidFill>
              </a:rPr>
              <a:t>Label engineering: </a:t>
            </a:r>
            <a:pPr indent="0" marL="0">
              <a:lnSpc>
                <a:spcPts val="2300"/>
              </a:lnSpc>
              <a:buNone/>
            </a:pPr>
            <a:r>
              <a:rPr lang="en-US" sz="1400" dirty="0">
                <a:solidFill>
                  <a:srgbClr val="5B6472"/>
                </a:solidFill>
              </a:rPr>
              <a:t>The raw Outcome field (e.g. "True ASDS", "False Ocean", "None None") was converted into a binary Class label — 1 if the booster landed successfully by any method, 0 otherwise.</a:t>
            </a:r>
            <a:endParaRPr lang="en-US" sz="1400" dirty="0"/>
          </a:p>
        </p:txBody>
      </p:sp>
      <p:sp>
        <p:nvSpPr>
          <p:cNvPr id="5" name="Shape 3"/>
          <p:cNvSpPr/>
          <p:nvPr/>
        </p:nvSpPr>
        <p:spPr>
          <a:xfrm>
            <a:off x="457200" y="4114800"/>
            <a:ext cx="6583680" cy="1280160"/>
          </a:xfrm>
          <a:prstGeom prst="roundRect">
            <a:avLst>
              <a:gd name="adj" fmla="val 5714"/>
            </a:avLst>
          </a:prstGeom>
          <a:solidFill>
            <a:srgbClr val="F4F7FC"/>
          </a:solidFill>
          <a:ln/>
        </p:spPr>
      </p:sp>
      <p:sp>
        <p:nvSpPr>
          <p:cNvPr id="6" name="Text 4"/>
          <p:cNvSpPr/>
          <p:nvPr/>
        </p:nvSpPr>
        <p:spPr>
          <a:xfrm>
            <a:off x="640080" y="4114800"/>
            <a:ext cx="6217920" cy="1280160"/>
          </a:xfrm>
          <a:prstGeom prst="rect">
            <a:avLst/>
          </a:prstGeom>
          <a:noFill/>
          <a:ln/>
        </p:spPr>
        <p:txBody>
          <a:bodyPr wrap="square" rtlCol="0" anchor="ctr"/>
          <a:lstStyle/>
          <a:p>
            <a:pPr indent="0" marL="0">
              <a:buNone/>
            </a:pPr>
            <a:r>
              <a:rPr lang="en-US" sz="1300" b="1" dirty="0">
                <a:solidFill>
                  <a:srgbClr val="0B1F3A"/>
                </a:solidFill>
              </a:rPr>
              <a:t>Result: 90 launches → 60 successful landings (66.7%), 30 unsuccessful (33.3%)</a:t>
            </a:r>
            <a:endParaRPr lang="en-US" sz="1300" dirty="0"/>
          </a:p>
        </p:txBody>
      </p:sp>
      <p:pic>
        <p:nvPicPr>
          <p:cNvPr id="7" name="Image 0" descr="C:\Users\USER\Documents\Coursera\repo\images\eda_orbit_success.png">    </p:cNvPr>
          <p:cNvPicPr>
            <a:picLocks noChangeAspect="1"/>
          </p:cNvPicPr>
          <p:nvPr/>
        </p:nvPicPr>
        <p:blipFill>
          <a:blip r:embed="rId1"/>
          <a:stretch>
            <a:fillRect/>
          </a:stretch>
        </p:blipFill>
        <p:spPr>
          <a:xfrm>
            <a:off x="7315200" y="1371600"/>
            <a:ext cx="4389120" cy="3291840"/>
          </a:xfrm>
          <a:prstGeom prst="rect">
            <a:avLst/>
          </a:prstGeom>
        </p:spPr>
      </p:pic>
      <p:sp>
        <p:nvSpPr>
          <p:cNvPr id="8" name="Text 5"/>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https://github.com/razerblade09/spacex-falcon9-capstone/blob/main/notebooks/03_data_wrangling.py</a:t>
            </a:r>
            <a:endParaRPr lang="en-US" sz="1050" dirty="0"/>
          </a:p>
        </p:txBody>
      </p:sp>
      <p:sp>
        <p:nvSpPr>
          <p:cNvPr id="9" name="Text 6"/>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1</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EDA with Data Visualization</a:t>
            </a:r>
            <a:endParaRPr lang="en-US" sz="2600" dirty="0"/>
          </a:p>
        </p:txBody>
      </p:sp>
      <p:sp>
        <p:nvSpPr>
          <p:cNvPr id="4" name="Text 2"/>
          <p:cNvSpPr/>
          <p:nvPr/>
        </p:nvSpPr>
        <p:spPr>
          <a:xfrm>
            <a:off x="457200" y="1417320"/>
            <a:ext cx="11247120" cy="548640"/>
          </a:xfrm>
          <a:prstGeom prst="rect">
            <a:avLst/>
          </a:prstGeom>
          <a:noFill/>
          <a:ln/>
        </p:spPr>
        <p:txBody>
          <a:bodyPr wrap="square" rtlCol="0" anchor="ctr"/>
          <a:lstStyle/>
          <a:p>
            <a:pPr indent="0" marL="0">
              <a:buNone/>
            </a:pPr>
            <a:r>
              <a:rPr lang="en-US" sz="1400" dirty="0">
                <a:solidFill>
                  <a:srgbClr val="5B6472"/>
                </a:solidFill>
              </a:rPr>
              <a:t>We plotted flight number, payload mass, orbit type, and launch year against landing outcome to surface which factors correlate with success.</a:t>
            </a:r>
            <a:endParaRPr lang="en-US" sz="1400" dirty="0"/>
          </a:p>
        </p:txBody>
      </p:sp>
      <p:pic>
        <p:nvPicPr>
          <p:cNvPr id="5" name="Image 0" descr="C:\Users\USER\Documents\Coursera\repo\images\eda_flightnum_site.png">    </p:cNvPr>
          <p:cNvPicPr>
            <a:picLocks noChangeAspect="1"/>
          </p:cNvPicPr>
          <p:nvPr/>
        </p:nvPicPr>
        <p:blipFill>
          <a:blip r:embed="rId1"/>
          <a:stretch>
            <a:fillRect/>
          </a:stretch>
        </p:blipFill>
        <p:spPr>
          <a:xfrm>
            <a:off x="457200" y="2103120"/>
            <a:ext cx="3657600" cy="2468880"/>
          </a:xfrm>
          <a:prstGeom prst="rect">
            <a:avLst/>
          </a:prstGeom>
        </p:spPr>
      </p:pic>
      <p:sp>
        <p:nvSpPr>
          <p:cNvPr id="6" name="Text 3"/>
          <p:cNvSpPr/>
          <p:nvPr/>
        </p:nvSpPr>
        <p:spPr>
          <a:xfrm>
            <a:off x="457200" y="4572000"/>
            <a:ext cx="3657600" cy="320040"/>
          </a:xfrm>
          <a:prstGeom prst="rect">
            <a:avLst/>
          </a:prstGeom>
          <a:noFill/>
          <a:ln/>
        </p:spPr>
        <p:txBody>
          <a:bodyPr wrap="square" rtlCol="0" anchor="ctr"/>
          <a:lstStyle/>
          <a:p>
            <a:pPr algn="ctr" indent="0" marL="0">
              <a:buNone/>
            </a:pPr>
            <a:r>
              <a:rPr lang="en-US" sz="1150" b="1" dirty="0">
                <a:solidFill>
                  <a:srgbClr val="0B1F3A"/>
                </a:solidFill>
              </a:rPr>
              <a:t>Flight # vs Launch Site</a:t>
            </a:r>
            <a:endParaRPr lang="en-US" sz="1150" dirty="0"/>
          </a:p>
        </p:txBody>
      </p:sp>
      <p:pic>
        <p:nvPicPr>
          <p:cNvPr id="7" name="Image 1" descr="C:\Users\USER\Documents\Coursera\repo\images\eda_payload_site.png">    </p:cNvPr>
          <p:cNvPicPr>
            <a:picLocks noChangeAspect="1"/>
          </p:cNvPicPr>
          <p:nvPr/>
        </p:nvPicPr>
        <p:blipFill>
          <a:blip r:embed="rId2"/>
          <a:stretch>
            <a:fillRect/>
          </a:stretch>
        </p:blipFill>
        <p:spPr>
          <a:xfrm>
            <a:off x="4343400" y="2103120"/>
            <a:ext cx="3657600" cy="2468880"/>
          </a:xfrm>
          <a:prstGeom prst="rect">
            <a:avLst/>
          </a:prstGeom>
        </p:spPr>
      </p:pic>
      <p:sp>
        <p:nvSpPr>
          <p:cNvPr id="8" name="Text 4"/>
          <p:cNvSpPr/>
          <p:nvPr/>
        </p:nvSpPr>
        <p:spPr>
          <a:xfrm>
            <a:off x="4343400" y="4572000"/>
            <a:ext cx="3657600" cy="320040"/>
          </a:xfrm>
          <a:prstGeom prst="rect">
            <a:avLst/>
          </a:prstGeom>
          <a:noFill/>
          <a:ln/>
        </p:spPr>
        <p:txBody>
          <a:bodyPr wrap="square" rtlCol="0" anchor="ctr"/>
          <a:lstStyle/>
          <a:p>
            <a:pPr algn="ctr" indent="0" marL="0">
              <a:buNone/>
            </a:pPr>
            <a:r>
              <a:rPr lang="en-US" sz="1150" b="1" dirty="0">
                <a:solidFill>
                  <a:srgbClr val="0B1F3A"/>
                </a:solidFill>
              </a:rPr>
              <a:t>Payload vs Launch Site</a:t>
            </a:r>
            <a:endParaRPr lang="en-US" sz="1150" dirty="0"/>
          </a:p>
        </p:txBody>
      </p:sp>
      <p:pic>
        <p:nvPicPr>
          <p:cNvPr id="9" name="Image 2" descr="C:\Users\USER\Documents\Coursera\repo\images\eda_orbit_success.png">    </p:cNvPr>
          <p:cNvPicPr>
            <a:picLocks noChangeAspect="1"/>
          </p:cNvPicPr>
          <p:nvPr/>
        </p:nvPicPr>
        <p:blipFill>
          <a:blip r:embed="rId3"/>
          <a:stretch>
            <a:fillRect/>
          </a:stretch>
        </p:blipFill>
        <p:spPr>
          <a:xfrm>
            <a:off x="8229600" y="2103120"/>
            <a:ext cx="3657600" cy="2468880"/>
          </a:xfrm>
          <a:prstGeom prst="rect">
            <a:avLst/>
          </a:prstGeom>
        </p:spPr>
      </p:pic>
      <p:sp>
        <p:nvSpPr>
          <p:cNvPr id="10" name="Text 5"/>
          <p:cNvSpPr/>
          <p:nvPr/>
        </p:nvSpPr>
        <p:spPr>
          <a:xfrm>
            <a:off x="8229600" y="4572000"/>
            <a:ext cx="3657600" cy="320040"/>
          </a:xfrm>
          <a:prstGeom prst="rect">
            <a:avLst/>
          </a:prstGeom>
          <a:noFill/>
          <a:ln/>
        </p:spPr>
        <p:txBody>
          <a:bodyPr wrap="square" rtlCol="0" anchor="ctr"/>
          <a:lstStyle/>
          <a:p>
            <a:pPr algn="ctr" indent="0" marL="0">
              <a:buNone/>
            </a:pPr>
            <a:r>
              <a:rPr lang="en-US" sz="1150" b="1" dirty="0">
                <a:solidFill>
                  <a:srgbClr val="0B1F3A"/>
                </a:solidFill>
              </a:rPr>
              <a:t>Success Rate by Orbit</a:t>
            </a:r>
            <a:endParaRPr lang="en-US" sz="1150" dirty="0"/>
          </a:p>
        </p:txBody>
      </p:sp>
      <p:sp>
        <p:nvSpPr>
          <p:cNvPr id="11" name="Text 6"/>
          <p:cNvSpPr/>
          <p:nvPr/>
        </p:nvSpPr>
        <p:spPr>
          <a:xfrm>
            <a:off x="457200" y="5074920"/>
            <a:ext cx="11247120" cy="822960"/>
          </a:xfrm>
          <a:prstGeom prst="rect">
            <a:avLst/>
          </a:prstGeom>
          <a:noFill/>
          <a:ln/>
        </p:spPr>
        <p:txBody>
          <a:bodyPr wrap="square" rtlCol="0" anchor="ctr"/>
          <a:lstStyle/>
          <a:p>
            <a:pPr indent="0" marL="0">
              <a:buNone/>
            </a:pPr>
            <a:r>
              <a:rPr lang="en-US" sz="1200" i="1" dirty="0">
                <a:solidFill>
                  <a:srgbClr val="5B6472"/>
                </a:solidFill>
              </a:rPr>
              <a:t>Chart types used: scatter plots (flight #/payload vs site or orbit), bar charts (success rate by orbit), and a line chart (yearly trend, see Introduction slide).</a:t>
            </a:r>
            <a:endParaRPr lang="en-US" sz="1200" dirty="0"/>
          </a:p>
        </p:txBody>
      </p:sp>
      <p:sp>
        <p:nvSpPr>
          <p:cNvPr id="12" name="Text 7"/>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4"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13" name="Text 8"/>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1 (CONT.)</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EDA Visualization — Orbit &amp; Trend Detail</a:t>
            </a:r>
            <a:endParaRPr lang="en-US" sz="2600" dirty="0"/>
          </a:p>
        </p:txBody>
      </p:sp>
      <p:pic>
        <p:nvPicPr>
          <p:cNvPr id="4" name="Image 0" descr="C:\Users\USER\Documents\Coursera\repo\images\eda_flightnum_orbit.png">    </p:cNvPr>
          <p:cNvPicPr>
            <a:picLocks noChangeAspect="1"/>
          </p:cNvPicPr>
          <p:nvPr/>
        </p:nvPicPr>
        <p:blipFill>
          <a:blip r:embed="rId1"/>
          <a:stretch>
            <a:fillRect/>
          </a:stretch>
        </p:blipFill>
        <p:spPr>
          <a:xfrm>
            <a:off x="457200" y="1554480"/>
            <a:ext cx="3657600" cy="2651760"/>
          </a:xfrm>
          <a:prstGeom prst="rect">
            <a:avLst/>
          </a:prstGeom>
        </p:spPr>
      </p:pic>
      <p:sp>
        <p:nvSpPr>
          <p:cNvPr id="5" name="Text 2"/>
          <p:cNvSpPr/>
          <p:nvPr/>
        </p:nvSpPr>
        <p:spPr>
          <a:xfrm>
            <a:off x="457200" y="4251960"/>
            <a:ext cx="3657600" cy="320040"/>
          </a:xfrm>
          <a:prstGeom prst="rect">
            <a:avLst/>
          </a:prstGeom>
          <a:noFill/>
          <a:ln/>
        </p:spPr>
        <p:txBody>
          <a:bodyPr wrap="square" rtlCol="0" anchor="ctr"/>
          <a:lstStyle/>
          <a:p>
            <a:pPr algn="ctr" indent="0" marL="0">
              <a:buNone/>
            </a:pPr>
            <a:r>
              <a:rPr lang="en-US" sz="1150" b="1" dirty="0">
                <a:solidFill>
                  <a:srgbClr val="0B1F3A"/>
                </a:solidFill>
              </a:rPr>
              <a:t>Flight # vs Orbit Type</a:t>
            </a:r>
            <a:endParaRPr lang="en-US" sz="1150" dirty="0"/>
          </a:p>
        </p:txBody>
      </p:sp>
      <p:pic>
        <p:nvPicPr>
          <p:cNvPr id="6" name="Image 1" descr="C:\Users\USER\Documents\Coursera\repo\images\eda_payload_orbit.png">    </p:cNvPr>
          <p:cNvPicPr>
            <a:picLocks noChangeAspect="1"/>
          </p:cNvPicPr>
          <p:nvPr/>
        </p:nvPicPr>
        <p:blipFill>
          <a:blip r:embed="rId2"/>
          <a:stretch>
            <a:fillRect/>
          </a:stretch>
        </p:blipFill>
        <p:spPr>
          <a:xfrm>
            <a:off x="4343400" y="1554480"/>
            <a:ext cx="3657600" cy="2651760"/>
          </a:xfrm>
          <a:prstGeom prst="rect">
            <a:avLst/>
          </a:prstGeom>
        </p:spPr>
      </p:pic>
      <p:sp>
        <p:nvSpPr>
          <p:cNvPr id="7" name="Text 3"/>
          <p:cNvSpPr/>
          <p:nvPr/>
        </p:nvSpPr>
        <p:spPr>
          <a:xfrm>
            <a:off x="4343400" y="4251960"/>
            <a:ext cx="3657600" cy="320040"/>
          </a:xfrm>
          <a:prstGeom prst="rect">
            <a:avLst/>
          </a:prstGeom>
          <a:noFill/>
          <a:ln/>
        </p:spPr>
        <p:txBody>
          <a:bodyPr wrap="square" rtlCol="0" anchor="ctr"/>
          <a:lstStyle/>
          <a:p>
            <a:pPr algn="ctr" indent="0" marL="0">
              <a:buNone/>
            </a:pPr>
            <a:r>
              <a:rPr lang="en-US" sz="1150" b="1" dirty="0">
                <a:solidFill>
                  <a:srgbClr val="0B1F3A"/>
                </a:solidFill>
              </a:rPr>
              <a:t>Payload vs Orbit Type</a:t>
            </a:r>
            <a:endParaRPr lang="en-US" sz="1150" dirty="0"/>
          </a:p>
        </p:txBody>
      </p:sp>
      <p:pic>
        <p:nvPicPr>
          <p:cNvPr id="8" name="Image 2" descr="C:\Users\USER\Documents\Coursera\repo\images\eda_yearly_trend.png">    </p:cNvPr>
          <p:cNvPicPr>
            <a:picLocks noChangeAspect="1"/>
          </p:cNvPicPr>
          <p:nvPr/>
        </p:nvPicPr>
        <p:blipFill>
          <a:blip r:embed="rId3"/>
          <a:stretch>
            <a:fillRect/>
          </a:stretch>
        </p:blipFill>
        <p:spPr>
          <a:xfrm>
            <a:off x="8229600" y="1554480"/>
            <a:ext cx="3657600" cy="2651760"/>
          </a:xfrm>
          <a:prstGeom prst="rect">
            <a:avLst/>
          </a:prstGeom>
        </p:spPr>
      </p:pic>
      <p:sp>
        <p:nvSpPr>
          <p:cNvPr id="9" name="Text 4"/>
          <p:cNvSpPr/>
          <p:nvPr/>
        </p:nvSpPr>
        <p:spPr>
          <a:xfrm>
            <a:off x="8229600" y="4251960"/>
            <a:ext cx="3657600" cy="320040"/>
          </a:xfrm>
          <a:prstGeom prst="rect">
            <a:avLst/>
          </a:prstGeom>
          <a:noFill/>
          <a:ln/>
        </p:spPr>
        <p:txBody>
          <a:bodyPr wrap="square" rtlCol="0" anchor="ctr"/>
          <a:lstStyle/>
          <a:p>
            <a:pPr algn="ctr" indent="0" marL="0">
              <a:buNone/>
            </a:pPr>
            <a:r>
              <a:rPr lang="en-US" sz="1150" b="1" dirty="0">
                <a:solidFill>
                  <a:srgbClr val="0B1F3A"/>
                </a:solidFill>
              </a:rPr>
              <a:t>Success Rate by Year</a:t>
            </a:r>
            <a:endParaRPr lang="en-US" sz="1150" dirty="0"/>
          </a:p>
        </p:txBody>
      </p:sp>
      <p:sp>
        <p:nvSpPr>
          <p:cNvPr id="10" name="Text 5"/>
          <p:cNvSpPr/>
          <p:nvPr/>
        </p:nvSpPr>
        <p:spPr>
          <a:xfrm>
            <a:off x="457200" y="4709160"/>
            <a:ext cx="11247120" cy="1280160"/>
          </a:xfrm>
          <a:prstGeom prst="rect">
            <a:avLst/>
          </a:prstGeom>
          <a:noFill/>
          <a:ln/>
        </p:spPr>
        <p:txBody>
          <a:bodyPr wrap="square" rtlCol="0" anchor="ctr"/>
          <a:lstStyle/>
          <a:p>
            <a:pPr indent="0" marL="0">
              <a:lnSpc>
                <a:spcPts val="2000"/>
              </a:lnSpc>
              <a:buNone/>
            </a:pPr>
            <a:r>
              <a:rPr lang="en-US" sz="1300" dirty="0">
                <a:solidFill>
                  <a:srgbClr val="0B1F3A"/>
                </a:solidFill>
              </a:rPr>
              <a:t>Takeaway: GTO and ISS-orbit missions (heavier, higher-energy) show lower success rates; success climbed year-over-year as SpaceX refined the recovery process, from ~0% in 2010–2013 to consistently near 100% by 2019–2020.</a:t>
            </a:r>
            <a:endParaRPr lang="en-US" sz="1300" dirty="0"/>
          </a:p>
        </p:txBody>
      </p:sp>
      <p:sp>
        <p:nvSpPr>
          <p:cNvPr id="11" name="Text 6"/>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2</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EDA with SQL</a:t>
            </a:r>
            <a:endParaRPr lang="en-US" sz="2600" dirty="0"/>
          </a:p>
        </p:txBody>
      </p:sp>
      <p:sp>
        <p:nvSpPr>
          <p:cNvPr id="4" name="Text 2"/>
          <p:cNvSpPr/>
          <p:nvPr/>
        </p:nvSpPr>
        <p:spPr>
          <a:xfrm>
            <a:off x="457200" y="1417320"/>
            <a:ext cx="11247120" cy="548640"/>
          </a:xfrm>
          <a:prstGeom prst="rect">
            <a:avLst/>
          </a:prstGeom>
          <a:noFill/>
          <a:ln/>
        </p:spPr>
        <p:txBody>
          <a:bodyPr wrap="square" rtlCol="0" anchor="ctr"/>
          <a:lstStyle/>
          <a:p>
            <a:pPr indent="0" marL="0">
              <a:buNone/>
            </a:pPr>
            <a:r>
              <a:rPr lang="en-US" sz="1400" dirty="0">
                <a:solidFill>
                  <a:srgbClr val="5B6472"/>
                </a:solidFill>
              </a:rPr>
              <a:t>The scraped launch table was loaded into a SQL database (SQLite / IBM Db2) as SPACEXTABLE, then queried directly to answer specific business questions.</a:t>
            </a:r>
            <a:endParaRPr lang="en-US" sz="1400" dirty="0"/>
          </a:p>
        </p:txBody>
      </p:sp>
      <p:sp>
        <p:nvSpPr>
          <p:cNvPr id="5" name="Text 3"/>
          <p:cNvSpPr/>
          <p:nvPr/>
        </p:nvSpPr>
        <p:spPr>
          <a:xfrm>
            <a:off x="457200" y="214884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Distinct launch sites used</a:t>
            </a:r>
            <a:endParaRPr lang="en-US" sz="1250" dirty="0"/>
          </a:p>
        </p:txBody>
      </p:sp>
      <p:sp>
        <p:nvSpPr>
          <p:cNvPr id="6" name="Text 4"/>
          <p:cNvSpPr/>
          <p:nvPr/>
        </p:nvSpPr>
        <p:spPr>
          <a:xfrm>
            <a:off x="457200" y="265176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Total payload mass carried for NASA (CRS)</a:t>
            </a:r>
            <a:endParaRPr lang="en-US" sz="1250" dirty="0"/>
          </a:p>
        </p:txBody>
      </p:sp>
      <p:sp>
        <p:nvSpPr>
          <p:cNvPr id="7" name="Text 5"/>
          <p:cNvSpPr/>
          <p:nvPr/>
        </p:nvSpPr>
        <p:spPr>
          <a:xfrm>
            <a:off x="457200" y="315468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Average payload mass for F9 v1.1 boosters</a:t>
            </a:r>
            <a:endParaRPr lang="en-US" sz="1250" dirty="0"/>
          </a:p>
        </p:txBody>
      </p:sp>
      <p:sp>
        <p:nvSpPr>
          <p:cNvPr id="8" name="Text 6"/>
          <p:cNvSpPr/>
          <p:nvPr/>
        </p:nvSpPr>
        <p:spPr>
          <a:xfrm>
            <a:off x="457200" y="365760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Date of the first successful ground-pad landing</a:t>
            </a:r>
            <a:endParaRPr lang="en-US" sz="1250" dirty="0"/>
          </a:p>
        </p:txBody>
      </p:sp>
      <p:sp>
        <p:nvSpPr>
          <p:cNvPr id="9" name="Text 7"/>
          <p:cNvSpPr/>
          <p:nvPr/>
        </p:nvSpPr>
        <p:spPr>
          <a:xfrm>
            <a:off x="457200" y="416052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Boosters that succeeded on a drone ship with 4,000–6,000 kg payload</a:t>
            </a:r>
            <a:endParaRPr lang="en-US" sz="1250" dirty="0"/>
          </a:p>
        </p:txBody>
      </p:sp>
      <p:sp>
        <p:nvSpPr>
          <p:cNvPr id="10" name="Text 8"/>
          <p:cNvSpPr/>
          <p:nvPr/>
        </p:nvSpPr>
        <p:spPr>
          <a:xfrm>
            <a:off x="6126480" y="214884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Count of each mission outcome (success/failure)</a:t>
            </a:r>
            <a:endParaRPr lang="en-US" sz="1250" dirty="0"/>
          </a:p>
        </p:txBody>
      </p:sp>
      <p:sp>
        <p:nvSpPr>
          <p:cNvPr id="11" name="Text 9"/>
          <p:cNvSpPr/>
          <p:nvPr/>
        </p:nvSpPr>
        <p:spPr>
          <a:xfrm>
            <a:off x="6126480" y="265176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Booster(s) carrying the maximum payload mass</a:t>
            </a:r>
            <a:endParaRPr lang="en-US" sz="1250" dirty="0"/>
          </a:p>
        </p:txBody>
      </p:sp>
      <p:sp>
        <p:nvSpPr>
          <p:cNvPr id="12" name="Text 10"/>
          <p:cNvSpPr/>
          <p:nvPr/>
        </p:nvSpPr>
        <p:spPr>
          <a:xfrm>
            <a:off x="6126480" y="315468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Failed drone-ship landings in 2015</a:t>
            </a:r>
            <a:endParaRPr lang="en-US" sz="1250" dirty="0"/>
          </a:p>
        </p:txBody>
      </p:sp>
      <p:sp>
        <p:nvSpPr>
          <p:cNvPr id="13" name="Text 11"/>
          <p:cNvSpPr/>
          <p:nvPr/>
        </p:nvSpPr>
        <p:spPr>
          <a:xfrm>
            <a:off x="6126480" y="3657600"/>
            <a:ext cx="5394960" cy="457200"/>
          </a:xfrm>
          <a:prstGeom prst="rect">
            <a:avLst/>
          </a:prstGeom>
          <a:noFill/>
          <a:ln/>
        </p:spPr>
        <p:txBody>
          <a:bodyPr wrap="square" rtlCol="0" anchor="ctr"/>
          <a:lstStyle/>
          <a:p>
            <a:pPr marL="342900" indent="-342900">
              <a:buSzPct val="100000"/>
              <a:buChar char="✓"/>
            </a:pPr>
            <a:r>
              <a:rPr lang="en-US" sz="1250" dirty="0">
                <a:solidFill>
                  <a:srgbClr val="0B1F3A"/>
                </a:solidFill>
              </a:rPr>
              <a:t>Ranking of landing outcomes between 2010–2017</a:t>
            </a:r>
            <a:endParaRPr lang="en-US" sz="1250" dirty="0"/>
          </a:p>
        </p:txBody>
      </p:sp>
      <p:sp>
        <p:nvSpPr>
          <p:cNvPr id="14" name="Text 12"/>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15" name="Text 13"/>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2 (CONT.)</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EDA SQL Results — Sites &amp; Payload</a:t>
            </a:r>
            <a:endParaRPr lang="en-US" sz="2600" dirty="0"/>
          </a:p>
        </p:txBody>
      </p:sp>
      <p:sp>
        <p:nvSpPr>
          <p:cNvPr id="4" name="Shape 2"/>
          <p:cNvSpPr/>
          <p:nvPr/>
        </p:nvSpPr>
        <p:spPr>
          <a:xfrm>
            <a:off x="457200" y="1463040"/>
            <a:ext cx="5394960" cy="2194560"/>
          </a:xfrm>
          <a:prstGeom prst="roundRect">
            <a:avLst>
              <a:gd name="adj" fmla="val 3333"/>
            </a:avLst>
          </a:prstGeom>
          <a:solidFill>
            <a:srgbClr val="F4F7FC"/>
          </a:solidFill>
          <a:ln/>
        </p:spPr>
      </p:sp>
      <p:sp>
        <p:nvSpPr>
          <p:cNvPr id="5" name="Text 3"/>
          <p:cNvSpPr/>
          <p:nvPr/>
        </p:nvSpPr>
        <p:spPr>
          <a:xfrm>
            <a:off x="640080" y="1600200"/>
            <a:ext cx="5029200" cy="365760"/>
          </a:xfrm>
          <a:prstGeom prst="rect">
            <a:avLst/>
          </a:prstGeom>
          <a:noFill/>
          <a:ln/>
        </p:spPr>
        <p:txBody>
          <a:bodyPr wrap="square" rtlCol="0" anchor="ctr"/>
          <a:lstStyle/>
          <a:p>
            <a:pPr indent="0" marL="0">
              <a:buNone/>
            </a:pPr>
            <a:r>
              <a:rPr lang="en-US" sz="1300" b="1" dirty="0">
                <a:solidFill>
                  <a:srgbClr val="0B1F3A"/>
                </a:solidFill>
              </a:rPr>
              <a:t>Launch Sites (4 distinct)</a:t>
            </a:r>
            <a:endParaRPr lang="en-US" sz="1300" dirty="0"/>
          </a:p>
        </p:txBody>
      </p:sp>
      <p:sp>
        <p:nvSpPr>
          <p:cNvPr id="6" name="Text 4"/>
          <p:cNvSpPr/>
          <p:nvPr/>
        </p:nvSpPr>
        <p:spPr>
          <a:xfrm>
            <a:off x="640080" y="2011680"/>
            <a:ext cx="5029200" cy="457200"/>
          </a:xfrm>
          <a:prstGeom prst="rect">
            <a:avLst/>
          </a:prstGeom>
          <a:noFill/>
          <a:ln/>
        </p:spPr>
        <p:txBody>
          <a:bodyPr wrap="square" rtlCol="0" anchor="ctr"/>
          <a:lstStyle/>
          <a:p>
            <a:pPr indent="0" marL="0">
              <a:buNone/>
            </a:pPr>
            <a:r>
              <a:rPr lang="en-US" sz="1250" dirty="0">
                <a:solidFill>
                  <a:srgbClr val="5B6472"/>
                </a:solidFill>
              </a:rPr>
              <a:t>CCAFS LC-40 · CCAFS SLC-40 · KSC LC-39A · VAFB SLC-4E</a:t>
            </a:r>
            <a:endParaRPr lang="en-US" sz="1250" dirty="0"/>
          </a:p>
        </p:txBody>
      </p:sp>
      <p:sp>
        <p:nvSpPr>
          <p:cNvPr id="7" name="Text 5"/>
          <p:cNvSpPr/>
          <p:nvPr/>
        </p:nvSpPr>
        <p:spPr>
          <a:xfrm>
            <a:off x="640080" y="2606040"/>
            <a:ext cx="5029200" cy="365760"/>
          </a:xfrm>
          <a:prstGeom prst="rect">
            <a:avLst/>
          </a:prstGeom>
          <a:noFill/>
          <a:ln/>
        </p:spPr>
        <p:txBody>
          <a:bodyPr wrap="square" rtlCol="0" anchor="ctr"/>
          <a:lstStyle/>
          <a:p>
            <a:pPr indent="0" marL="0">
              <a:buNone/>
            </a:pPr>
            <a:r>
              <a:rPr lang="en-US" sz="1250" dirty="0">
                <a:solidFill>
                  <a:srgbClr val="0B1F3A"/>
                </a:solidFill>
              </a:rPr>
              <a:t>Total payload for NASA (CRS): 45,596 kg</a:t>
            </a:r>
            <a:endParaRPr lang="en-US" sz="1250" dirty="0"/>
          </a:p>
        </p:txBody>
      </p:sp>
      <p:sp>
        <p:nvSpPr>
          <p:cNvPr id="8" name="Text 6"/>
          <p:cNvSpPr/>
          <p:nvPr/>
        </p:nvSpPr>
        <p:spPr>
          <a:xfrm>
            <a:off x="640080" y="2971800"/>
            <a:ext cx="5029200" cy="365760"/>
          </a:xfrm>
          <a:prstGeom prst="rect">
            <a:avLst/>
          </a:prstGeom>
          <a:noFill/>
          <a:ln/>
        </p:spPr>
        <p:txBody>
          <a:bodyPr wrap="square" rtlCol="0" anchor="ctr"/>
          <a:lstStyle/>
          <a:p>
            <a:pPr indent="0" marL="0">
              <a:buNone/>
            </a:pPr>
            <a:r>
              <a:rPr lang="en-US" sz="1250" dirty="0">
                <a:solidFill>
                  <a:srgbClr val="0B1F3A"/>
                </a:solidFill>
              </a:rPr>
              <a:t>Avg. payload, F9 v1.1 boosters: 2,534.7 kg</a:t>
            </a:r>
            <a:endParaRPr lang="en-US" sz="1250" dirty="0"/>
          </a:p>
        </p:txBody>
      </p:sp>
      <p:sp>
        <p:nvSpPr>
          <p:cNvPr id="9" name="Text 7"/>
          <p:cNvSpPr/>
          <p:nvPr/>
        </p:nvSpPr>
        <p:spPr>
          <a:xfrm>
            <a:off x="640080" y="3337560"/>
            <a:ext cx="5029200" cy="365760"/>
          </a:xfrm>
          <a:prstGeom prst="rect">
            <a:avLst/>
          </a:prstGeom>
          <a:noFill/>
          <a:ln/>
        </p:spPr>
        <p:txBody>
          <a:bodyPr wrap="square" rtlCol="0" anchor="ctr"/>
          <a:lstStyle/>
          <a:p>
            <a:pPr indent="0" marL="0">
              <a:buNone/>
            </a:pPr>
            <a:r>
              <a:rPr lang="en-US" sz="1250" dirty="0">
                <a:solidFill>
                  <a:srgbClr val="0B1F3A"/>
                </a:solidFill>
              </a:rPr>
              <a:t>Max payload carried: 15,600 kg (F9 B5)</a:t>
            </a:r>
            <a:endParaRPr lang="en-US" sz="1250" dirty="0"/>
          </a:p>
        </p:txBody>
      </p:sp>
      <p:sp>
        <p:nvSpPr>
          <p:cNvPr id="10" name="Shape 8"/>
          <p:cNvSpPr/>
          <p:nvPr/>
        </p:nvSpPr>
        <p:spPr>
          <a:xfrm>
            <a:off x="6309360" y="1463040"/>
            <a:ext cx="5394960" cy="2194560"/>
          </a:xfrm>
          <a:prstGeom prst="roundRect">
            <a:avLst>
              <a:gd name="adj" fmla="val 3333"/>
            </a:avLst>
          </a:prstGeom>
          <a:solidFill>
            <a:srgbClr val="F4F7FC"/>
          </a:solidFill>
          <a:ln/>
        </p:spPr>
      </p:sp>
      <p:sp>
        <p:nvSpPr>
          <p:cNvPr id="11" name="Text 9"/>
          <p:cNvSpPr/>
          <p:nvPr/>
        </p:nvSpPr>
        <p:spPr>
          <a:xfrm>
            <a:off x="6492240" y="1600200"/>
            <a:ext cx="5029200" cy="365760"/>
          </a:xfrm>
          <a:prstGeom prst="rect">
            <a:avLst/>
          </a:prstGeom>
          <a:noFill/>
          <a:ln/>
        </p:spPr>
        <p:txBody>
          <a:bodyPr wrap="square" rtlCol="0" anchor="ctr"/>
          <a:lstStyle/>
          <a:p>
            <a:pPr indent="0" marL="0">
              <a:buNone/>
            </a:pPr>
            <a:r>
              <a:rPr lang="en-US" sz="1300" b="1" dirty="0">
                <a:solidFill>
                  <a:srgbClr val="0B1F3A"/>
                </a:solidFill>
              </a:rPr>
              <a:t>Milestones</a:t>
            </a:r>
            <a:endParaRPr lang="en-US" sz="1300" dirty="0"/>
          </a:p>
        </p:txBody>
      </p:sp>
      <p:sp>
        <p:nvSpPr>
          <p:cNvPr id="12" name="Text 10"/>
          <p:cNvSpPr/>
          <p:nvPr/>
        </p:nvSpPr>
        <p:spPr>
          <a:xfrm>
            <a:off x="6492240" y="2011680"/>
            <a:ext cx="5029200" cy="457200"/>
          </a:xfrm>
          <a:prstGeom prst="rect">
            <a:avLst/>
          </a:prstGeom>
          <a:noFill/>
          <a:ln/>
        </p:spPr>
        <p:txBody>
          <a:bodyPr wrap="square" rtlCol="0" anchor="ctr"/>
          <a:lstStyle/>
          <a:p>
            <a:pPr indent="0" marL="0">
              <a:buNone/>
            </a:pPr>
            <a:r>
              <a:rPr lang="en-US" sz="1250" dirty="0">
                <a:solidFill>
                  <a:srgbClr val="5B6472"/>
                </a:solidFill>
              </a:rPr>
              <a:t>First successful ground-pad landing: 1 May 2017</a:t>
            </a:r>
            <a:endParaRPr lang="en-US" sz="1250" dirty="0"/>
          </a:p>
        </p:txBody>
      </p:sp>
      <p:sp>
        <p:nvSpPr>
          <p:cNvPr id="13" name="Text 11"/>
          <p:cNvSpPr/>
          <p:nvPr/>
        </p:nvSpPr>
        <p:spPr>
          <a:xfrm>
            <a:off x="6492240" y="2468880"/>
            <a:ext cx="5029200" cy="822960"/>
          </a:xfrm>
          <a:prstGeom prst="rect">
            <a:avLst/>
          </a:prstGeom>
          <a:noFill/>
          <a:ln/>
        </p:spPr>
        <p:txBody>
          <a:bodyPr wrap="square" rtlCol="0" anchor="ctr"/>
          <a:lstStyle/>
          <a:p>
            <a:pPr indent="0" marL="0">
              <a:buNone/>
            </a:pPr>
            <a:r>
              <a:rPr lang="en-US" sz="1250" dirty="0">
                <a:solidFill>
                  <a:srgbClr val="5B6472"/>
                </a:solidFill>
              </a:rPr>
              <a:t>2015 drone-ship landing failures: 2 (F9 v1.1 B1012, B1015 — CCAFS LC-40)</a:t>
            </a:r>
            <a:endParaRPr lang="en-US" sz="1250" dirty="0"/>
          </a:p>
        </p:txBody>
      </p:sp>
      <p:sp>
        <p:nvSpPr>
          <p:cNvPr id="14" name="Text 12"/>
          <p:cNvSpPr/>
          <p:nvPr/>
        </p:nvSpPr>
        <p:spPr>
          <a:xfrm>
            <a:off x="6492240" y="3291840"/>
            <a:ext cx="5029200" cy="822960"/>
          </a:xfrm>
          <a:prstGeom prst="rect">
            <a:avLst/>
          </a:prstGeom>
          <a:noFill/>
          <a:ln/>
        </p:spPr>
        <p:txBody>
          <a:bodyPr wrap="square" rtlCol="0" anchor="ctr"/>
          <a:lstStyle/>
          <a:p>
            <a:pPr indent="0" marL="0">
              <a:buNone/>
            </a:pPr>
            <a:r>
              <a:rPr lang="en-US" sz="1250" dirty="0">
                <a:solidFill>
                  <a:srgbClr val="5B6472"/>
                </a:solidFill>
              </a:rPr>
              <a:t>4,000–6,000 kg drone-ship successes: F9 FT B1021.2, B1022, B1026, B1031.2</a:t>
            </a:r>
            <a:endParaRPr lang="en-US" sz="1250" dirty="0"/>
          </a:p>
        </p:txBody>
      </p:sp>
      <p:sp>
        <p:nvSpPr>
          <p:cNvPr id="15" name="Text 13"/>
          <p:cNvSpPr/>
          <p:nvPr/>
        </p:nvSpPr>
        <p:spPr>
          <a:xfrm>
            <a:off x="457200" y="3977640"/>
            <a:ext cx="11247120" cy="457200"/>
          </a:xfrm>
          <a:prstGeom prst="rect">
            <a:avLst/>
          </a:prstGeom>
          <a:noFill/>
          <a:ln/>
        </p:spPr>
        <p:txBody>
          <a:bodyPr wrap="square" rtlCol="0" anchor="ctr"/>
          <a:lstStyle/>
          <a:p>
            <a:pPr indent="0" marL="0">
              <a:buNone/>
            </a:pPr>
            <a:r>
              <a:rPr lang="en-US" sz="1200" i="1" dirty="0">
                <a:solidFill>
                  <a:srgbClr val="5B6472"/>
                </a:solidFill>
              </a:rPr>
              <a:t>These figures ground the EDA charts in exact, query-verified numbers rather than visual estimates.</a:t>
            </a:r>
            <a:endParaRPr lang="en-US" sz="1200" dirty="0"/>
          </a:p>
        </p:txBody>
      </p:sp>
      <p:sp>
        <p:nvSpPr>
          <p:cNvPr id="16" name="Text 14"/>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17" name="Text 15"/>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2 (CONT.)</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EDA SQL Results — Success Rates &amp; Rankings</a:t>
            </a:r>
            <a:endParaRPr lang="en-US" sz="2600" dirty="0"/>
          </a:p>
        </p:txBody>
      </p:sp>
      <p:sp>
        <p:nvSpPr>
          <p:cNvPr id="4" name="Text 2"/>
          <p:cNvSpPr/>
          <p:nvPr/>
        </p:nvSpPr>
        <p:spPr>
          <a:xfrm>
            <a:off x="457200" y="1463040"/>
            <a:ext cx="10972800" cy="365760"/>
          </a:xfrm>
          <a:prstGeom prst="rect">
            <a:avLst/>
          </a:prstGeom>
          <a:noFill/>
          <a:ln/>
        </p:spPr>
        <p:txBody>
          <a:bodyPr wrap="square" rtlCol="0" anchor="ctr"/>
          <a:lstStyle/>
          <a:p>
            <a:pPr indent="0" marL="0">
              <a:buNone/>
            </a:pPr>
            <a:r>
              <a:rPr lang="en-US" sz="1400" b="1" dirty="0">
                <a:solidFill>
                  <a:srgbClr val="0B1F3A"/>
                </a:solidFill>
              </a:rPr>
              <a:t>Landing outcome ranking, 2010–2017 (by count):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5486400" cy="4023360"/>
        </p:xfrm>
        <a:graphic>
          <a:graphicData uri="http://schemas.openxmlformats.org/drawingml/2006/table">
            <a:tbl>
              <a:tblPr/>
              <a:tblGrid>
                <a:gridCol w="4023360"/>
                <a:gridCol w="1463040"/>
              </a:tblGrid>
              <a:tr h="447040">
                <a:tc>
                  <a:txBody>
                    <a:bodyPr/>
                    <a:lstStyle/>
                    <a:p>
                      <a:pPr indent="0" marL="0">
                        <a:buNone/>
                      </a:pPr>
                      <a:r>
                        <a:rPr lang="en-US" sz="1150" b="1" dirty="0">
                          <a:solidFill>
                            <a:srgbClr val="FFFFFF"/>
                          </a:solidFill>
                        </a:rPr>
                        <a:t>Landing Outcome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1150" b="1" dirty="0">
                          <a:solidFill>
                            <a:srgbClr val="FFFFFF"/>
                          </a:solidFill>
                        </a:rPr>
                        <a:t>Count</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r>
              <a:tr h="447040">
                <a:tc>
                  <a:txBody>
                    <a:bodyPr/>
                    <a:lstStyle/>
                    <a:p>
                      <a:pPr indent="0" marL="0">
                        <a:buNone/>
                      </a:pPr>
                      <a:r>
                        <a:rPr lang="en-US" sz="1150" dirty="0">
                          <a:solidFill>
                            <a:srgbClr val="0B1F3A"/>
                          </a:solidFill>
                        </a:rPr>
                        <a:t>Success</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20</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No attempt</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10</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Success (drone ship)</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8</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Success (ground pad)</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6</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Failure (drone ship)</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4</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Failure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Controlled (ocean)</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47040">
                <a:tc>
                  <a:txBody>
                    <a:bodyPr/>
                    <a:lstStyle/>
                    <a:p>
                      <a:pPr indent="0" marL="0">
                        <a:buNone/>
                      </a:pPr>
                      <a:r>
                        <a:rPr lang="en-US" sz="1150" dirty="0">
                          <a:solidFill>
                            <a:srgbClr val="0B1F3A"/>
                          </a:solidFill>
                        </a:rPr>
                        <a:t>Failure (parachute)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2</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6" name="Text 3"/>
          <p:cNvSpPr/>
          <p:nvPr/>
        </p:nvSpPr>
        <p:spPr>
          <a:xfrm>
            <a:off x="6309360" y="1920240"/>
            <a:ext cx="5394960" cy="1188720"/>
          </a:xfrm>
          <a:prstGeom prst="rect">
            <a:avLst/>
          </a:prstGeom>
          <a:noFill/>
          <a:ln/>
        </p:spPr>
        <p:txBody>
          <a:bodyPr wrap="square" rtlCol="0" anchor="ctr"/>
          <a:lstStyle/>
          <a:p>
            <a:pPr indent="0" marL="0">
              <a:lnSpc>
                <a:spcPts val="1900"/>
              </a:lnSpc>
              <a:buNone/>
            </a:pPr>
            <a:r>
              <a:rPr lang="en-US" sz="1250" dirty="0">
                <a:solidFill>
                  <a:srgbClr val="5B6472"/>
                </a:solidFill>
              </a:rPr>
              <a:t>Mission outcome (2010–2020): 98 of 101 recorded outcomes were successful missions — first-stage recovery success is the harder, separate problem this model targets.</a:t>
            </a:r>
            <a:endParaRPr lang="en-US" sz="1250" dirty="0"/>
          </a:p>
        </p:txBody>
      </p:sp>
      <p:pic>
        <p:nvPicPr>
          <p:cNvPr id="7" name="Image 0" descr="C:\Users\USER\Documents\Coursera\repo\images\eda_orbit_success.png">    </p:cNvPr>
          <p:cNvPicPr>
            <a:picLocks noChangeAspect="1"/>
          </p:cNvPicPr>
          <p:nvPr/>
        </p:nvPicPr>
        <p:blipFill>
          <a:blip r:embed="rId1"/>
          <a:stretch>
            <a:fillRect/>
          </a:stretch>
        </p:blipFill>
        <p:spPr>
          <a:xfrm>
            <a:off x="6309360" y="3200400"/>
            <a:ext cx="5394960" cy="2743200"/>
          </a:xfrm>
          <a:prstGeom prst="rect">
            <a:avLst/>
          </a:prstGeom>
        </p:spPr>
      </p:pic>
      <p:sp>
        <p:nvSpPr>
          <p:cNvPr id="8" name="Text 4"/>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9" name="Text 5"/>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 · PART 3</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Interactive Visual Analytics</a:t>
            </a:r>
            <a:endParaRPr lang="en-US" sz="2600" dirty="0"/>
          </a:p>
        </p:txBody>
      </p:sp>
      <p:sp>
        <p:nvSpPr>
          <p:cNvPr id="4" name="Text 2"/>
          <p:cNvSpPr/>
          <p:nvPr/>
        </p:nvSpPr>
        <p:spPr>
          <a:xfrm>
            <a:off x="457200" y="1463040"/>
            <a:ext cx="11247120" cy="457200"/>
          </a:xfrm>
          <a:prstGeom prst="rect">
            <a:avLst/>
          </a:prstGeom>
          <a:noFill/>
          <a:ln/>
        </p:spPr>
        <p:txBody>
          <a:bodyPr wrap="square" rtlCol="0" anchor="ctr"/>
          <a:lstStyle/>
          <a:p>
            <a:pPr indent="0" marL="0">
              <a:buNone/>
            </a:pPr>
            <a:r>
              <a:rPr lang="en-US" sz="1400" dirty="0">
                <a:solidFill>
                  <a:srgbClr val="5B6472"/>
                </a:solidFill>
              </a:rPr>
              <a:t>Two interactive tools let stakeholders explore the data themselves rather than reading static charts:</a:t>
            </a:r>
            <a:endParaRPr lang="en-US" sz="1400" dirty="0"/>
          </a:p>
        </p:txBody>
      </p:sp>
      <p:sp>
        <p:nvSpPr>
          <p:cNvPr id="5" name="Shape 3"/>
          <p:cNvSpPr/>
          <p:nvPr/>
        </p:nvSpPr>
        <p:spPr>
          <a:xfrm>
            <a:off x="457200" y="2103120"/>
            <a:ext cx="5394960" cy="3291840"/>
          </a:xfrm>
          <a:prstGeom prst="roundRect">
            <a:avLst>
              <a:gd name="adj" fmla="val 2778"/>
            </a:avLst>
          </a:prstGeom>
          <a:solidFill>
            <a:srgbClr val="F4F7FC"/>
          </a:solidFill>
          <a:ln/>
        </p:spPr>
      </p:sp>
      <p:sp>
        <p:nvSpPr>
          <p:cNvPr id="6" name="Text 4"/>
          <p:cNvSpPr/>
          <p:nvPr/>
        </p:nvSpPr>
        <p:spPr>
          <a:xfrm>
            <a:off x="731520" y="2286000"/>
            <a:ext cx="4846320" cy="457200"/>
          </a:xfrm>
          <a:prstGeom prst="rect">
            <a:avLst/>
          </a:prstGeom>
          <a:noFill/>
          <a:ln/>
        </p:spPr>
        <p:txBody>
          <a:bodyPr wrap="square" rtlCol="0" anchor="ctr"/>
          <a:lstStyle/>
          <a:p>
            <a:pPr indent="0" marL="0">
              <a:buNone/>
            </a:pPr>
            <a:r>
              <a:rPr lang="en-US" sz="1700" b="1" dirty="0">
                <a:solidFill>
                  <a:srgbClr val="3B60E4"/>
                </a:solidFill>
              </a:rPr>
              <a:t>Folium Map</a:t>
            </a:r>
            <a:endParaRPr lang="en-US" sz="1700" dirty="0"/>
          </a:p>
        </p:txBody>
      </p:sp>
      <p:sp>
        <p:nvSpPr>
          <p:cNvPr id="7" name="Text 5"/>
          <p:cNvSpPr/>
          <p:nvPr/>
        </p:nvSpPr>
        <p:spPr>
          <a:xfrm>
            <a:off x="731520" y="2788920"/>
            <a:ext cx="4846320" cy="914400"/>
          </a:xfrm>
          <a:prstGeom prst="rect">
            <a:avLst/>
          </a:prstGeom>
          <a:noFill/>
          <a:ln/>
        </p:spPr>
        <p:txBody>
          <a:bodyPr wrap="square" rtlCol="0" anchor="ctr"/>
          <a:lstStyle/>
          <a:p>
            <a:pPr indent="0" marL="0">
              <a:lnSpc>
                <a:spcPts val="1800"/>
              </a:lnSpc>
              <a:buNone/>
            </a:pPr>
            <a:r>
              <a:rPr lang="en-US" sz="1250" dirty="0">
                <a:solidFill>
                  <a:srgbClr val="5B6472"/>
                </a:solidFill>
              </a:rPr>
              <a:t>Launch-site markers, per-launch outcome markers (color-coded), and proximity distance lines (coastline, city, railway, highway).</a:t>
            </a:r>
            <a:endParaRPr lang="en-US" sz="1250" dirty="0"/>
          </a:p>
        </p:txBody>
      </p:sp>
      <p:pic>
        <p:nvPicPr>
          <p:cNvPr id="8" name="Image 0" descr="C:\Users\USER\Documents\Coursera\repo\images\folium_static_view.png">    </p:cNvPr>
          <p:cNvPicPr>
            <a:picLocks noChangeAspect="1"/>
          </p:cNvPicPr>
          <p:nvPr/>
        </p:nvPicPr>
        <p:blipFill>
          <a:blip r:embed="rId1"/>
          <a:stretch>
            <a:fillRect/>
          </a:stretch>
        </p:blipFill>
        <p:spPr>
          <a:xfrm>
            <a:off x="1261872" y="3749040"/>
            <a:ext cx="3794760" cy="1645920"/>
          </a:xfrm>
          <a:prstGeom prst="rect">
            <a:avLst/>
          </a:prstGeom>
        </p:spPr>
      </p:pic>
      <p:sp>
        <p:nvSpPr>
          <p:cNvPr id="9" name="Shape 6"/>
          <p:cNvSpPr/>
          <p:nvPr/>
        </p:nvSpPr>
        <p:spPr>
          <a:xfrm>
            <a:off x="6309360" y="2103120"/>
            <a:ext cx="5394960" cy="3291840"/>
          </a:xfrm>
          <a:prstGeom prst="roundRect">
            <a:avLst>
              <a:gd name="adj" fmla="val 2778"/>
            </a:avLst>
          </a:prstGeom>
          <a:solidFill>
            <a:srgbClr val="F4F7FC"/>
          </a:solidFill>
          <a:ln/>
        </p:spPr>
      </p:sp>
      <p:sp>
        <p:nvSpPr>
          <p:cNvPr id="10" name="Text 7"/>
          <p:cNvSpPr/>
          <p:nvPr/>
        </p:nvSpPr>
        <p:spPr>
          <a:xfrm>
            <a:off x="6583680" y="2286000"/>
            <a:ext cx="4846320" cy="457200"/>
          </a:xfrm>
          <a:prstGeom prst="rect">
            <a:avLst/>
          </a:prstGeom>
          <a:noFill/>
          <a:ln/>
        </p:spPr>
        <p:txBody>
          <a:bodyPr wrap="square" rtlCol="0" anchor="ctr"/>
          <a:lstStyle/>
          <a:p>
            <a:pPr indent="0" marL="0">
              <a:buNone/>
            </a:pPr>
            <a:r>
              <a:rPr lang="en-US" sz="1700" b="1" dirty="0">
                <a:solidFill>
                  <a:srgbClr val="17BEBB"/>
                </a:solidFill>
              </a:rPr>
              <a:t>Plotly Dash App</a:t>
            </a:r>
            <a:endParaRPr lang="en-US" sz="1700" dirty="0"/>
          </a:p>
        </p:txBody>
      </p:sp>
      <p:sp>
        <p:nvSpPr>
          <p:cNvPr id="11" name="Text 8"/>
          <p:cNvSpPr/>
          <p:nvPr/>
        </p:nvSpPr>
        <p:spPr>
          <a:xfrm>
            <a:off x="6583680" y="2788920"/>
            <a:ext cx="4846320" cy="914400"/>
          </a:xfrm>
          <a:prstGeom prst="rect">
            <a:avLst/>
          </a:prstGeom>
          <a:noFill/>
          <a:ln/>
        </p:spPr>
        <p:txBody>
          <a:bodyPr wrap="square" rtlCol="0" anchor="ctr"/>
          <a:lstStyle/>
          <a:p>
            <a:pPr indent="0" marL="0">
              <a:lnSpc>
                <a:spcPts val="1800"/>
              </a:lnSpc>
              <a:buNone/>
            </a:pPr>
            <a:r>
              <a:rPr lang="en-US" sz="1250" dirty="0">
                <a:solidFill>
                  <a:srgbClr val="5B6472"/>
                </a:solidFill>
              </a:rPr>
              <a:t>Dropdown to filter by launch site; live-updating success-rate pie chart and payload-vs-outcome scatter plot.</a:t>
            </a:r>
            <a:endParaRPr lang="en-US" sz="1250" dirty="0"/>
          </a:p>
        </p:txBody>
      </p:sp>
      <p:pic>
        <p:nvPicPr>
          <p:cNvPr id="12" name="Image 1" descr="C:\Users\USER\Documents\Coursera\repo\images\dash_pie_all_sites.png">    </p:cNvPr>
          <p:cNvPicPr>
            <a:picLocks noChangeAspect="1"/>
          </p:cNvPicPr>
          <p:nvPr/>
        </p:nvPicPr>
        <p:blipFill>
          <a:blip r:embed="rId2"/>
          <a:stretch>
            <a:fillRect/>
          </a:stretch>
        </p:blipFill>
        <p:spPr>
          <a:xfrm>
            <a:off x="6720840" y="3749040"/>
            <a:ext cx="1600200" cy="1463040"/>
          </a:xfrm>
          <a:prstGeom prst="rect">
            <a:avLst/>
          </a:prstGeom>
        </p:spPr>
      </p:pic>
      <p:pic>
        <p:nvPicPr>
          <p:cNvPr id="13" name="Image 2" descr="C:\Users\USER\Documents\Coursera\repo\images\dash_payload_scatter.png">    </p:cNvPr>
          <p:cNvPicPr>
            <a:picLocks noChangeAspect="1"/>
          </p:cNvPicPr>
          <p:nvPr/>
        </p:nvPicPr>
        <p:blipFill>
          <a:blip r:embed="rId3"/>
          <a:stretch>
            <a:fillRect/>
          </a:stretch>
        </p:blipFill>
        <p:spPr>
          <a:xfrm>
            <a:off x="8458200" y="3749040"/>
            <a:ext cx="3063240" cy="1463040"/>
          </a:xfrm>
          <a:prstGeom prst="rect">
            <a:avLst/>
          </a:prstGeom>
        </p:spPr>
      </p:pic>
      <p:sp>
        <p:nvSpPr>
          <p:cNvPr id="14" name="Text 9"/>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4"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https://github.com/razerblade09/spacex-falcon9-capstone/blob/main/dashboard/app.py</a:t>
            </a:r>
            <a:endParaRPr lang="en-US" sz="1050" dirty="0"/>
          </a:p>
        </p:txBody>
      </p:sp>
      <p:sp>
        <p:nvSpPr>
          <p:cNvPr id="15" name="Text 10"/>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 · FOLIUM</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Launch Site Markers &amp; Launch Records</a:t>
            </a:r>
            <a:endParaRPr lang="en-US" sz="2600" dirty="0"/>
          </a:p>
        </p:txBody>
      </p:sp>
      <p:pic>
        <p:nvPicPr>
          <p:cNvPr id="4" name="Image 0" descr="C:\Users\USER\Documents\Coursera\repo\images\folium_static_view.png">    </p:cNvPr>
          <p:cNvPicPr>
            <a:picLocks noChangeAspect="1"/>
          </p:cNvPicPr>
          <p:nvPr/>
        </p:nvPicPr>
        <p:blipFill>
          <a:blip r:embed="rId1"/>
          <a:stretch>
            <a:fillRect/>
          </a:stretch>
        </p:blipFill>
        <p:spPr>
          <a:xfrm>
            <a:off x="457200" y="2103120"/>
            <a:ext cx="7863840" cy="3410712"/>
          </a:xfrm>
          <a:prstGeom prst="rect">
            <a:avLst/>
          </a:prstGeom>
        </p:spPr>
      </p:pic>
      <p:sp>
        <p:nvSpPr>
          <p:cNvPr id="5" name="Text 2"/>
          <p:cNvSpPr/>
          <p:nvPr/>
        </p:nvSpPr>
        <p:spPr>
          <a:xfrm>
            <a:off x="8503920" y="1554480"/>
            <a:ext cx="3200400" cy="4480560"/>
          </a:xfrm>
          <a:prstGeom prst="rect">
            <a:avLst/>
          </a:prstGeom>
          <a:noFill/>
          <a:ln/>
        </p:spPr>
        <p:txBody>
          <a:bodyPr wrap="square" rtlCol="0" anchor="ctr"/>
          <a:lstStyle/>
          <a:p>
            <a:pPr indent="0" marL="0">
              <a:lnSpc>
                <a:spcPts val="1800"/>
              </a:lnSpc>
              <a:buNone/>
            </a:pPr>
            <a:r>
              <a:rPr lang="en-US" sz="1200" b="1" dirty="0">
                <a:solidFill>
                  <a:srgbClr val="0B1F3A"/>
                </a:solidFill>
              </a:rPr>
              <a:t>All 4 launch sites plotted with markers.
</a:t>
            </a:r>
            <a:pPr indent="0" marL="0">
              <a:lnSpc>
                <a:spcPts val="1800"/>
              </a:lnSpc>
              <a:buNone/>
            </a:pPr>
            <a:r>
              <a:rPr lang="en-US" sz="1200" dirty="0">
                <a:solidFill>
                  <a:srgbClr val="5B6472"/>
                </a:solidFill>
              </a:rPr>
              <a:t>Every individual launch (56 records) plotted as a marker cluster, colored green for a successful landing and red for a failed/no-attempt landing — letting you see which sites cluster more successes.
</a:t>
            </a:r>
            <a:pPr indent="0" marL="0">
              <a:lnSpc>
                <a:spcPts val="1800"/>
              </a:lnSpc>
              <a:buNone/>
            </a:pPr>
            <a:r>
              <a:rPr lang="en-US" sz="1200" b="1" dirty="0">
                <a:solidFill>
                  <a:srgbClr val="0B1F3A"/>
                </a:solidFill>
              </a:rPr>
              <a:t>Observation: </a:t>
            </a:r>
            <a:pPr indent="0" marL="0">
              <a:lnSpc>
                <a:spcPts val="1800"/>
              </a:lnSpc>
              <a:buNone/>
            </a:pPr>
            <a:r>
              <a:rPr lang="en-US" sz="1200" dirty="0">
                <a:solidFill>
                  <a:srgbClr val="5B6472"/>
                </a:solidFill>
              </a:rPr>
              <a:t>KSC LC-39A shows the densest green cluster — 10 landings from 13 launches (77%). CCAFS LC-40, the earliest and highest-volume pad, landed only 7 of 26 (27%): most of its records predate a working recovery process.</a:t>
            </a:r>
            <a:endParaRPr lang="en-US" sz="1200" dirty="0"/>
          </a:p>
        </p:txBody>
      </p:sp>
      <p:sp>
        <p:nvSpPr>
          <p:cNvPr id="6" name="Text 3"/>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https://github.com/razerblade09/spacex-falcon9-capstone/blob/main/notebooks/06_folium_map.py</a:t>
            </a:r>
            <a:endParaRPr lang="en-US" sz="1050" dirty="0"/>
          </a:p>
        </p:txBody>
      </p:sp>
      <p:sp>
        <p:nvSpPr>
          <p:cNvPr id="7" name="Text 4"/>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 · FOLIUM</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Proximity Analysis</a:t>
            </a:r>
            <a:endParaRPr lang="en-US" sz="2600" dirty="0"/>
          </a:p>
        </p:txBody>
      </p:sp>
      <p:sp>
        <p:nvSpPr>
          <p:cNvPr id="4" name="Text 2"/>
          <p:cNvSpPr/>
          <p:nvPr/>
        </p:nvSpPr>
        <p:spPr>
          <a:xfrm>
            <a:off x="457200" y="1463040"/>
            <a:ext cx="11247120" cy="457200"/>
          </a:xfrm>
          <a:prstGeom prst="rect">
            <a:avLst/>
          </a:prstGeom>
          <a:noFill/>
          <a:ln/>
        </p:spPr>
        <p:txBody>
          <a:bodyPr wrap="square" rtlCol="0" anchor="ctr"/>
          <a:lstStyle/>
          <a:p>
            <a:pPr indent="0" marL="0">
              <a:buNone/>
            </a:pPr>
            <a:r>
              <a:rPr lang="en-US" sz="1400" dirty="0">
                <a:solidFill>
                  <a:srgbClr val="5B6472"/>
                </a:solidFill>
              </a:rPr>
              <a:t>Using the haversine formula, we measured distance from KSC LC-39A to nearby geographic features:</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5486400" cy="1737360"/>
        </p:xfrm>
        <a:graphic>
          <a:graphicData uri="http://schemas.openxmlformats.org/drawingml/2006/table">
            <a:tbl>
              <a:tblPr/>
              <a:tblGrid>
                <a:gridCol w="3840480"/>
                <a:gridCol w="1645920"/>
              </a:tblGrid>
              <a:tr h="347472">
                <a:tc>
                  <a:txBody>
                    <a:bodyPr/>
                    <a:lstStyle/>
                    <a:p>
                      <a:pPr indent="0" marL="0">
                        <a:buNone/>
                      </a:pPr>
                      <a:r>
                        <a:rPr lang="en-US" sz="1250" b="1" dirty="0">
                          <a:solidFill>
                            <a:srgbClr val="FFFFFF"/>
                          </a:solidFill>
                        </a:rPr>
                        <a:t>Feature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250" b="1" dirty="0">
                          <a:solidFill>
                            <a:srgbClr val="FFFFFF"/>
                          </a:solidFill>
                        </a:rPr>
                        <a:t>Distance from Launch Site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347472">
                <a:tc>
                  <a:txBody>
                    <a:bodyPr/>
                    <a:lstStyle/>
                    <a:p>
                      <a:pPr indent="0" marL="0">
                        <a:buNone/>
                      </a:pPr>
                      <a:r>
                        <a:rPr lang="en-US" sz="1250" dirty="0">
                          <a:solidFill>
                            <a:srgbClr val="0B1F3A"/>
                          </a:solidFill>
                        </a:rPr>
                        <a:t>Nearest coastline point</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7.43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city (Titusville)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16.33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railway (NASA Railroad)</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0.69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47472">
                <a:tc>
                  <a:txBody>
                    <a:bodyPr/>
                    <a:lstStyle/>
                    <a:p>
                      <a:pPr indent="0" marL="0">
                        <a:buNone/>
                      </a:pPr>
                      <a:r>
                        <a:rPr lang="en-US" sz="1250" dirty="0">
                          <a:solidFill>
                            <a:srgbClr val="0B1F3A"/>
                          </a:solidFill>
                        </a:rPr>
                        <a:t>Nearest highway (Kennedy Pkwy N)</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0.85 km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6" name="Text 3"/>
          <p:cNvSpPr/>
          <p:nvPr/>
        </p:nvSpPr>
        <p:spPr>
          <a:xfrm>
            <a:off x="457200" y="3977640"/>
            <a:ext cx="5486400" cy="2011680"/>
          </a:xfrm>
          <a:prstGeom prst="rect">
            <a:avLst/>
          </a:prstGeom>
          <a:noFill/>
          <a:ln/>
        </p:spPr>
        <p:txBody>
          <a:bodyPr wrap="square" rtlCol="0" anchor="ctr"/>
          <a:lstStyle/>
          <a:p>
            <a:pPr indent="0" marL="0">
              <a:lnSpc>
                <a:spcPts val="1900"/>
              </a:lnSpc>
              <a:buNone/>
            </a:pPr>
            <a:r>
              <a:rPr lang="en-US" sz="1250" b="1" dirty="0">
                <a:solidFill>
                  <a:srgbClr val="0B1F3A"/>
                </a:solidFill>
              </a:rPr>
              <a:t>Why this matters: </a:t>
            </a:r>
            <a:pPr indent="0" marL="0">
              <a:lnSpc>
                <a:spcPts val="1900"/>
              </a:lnSpc>
              <a:buNone/>
            </a:pPr>
            <a:r>
              <a:rPr lang="en-US" sz="1250" dirty="0">
                <a:solidFill>
                  <a:srgbClr val="5B6472"/>
                </a:solidFill>
              </a:rPr>
              <a:t>Launch sites are deliberately sited close to coastlines (for downrange safety over open water) and to rail and road links (boosters and stages arrive overland), but a safe distance from population centers — real siting constraints any competing launch provider would need to replicate.</a:t>
            </a:r>
            <a:endParaRPr lang="en-US" sz="1250" dirty="0"/>
          </a:p>
        </p:txBody>
      </p:sp>
      <p:pic>
        <p:nvPicPr>
          <p:cNvPr id="7" name="Image 0" descr="C:\Users\USER\Documents\Coursera\repo\images\folium_map_screenshot.png">    </p:cNvPr>
          <p:cNvPicPr>
            <a:picLocks noChangeAspect="1"/>
          </p:cNvPicPr>
          <p:nvPr/>
        </p:nvPicPr>
        <p:blipFill>
          <a:blip r:embed="rId1"/>
          <a:stretch>
            <a:fillRect/>
          </a:stretch>
        </p:blipFill>
        <p:spPr>
          <a:xfrm>
            <a:off x="6629400" y="2011680"/>
            <a:ext cx="4754880" cy="4114800"/>
          </a:xfrm>
          <a:prstGeom prst="rect">
            <a:avLst/>
          </a:prstGeom>
        </p:spPr>
      </p:pic>
      <p:sp>
        <p:nvSpPr>
          <p:cNvPr id="8" name="Text 4"/>
          <p:cNvSpPr/>
          <p:nvPr/>
        </p:nvSpPr>
        <p:spPr>
          <a:xfrm>
            <a:off x="457200" y="5623560"/>
            <a:ext cx="5486400" cy="365760"/>
          </a:xfrm>
          <a:prstGeom prst="rect">
            <a:avLst/>
          </a:prstGeom>
          <a:noFill/>
          <a:ln/>
        </p:spPr>
        <p:txBody>
          <a:bodyPr wrap="square" rtlCol="0" anchor="ctr"/>
          <a:lstStyle/>
          <a:p>
            <a:pPr indent="0" marL="0">
              <a:buNone/>
            </a:pPr>
            <a:r>
              <a:rPr lang="en-US" sz="1050" i="1" dirty="0">
                <a:solidFill>
                  <a:srgbClr val="5B6472"/>
                </a:solidFill>
              </a:rPr>
              <a:t>City, railway and highway coordinates sourced from OpenStreetMap.</a:t>
            </a:r>
            <a:endParaRPr lang="en-US" sz="1050" dirty="0"/>
          </a:p>
        </p:txBody>
      </p:sp>
      <p:sp>
        <p:nvSpPr>
          <p:cNvPr id="9" name="Text 5"/>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https://github.com/razerblade09/spacex-falcon9-capstone/blob/main/notebooks/06_folium_map.py</a:t>
            </a:r>
            <a:endParaRPr lang="en-US" sz="1050" dirty="0"/>
          </a:p>
        </p:txBody>
      </p:sp>
      <p:sp>
        <p:nvSpPr>
          <p:cNvPr id="10" name="Text 6"/>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 · DASH</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Success Rate — Pie Charts</a:t>
            </a:r>
            <a:endParaRPr lang="en-US" sz="2600" dirty="0"/>
          </a:p>
        </p:txBody>
      </p:sp>
      <p:pic>
        <p:nvPicPr>
          <p:cNvPr id="4" name="Image 0" descr="C:\Users\USER\Documents\Coursera\repo\images\dash_pie_all_sites.png">    </p:cNvPr>
          <p:cNvPicPr>
            <a:picLocks noChangeAspect="1"/>
          </p:cNvPicPr>
          <p:nvPr/>
        </p:nvPicPr>
        <p:blipFill>
          <a:blip r:embed="rId1"/>
          <a:stretch>
            <a:fillRect/>
          </a:stretch>
        </p:blipFill>
        <p:spPr>
          <a:xfrm>
            <a:off x="457200" y="1463040"/>
            <a:ext cx="5394960" cy="4572000"/>
          </a:xfrm>
          <a:prstGeom prst="rect">
            <a:avLst/>
          </a:prstGeom>
        </p:spPr>
      </p:pic>
      <p:pic>
        <p:nvPicPr>
          <p:cNvPr id="5" name="Image 1" descr="C:\Users\USER\Documents\Coursera\repo\images\dash_pie_top_site.png">    </p:cNvPr>
          <p:cNvPicPr>
            <a:picLocks noChangeAspect="1"/>
          </p:cNvPicPr>
          <p:nvPr/>
        </p:nvPicPr>
        <p:blipFill>
          <a:blip r:embed="rId2"/>
          <a:stretch>
            <a:fillRect/>
          </a:stretch>
        </p:blipFill>
        <p:spPr>
          <a:xfrm>
            <a:off x="6309360" y="1737360"/>
            <a:ext cx="5029200" cy="4023360"/>
          </a:xfrm>
          <a:prstGeom prst="rect">
            <a:avLst/>
          </a:prstGeom>
        </p:spPr>
      </p:pic>
      <p:sp>
        <p:nvSpPr>
          <p:cNvPr id="6" name="Text 2"/>
          <p:cNvSpPr/>
          <p:nvPr/>
        </p:nvSpPr>
        <p:spPr>
          <a:xfrm>
            <a:off x="6309360" y="5806440"/>
            <a:ext cx="5394960" cy="640080"/>
          </a:xfrm>
          <a:prstGeom prst="rect">
            <a:avLst/>
          </a:prstGeom>
          <a:noFill/>
          <a:ln/>
        </p:spPr>
        <p:txBody>
          <a:bodyPr wrap="square" rtlCol="0" anchor="ctr"/>
          <a:lstStyle/>
          <a:p>
            <a:pPr indent="0" marL="0">
              <a:buNone/>
            </a:pPr>
            <a:r>
              <a:rPr lang="en-US" sz="1150" i="1" dirty="0">
                <a:solidFill>
                  <a:srgbClr val="5B6472"/>
                </a:solidFill>
              </a:rPr>
              <a:t>Left: share of total successful landings contributed by each site. Right: success-vs-failure split at the top-volume site (CCAFS LC-40) — filterable live via the dashboard dropdown.</a:t>
            </a:r>
            <a:endParaRPr lang="en-US" sz="1150" dirty="0"/>
          </a:p>
        </p:txBody>
      </p:sp>
      <p:sp>
        <p:nvSpPr>
          <p:cNvPr id="7" name="Text 3"/>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3"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https://github.com/razerblade09/spacex-falcon9-capstone/blob/main/dashboard/app.py</a:t>
            </a:r>
            <a:endParaRPr lang="en-US" sz="1050" dirty="0"/>
          </a:p>
        </p:txBody>
      </p:sp>
      <p:sp>
        <p:nvSpPr>
          <p:cNvPr id="8" name="Text 4"/>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 · DASH</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Payload Mass vs. Launch Outcome</a:t>
            </a:r>
            <a:endParaRPr lang="en-US" sz="2600" dirty="0"/>
          </a:p>
        </p:txBody>
      </p:sp>
      <p:pic>
        <p:nvPicPr>
          <p:cNvPr id="4" name="Image 0" descr="C:\Users\USER\Documents\Coursera\repo\images\dash_payload_scatter.png">    </p:cNvPr>
          <p:cNvPicPr>
            <a:picLocks noChangeAspect="1"/>
          </p:cNvPicPr>
          <p:nvPr/>
        </p:nvPicPr>
        <p:blipFill>
          <a:blip r:embed="rId1"/>
          <a:stretch>
            <a:fillRect/>
          </a:stretch>
        </p:blipFill>
        <p:spPr>
          <a:xfrm>
            <a:off x="822960" y="1554480"/>
            <a:ext cx="10424160" cy="4480560"/>
          </a:xfrm>
          <a:prstGeom prst="rect">
            <a:avLst/>
          </a:prstGeom>
        </p:spPr>
      </p:pic>
      <p:sp>
        <p:nvSpPr>
          <p:cNvPr id="5" name="Text 2"/>
          <p:cNvSpPr/>
          <p:nvPr/>
        </p:nvSpPr>
        <p:spPr>
          <a:xfrm>
            <a:off x="457200" y="5943600"/>
            <a:ext cx="11247120" cy="640080"/>
          </a:xfrm>
          <a:prstGeom prst="rect">
            <a:avLst/>
          </a:prstGeom>
          <a:noFill/>
          <a:ln/>
        </p:spPr>
        <p:txBody>
          <a:bodyPr wrap="square" rtlCol="0" anchor="ctr"/>
          <a:lstStyle/>
          <a:p>
            <a:pPr indent="0" marL="0">
              <a:buNone/>
            </a:pPr>
            <a:r>
              <a:rPr lang="en-US" sz="1200" i="1" dirty="0">
                <a:solidFill>
                  <a:srgbClr val="5B6472"/>
                </a:solidFill>
              </a:rPr>
              <a:t>A RangeSlider (0–10,000 kg) lets users narrow the payload window; the scatter plot recolors by booster version category (v1.0 / v1.1 / FT / B4 / B5), revealing that newer booster generations succeed reliably across a much wider payload range than early versions.</a:t>
            </a:r>
            <a:endParaRPr lang="en-US" sz="1200" dirty="0"/>
          </a:p>
        </p:txBody>
      </p:sp>
      <p:sp>
        <p:nvSpPr>
          <p:cNvPr id="6" name="Text 3"/>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https://github.com/razerblade09/spacex-falcon9-capstone/blob/main/dashboard/app.py</a:t>
            </a:r>
            <a:endParaRPr lang="en-US" sz="1050" dirty="0"/>
          </a:p>
        </p:txBody>
      </p:sp>
      <p:sp>
        <p:nvSpPr>
          <p:cNvPr id="7" name="Text 4"/>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PREDICTIVE ANALYSIS · PART 1</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Model Development</a:t>
            </a:r>
            <a:endParaRPr lang="en-US" sz="2600" dirty="0"/>
          </a:p>
        </p:txBody>
      </p:sp>
      <p:sp>
        <p:nvSpPr>
          <p:cNvPr id="4" name="Text 2"/>
          <p:cNvSpPr/>
          <p:nvPr/>
        </p:nvSpPr>
        <p:spPr>
          <a:xfrm>
            <a:off x="457200" y="1463040"/>
            <a:ext cx="5760720" cy="2743200"/>
          </a:xfrm>
          <a:prstGeom prst="rect">
            <a:avLst/>
          </a:prstGeom>
          <a:noFill/>
          <a:ln/>
        </p:spPr>
        <p:txBody>
          <a:bodyPr wrap="square" rtlCol="0" anchor="ctr"/>
          <a:lstStyle/>
          <a:p>
            <a:pPr indent="0" marL="0">
              <a:lnSpc>
                <a:spcPts val="2100"/>
              </a:lnSpc>
              <a:buNone/>
            </a:pPr>
            <a:r>
              <a:rPr lang="en-US" sz="1350" b="1" dirty="0">
                <a:solidFill>
                  <a:srgbClr val="0B1F3A"/>
                </a:solidFill>
              </a:rPr>
              <a:t>Features: </a:t>
            </a:r>
            <a:pPr indent="0" marL="0">
              <a:lnSpc>
                <a:spcPts val="2100"/>
              </a:lnSpc>
              <a:buNone/>
            </a:pPr>
            <a:r>
              <a:rPr lang="en-US" sz="1350" dirty="0">
                <a:solidFill>
                  <a:srgbClr val="5B6472"/>
                </a:solidFill>
              </a:rPr>
              <a:t>80 one-hot-encoded columns (orbit, launch site, landing pad, booster serial) plus flight number, payload mass, flights, grid fins, reused, legs, and block — standardized with StandardScaler.
</a:t>
            </a:r>
            <a:pPr indent="0" marL="0">
              <a:lnSpc>
                <a:spcPts val="2100"/>
              </a:lnSpc>
              <a:buNone/>
            </a:pPr>
            <a:r>
              <a:rPr lang="en-US" sz="1350" b="1" dirty="0">
                <a:solidFill>
                  <a:srgbClr val="0B1F3A"/>
                </a:solidFill>
              </a:rPr>
              <a:t>Split: </a:t>
            </a:r>
            <a:pPr indent="0" marL="0">
              <a:lnSpc>
                <a:spcPts val="2100"/>
              </a:lnSpc>
              <a:buNone/>
            </a:pPr>
            <a:r>
              <a:rPr lang="en-US" sz="1350" dirty="0">
                <a:solidFill>
                  <a:srgbClr val="5B6472"/>
                </a:solidFill>
              </a:rPr>
              <a:t>80% train / 20% test (72 / 18 launches), stratified via random_state=2.
</a:t>
            </a:r>
            <a:pPr indent="0" marL="0">
              <a:lnSpc>
                <a:spcPts val="2100"/>
              </a:lnSpc>
              <a:buNone/>
            </a:pPr>
            <a:r>
              <a:rPr lang="en-US" sz="1350" b="1" dirty="0">
                <a:solidFill>
                  <a:srgbClr val="0B1F3A"/>
                </a:solidFill>
              </a:rPr>
              <a:t>Models compared (each tuned via 10-fold GridSearchCV):</a:t>
            </a:r>
            <a:endParaRPr lang="en-US" sz="1350" dirty="0"/>
          </a:p>
        </p:txBody>
      </p:sp>
      <p:sp>
        <p:nvSpPr>
          <p:cNvPr id="5" name="Text 3"/>
          <p:cNvSpPr/>
          <p:nvPr/>
        </p:nvSpPr>
        <p:spPr>
          <a:xfrm>
            <a:off x="731520" y="4160520"/>
            <a:ext cx="5486400" cy="365760"/>
          </a:xfrm>
          <a:prstGeom prst="rect">
            <a:avLst/>
          </a:prstGeom>
          <a:noFill/>
          <a:ln/>
        </p:spPr>
        <p:txBody>
          <a:bodyPr wrap="square" rtlCol="0" anchor="ctr"/>
          <a:lstStyle/>
          <a:p>
            <a:pPr marL="342900" indent="-342900">
              <a:buSzPct val="100000"/>
              <a:buChar char="•"/>
            </a:pPr>
            <a:r>
              <a:rPr lang="en-US" sz="1200" dirty="0">
                <a:solidFill>
                  <a:srgbClr val="0B1F3A"/>
                </a:solidFill>
              </a:rPr>
              <a:t>Logistic Regression — C, penalty, solver</a:t>
            </a:r>
            <a:endParaRPr lang="en-US" sz="1200" dirty="0"/>
          </a:p>
        </p:txBody>
      </p:sp>
      <p:sp>
        <p:nvSpPr>
          <p:cNvPr id="6" name="Text 4"/>
          <p:cNvSpPr/>
          <p:nvPr/>
        </p:nvSpPr>
        <p:spPr>
          <a:xfrm>
            <a:off x="731520" y="4544568"/>
            <a:ext cx="5486400" cy="365760"/>
          </a:xfrm>
          <a:prstGeom prst="rect">
            <a:avLst/>
          </a:prstGeom>
          <a:noFill/>
          <a:ln/>
        </p:spPr>
        <p:txBody>
          <a:bodyPr wrap="square" rtlCol="0" anchor="ctr"/>
          <a:lstStyle/>
          <a:p>
            <a:pPr marL="342900" indent="-342900">
              <a:buSzPct val="100000"/>
              <a:buChar char="•"/>
            </a:pPr>
            <a:r>
              <a:rPr lang="en-US" sz="1200" dirty="0">
                <a:solidFill>
                  <a:srgbClr val="0B1F3A"/>
                </a:solidFill>
              </a:rPr>
              <a:t>Support Vector Machine — kernel, C, gamma</a:t>
            </a:r>
            <a:endParaRPr lang="en-US" sz="1200" dirty="0"/>
          </a:p>
        </p:txBody>
      </p:sp>
      <p:sp>
        <p:nvSpPr>
          <p:cNvPr id="7" name="Text 5"/>
          <p:cNvSpPr/>
          <p:nvPr/>
        </p:nvSpPr>
        <p:spPr>
          <a:xfrm>
            <a:off x="731520" y="4928616"/>
            <a:ext cx="5486400" cy="365760"/>
          </a:xfrm>
          <a:prstGeom prst="rect">
            <a:avLst/>
          </a:prstGeom>
          <a:noFill/>
          <a:ln/>
        </p:spPr>
        <p:txBody>
          <a:bodyPr wrap="square" rtlCol="0" anchor="ctr"/>
          <a:lstStyle/>
          <a:p>
            <a:pPr marL="342900" indent="-342900">
              <a:buSzPct val="100000"/>
              <a:buChar char="•"/>
            </a:pPr>
            <a:r>
              <a:rPr lang="en-US" sz="1200" dirty="0">
                <a:solidFill>
                  <a:srgbClr val="0B1F3A"/>
                </a:solidFill>
              </a:rPr>
              <a:t>Decision Tree — criterion, max_depth, min_samples_split</a:t>
            </a:r>
            <a:endParaRPr lang="en-US" sz="1200" dirty="0"/>
          </a:p>
        </p:txBody>
      </p:sp>
      <p:sp>
        <p:nvSpPr>
          <p:cNvPr id="8" name="Text 6"/>
          <p:cNvSpPr/>
          <p:nvPr/>
        </p:nvSpPr>
        <p:spPr>
          <a:xfrm>
            <a:off x="731520" y="5312664"/>
            <a:ext cx="5486400" cy="365760"/>
          </a:xfrm>
          <a:prstGeom prst="rect">
            <a:avLst/>
          </a:prstGeom>
          <a:noFill/>
          <a:ln/>
        </p:spPr>
        <p:txBody>
          <a:bodyPr wrap="square" rtlCol="0" anchor="ctr"/>
          <a:lstStyle/>
          <a:p>
            <a:pPr marL="342900" indent="-342900">
              <a:buSzPct val="100000"/>
              <a:buChar char="•"/>
            </a:pPr>
            <a:r>
              <a:rPr lang="en-US" sz="1200" dirty="0">
                <a:solidFill>
                  <a:srgbClr val="0B1F3A"/>
                </a:solidFill>
              </a:rPr>
              <a:t>K-Nearest Neighbors — n_neighbors, distance metric (p)</a:t>
            </a:r>
            <a:endParaRPr lang="en-US" sz="1200" dirty="0"/>
          </a:p>
        </p:txBody>
      </p:sp>
      <p:pic>
        <p:nvPicPr>
          <p:cNvPr id="9" name="Image 0" descr="C:\Users\USER\Documents\Coursera\repo\images\model_comparison.png">    </p:cNvPr>
          <p:cNvPicPr>
            <a:picLocks noChangeAspect="1"/>
          </p:cNvPicPr>
          <p:nvPr/>
        </p:nvPicPr>
        <p:blipFill>
          <a:blip r:embed="rId1"/>
          <a:stretch>
            <a:fillRect/>
          </a:stretch>
        </p:blipFill>
        <p:spPr>
          <a:xfrm>
            <a:off x="6492240" y="1463040"/>
            <a:ext cx="5212080" cy="3657600"/>
          </a:xfrm>
          <a:prstGeom prst="rect">
            <a:avLst/>
          </a:prstGeom>
        </p:spPr>
      </p:pic>
      <p:sp>
        <p:nvSpPr>
          <p:cNvPr id="10" name="Text 7"/>
          <p:cNvSpPr/>
          <p:nvPr/>
        </p:nvSpPr>
        <p:spPr>
          <a:xfrm>
            <a:off x="6492240" y="5212080"/>
            <a:ext cx="5212080" cy="914400"/>
          </a:xfrm>
          <a:prstGeom prst="rect">
            <a:avLst/>
          </a:prstGeom>
          <a:noFill/>
          <a:ln/>
        </p:spPr>
        <p:txBody>
          <a:bodyPr wrap="square" rtlCol="0" anchor="ctr"/>
          <a:lstStyle/>
          <a:p>
            <a:pPr indent="0" marL="0">
              <a:buNone/>
            </a:pPr>
            <a:r>
              <a:rPr lang="en-US" sz="1150" i="1" dirty="0">
                <a:solidFill>
                  <a:srgbClr val="5B6472"/>
                </a:solidFill>
              </a:rPr>
              <a:t>All four models converged near 83% test accuracy, with Decision Tree slightly behind — signal that the engineered features are strong and model choice matters less than feature quality here.</a:t>
            </a:r>
            <a:endParaRPr lang="en-US" sz="1150" dirty="0"/>
          </a:p>
        </p:txBody>
      </p:sp>
      <p:sp>
        <p:nvSpPr>
          <p:cNvPr id="11" name="Text 8"/>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12" name="Text 9"/>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PREDICTIVE ANALYSIS · PART 2</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Evaluation Results &amp; Confusion Matrix</a:t>
            </a:r>
            <a:endParaRPr lang="en-US" sz="2600" dirty="0"/>
          </a:p>
        </p:txBody>
      </p:sp>
      <p:pic>
        <p:nvPicPr>
          <p:cNvPr id="4" name="Image 0" descr="C:\Users\USER\Documents\Coursera\repo\images\confusion_matrix_best.png">    </p:cNvPr>
          <p:cNvPicPr>
            <a:picLocks noChangeAspect="1"/>
          </p:cNvPicPr>
          <p:nvPr/>
        </p:nvPicPr>
        <p:blipFill>
          <a:blip r:embed="rId1"/>
          <a:stretch>
            <a:fillRect/>
          </a:stretch>
        </p:blipFill>
        <p:spPr>
          <a:xfrm>
            <a:off x="548640" y="1463040"/>
            <a:ext cx="5029200" cy="448056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0" y="1554480"/>
          <a:ext cx="5760720" cy="2011680"/>
        </p:xfrm>
        <a:graphic>
          <a:graphicData uri="http://schemas.openxmlformats.org/drawingml/2006/table">
            <a:tbl>
              <a:tblPr/>
              <a:tblGrid>
                <a:gridCol w="2743200"/>
                <a:gridCol w="1508760"/>
                <a:gridCol w="1508760"/>
              </a:tblGrid>
              <a:tr h="402336">
                <a:tc>
                  <a:txBody>
                    <a:bodyPr/>
                    <a:lstStyle/>
                    <a:p>
                      <a:pPr indent="0" marL="0">
                        <a:buNone/>
                      </a:pPr>
                      <a:r>
                        <a:rPr lang="en-US" sz="1250" b="1" dirty="0">
                          <a:solidFill>
                            <a:srgbClr val="FFFFFF"/>
                          </a:solidFill>
                        </a:rPr>
                        <a:t>Model</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1250" b="1" dirty="0">
                          <a:solidFill>
                            <a:srgbClr val="FFFFFF"/>
                          </a:solidFill>
                        </a:rPr>
                        <a:t>CV Score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c>
                  <a:txBody>
                    <a:bodyPr/>
                    <a:lstStyle/>
                    <a:p>
                      <a:pPr indent="0" marL="0">
                        <a:buNone/>
                      </a:pPr>
                      <a:r>
                        <a:rPr lang="en-US" sz="1250" b="1" dirty="0">
                          <a:solidFill>
                            <a:srgbClr val="FFFFFF"/>
                          </a:solidFill>
                        </a:rPr>
                        <a:t>Test Accuracy</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3B60E4"/>
                    </a:solidFill>
                  </a:tcPr>
                </a:tc>
              </a:tr>
              <a:tr h="402336">
                <a:tc>
                  <a:txBody>
                    <a:bodyPr/>
                    <a:lstStyle/>
                    <a:p>
                      <a:pPr indent="0" marL="0">
                        <a:buNone/>
                      </a:pPr>
                      <a:r>
                        <a:rPr lang="en-US" sz="1250" b="1" dirty="0">
                          <a:solidFill>
                            <a:srgbClr val="0B1F3A"/>
                          </a:solidFill>
                        </a:rPr>
                        <a:t>Logistic Regression</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0.821</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0.833</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02336">
                <a:tc>
                  <a:txBody>
                    <a:bodyPr/>
                    <a:lstStyle/>
                    <a:p>
                      <a:pPr indent="0" marL="0">
                        <a:buNone/>
                      </a:pPr>
                      <a:r>
                        <a:rPr lang="en-US" sz="1250" dirty="0">
                          <a:solidFill>
                            <a:srgbClr val="0B1F3A"/>
                          </a:solidFill>
                        </a:rPr>
                        <a:t>SVM</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0.834</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0.833</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02336">
                <a:tc>
                  <a:txBody>
                    <a:bodyPr/>
                    <a:lstStyle/>
                    <a:p>
                      <a:pPr indent="0" marL="0">
                        <a:buNone/>
                      </a:pPr>
                      <a:r>
                        <a:rPr lang="en-US" sz="1250" dirty="0">
                          <a:solidFill>
                            <a:srgbClr val="0B1F3A"/>
                          </a:solidFill>
                        </a:rPr>
                        <a:t>KNN</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0.834</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0.833</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402336">
                <a:tc>
                  <a:txBody>
                    <a:bodyPr/>
                    <a:lstStyle/>
                    <a:p>
                      <a:pPr indent="0" marL="0">
                        <a:buNone/>
                      </a:pPr>
                      <a:r>
                        <a:rPr lang="en-US" sz="1250" dirty="0">
                          <a:solidFill>
                            <a:srgbClr val="0B1F3A"/>
                          </a:solidFill>
                        </a:rPr>
                        <a:t>Decision Tree</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0.804</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250" dirty="0">
                          <a:solidFill>
                            <a:srgbClr val="0B1F3A"/>
                          </a:solidFill>
                        </a:rPr>
                        <a:t>0.778</a:t>
                      </a:r>
                      <a:endParaRPr lang="en-US" sz="12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6" name="Text 2"/>
          <p:cNvSpPr/>
          <p:nvPr/>
        </p:nvSpPr>
        <p:spPr>
          <a:xfrm>
            <a:off x="5943600" y="3840480"/>
            <a:ext cx="5760720" cy="2377440"/>
          </a:xfrm>
          <a:prstGeom prst="rect">
            <a:avLst/>
          </a:prstGeom>
          <a:noFill/>
          <a:ln/>
        </p:spPr>
        <p:txBody>
          <a:bodyPr wrap="square" rtlCol="0" anchor="ctr"/>
          <a:lstStyle/>
          <a:p>
            <a:pPr indent="0" marL="0">
              <a:lnSpc>
                <a:spcPts val="2000"/>
              </a:lnSpc>
              <a:buNone/>
            </a:pPr>
            <a:r>
              <a:rPr lang="en-US" sz="1300" b="1" dirty="0">
                <a:solidFill>
                  <a:srgbClr val="0B1F3A"/>
                </a:solidFill>
              </a:rPr>
              <a:t>Reading the confusion matrix (18 test launches): </a:t>
            </a:r>
            <a:pPr indent="0" marL="0">
              <a:lnSpc>
                <a:spcPts val="2000"/>
              </a:lnSpc>
              <a:buNone/>
            </a:pPr>
            <a:r>
              <a:rPr lang="en-US" sz="1300" dirty="0">
                <a:solidFill>
                  <a:srgbClr val="5B6472"/>
                </a:solidFill>
              </a:rPr>
              <a:t>12 successful landings correctly predicted, 3 unsuccessful landings correctly predicted, 3 unsuccessful landings misclassified as successful, 0 successful landings missed. The model never misses a true landing — it's conservative in the safer direction for cost bidding.</a:t>
            </a:r>
            <a:endParaRPr lang="en-US" sz="1300" dirty="0"/>
          </a:p>
        </p:txBody>
      </p:sp>
      <p:sp>
        <p:nvSpPr>
          <p:cNvPr id="7" name="Text 3"/>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1050" dirty="0"/>
          </a:p>
        </p:txBody>
      </p:sp>
      <p:sp>
        <p:nvSpPr>
          <p:cNvPr id="8" name="Text 4"/>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rtlCol="0" anchor="ctr"/>
          <a:lstStyle/>
          <a:p>
            <a:pPr indent="0" marL="0">
              <a:buNone/>
            </a:pPr>
            <a:r>
              <a:rPr lang="en-US" sz="1200" b="1" spc="200" kern="0" dirty="0">
                <a:solidFill>
                  <a:srgbClr val="3B60E4"/>
                </a:solidFill>
              </a:rPr>
              <a:t>PREDICTIVE ANALYSIS · PART 3</a:t>
            </a:r>
            <a:endParaRPr lang="en-US" sz="1200" dirty="0"/>
          </a:p>
        </p:txBody>
      </p:sp>
      <p:sp>
        <p:nvSpPr>
          <p:cNvPr id="3" name="Text 1"/>
          <p:cNvSpPr/>
          <p:nvPr/>
        </p:nvSpPr>
        <p:spPr>
          <a:xfrm>
            <a:off x="457200" y="566928"/>
            <a:ext cx="11247120" cy="640080"/>
          </a:xfrm>
          <a:prstGeom prst="rect">
            <a:avLst/>
          </a:prstGeom>
          <a:noFill/>
          <a:ln/>
        </p:spPr>
        <p:txBody>
          <a:bodyPr wrap="square" rtlCol="0" anchor="ctr"/>
          <a:lstStyle/>
          <a:p>
            <a:pPr indent="0" marL="0">
              <a:buNone/>
            </a:pPr>
            <a:r>
              <a:rPr lang="en-US" sz="2600" b="1" dirty="0">
                <a:solidFill>
                  <a:srgbClr val="0B1F3A"/>
                </a:solidFill>
              </a:rPr>
              <a:t>Best Model &amp; Conclusion</a:t>
            </a:r>
            <a:endParaRPr lang="en-US" sz="2600" dirty="0"/>
          </a:p>
        </p:txBody>
      </p:sp>
      <p:sp>
        <p:nvSpPr>
          <p:cNvPr id="4" name="Shape 2"/>
          <p:cNvSpPr/>
          <p:nvPr/>
        </p:nvSpPr>
        <p:spPr>
          <a:xfrm>
            <a:off x="457200" y="1463040"/>
            <a:ext cx="5394960" cy="4480560"/>
          </a:xfrm>
          <a:prstGeom prst="roundRect">
            <a:avLst>
              <a:gd name="adj" fmla="val 2041"/>
            </a:avLst>
          </a:prstGeom>
          <a:solidFill>
            <a:srgbClr val="F4F7FC"/>
          </a:solidFill>
          <a:ln/>
        </p:spPr>
      </p:sp>
      <p:sp>
        <p:nvSpPr>
          <p:cNvPr id="5" name="Text 3"/>
          <p:cNvSpPr/>
          <p:nvPr/>
        </p:nvSpPr>
        <p:spPr>
          <a:xfrm>
            <a:off x="731520" y="1645920"/>
            <a:ext cx="4846320" cy="457200"/>
          </a:xfrm>
          <a:prstGeom prst="rect">
            <a:avLst/>
          </a:prstGeom>
          <a:noFill/>
          <a:ln/>
        </p:spPr>
        <p:txBody>
          <a:bodyPr wrap="square" rtlCol="0" anchor="ctr"/>
          <a:lstStyle/>
          <a:p>
            <a:pPr indent="0" marL="0">
              <a:buNone/>
            </a:pPr>
            <a:r>
              <a:rPr lang="en-US" sz="1700" b="1" dirty="0">
                <a:solidFill>
                  <a:srgbClr val="3B60E4"/>
                </a:solidFill>
              </a:rPr>
              <a:t>Best Model: Logistic Regression</a:t>
            </a:r>
            <a:endParaRPr lang="en-US" sz="1700" dirty="0"/>
          </a:p>
        </p:txBody>
      </p:sp>
      <p:sp>
        <p:nvSpPr>
          <p:cNvPr id="6" name="Text 4"/>
          <p:cNvSpPr/>
          <p:nvPr/>
        </p:nvSpPr>
        <p:spPr>
          <a:xfrm>
            <a:off x="731520" y="2194560"/>
            <a:ext cx="4846320" cy="3566160"/>
          </a:xfrm>
          <a:prstGeom prst="rect">
            <a:avLst/>
          </a:prstGeom>
          <a:noFill/>
          <a:ln/>
        </p:spPr>
        <p:txBody>
          <a:bodyPr wrap="square" rtlCol="0" anchor="ctr"/>
          <a:lstStyle/>
          <a:p>
            <a:pPr indent="0" marL="0">
              <a:lnSpc>
                <a:spcPts val="2000"/>
              </a:lnSpc>
              <a:buNone/>
            </a:pPr>
            <a:r>
              <a:rPr lang="en-US" sz="1250" dirty="0">
                <a:solidFill>
                  <a:srgbClr val="5B6472"/>
                </a:solidFill>
              </a:rPr>
              <a:t>Best params: C=1, L2 penalty, lbfgs solver
</a:t>
            </a:r>
            <a:pPr indent="0" marL="0">
              <a:lnSpc>
                <a:spcPts val="2000"/>
              </a:lnSpc>
              <a:buNone/>
            </a:pPr>
            <a:r>
              <a:rPr lang="en-US" sz="1250" b="1" dirty="0">
                <a:solidFill>
                  <a:srgbClr val="0B1F3A"/>
                </a:solidFill>
              </a:rPr>
              <a:t>Why it wins: </a:t>
            </a:r>
            <a:pPr indent="0" marL="0">
              <a:lnSpc>
                <a:spcPts val="2000"/>
              </a:lnSpc>
              <a:buNone/>
            </a:pPr>
            <a:r>
              <a:rPr lang="en-US" sz="1250" dirty="0">
                <a:solidFill>
                  <a:srgbClr val="5B6472"/>
                </a:solidFill>
              </a:rPr>
              <a:t>Ties SVM and KNN on raw accuracy (83.3%) but is far more interpretable — each feature's coefficient directly shows its effect on landing-success odds, which matters for explaining a cost bid to stakeholders. It's also the cheapest to retrain as new launches arrive.</a:t>
            </a:r>
            <a:endParaRPr lang="en-US" sz="1250" dirty="0"/>
          </a:p>
        </p:txBody>
      </p:sp>
      <p:sp>
        <p:nvSpPr>
          <p:cNvPr id="7" name="Text 5"/>
          <p:cNvSpPr/>
          <p:nvPr/>
        </p:nvSpPr>
        <p:spPr>
          <a:xfrm>
            <a:off x="6309360" y="1463040"/>
            <a:ext cx="5394960" cy="365760"/>
          </a:xfrm>
          <a:prstGeom prst="rect">
            <a:avLst/>
          </a:prstGeom>
          <a:noFill/>
          <a:ln/>
        </p:spPr>
        <p:txBody>
          <a:bodyPr wrap="square" rtlCol="0" anchor="ctr"/>
          <a:lstStyle/>
          <a:p>
            <a:pPr indent="0" marL="0">
              <a:buNone/>
            </a:pPr>
            <a:r>
              <a:rPr lang="en-US" sz="1700" b="1" dirty="0">
                <a:solidFill>
                  <a:srgbClr val="0B1F3A"/>
                </a:solidFill>
              </a:rPr>
              <a:t>Conclusion &amp; Insights</a:t>
            </a:r>
            <a:endParaRPr lang="en-US" sz="1700" dirty="0"/>
          </a:p>
        </p:txBody>
      </p:sp>
      <p:sp>
        <p:nvSpPr>
          <p:cNvPr id="8" name="Text 6"/>
          <p:cNvSpPr/>
          <p:nvPr/>
        </p:nvSpPr>
        <p:spPr>
          <a:xfrm>
            <a:off x="6309360" y="1920240"/>
            <a:ext cx="5394960" cy="914400"/>
          </a:xfrm>
          <a:prstGeom prst="rect">
            <a:avLst/>
          </a:prstGeom>
          <a:noFill/>
          <a:ln/>
        </p:spPr>
        <p:txBody>
          <a:bodyPr wrap="square" rtlCol="0" anchor="ctr"/>
          <a:lstStyle/>
          <a:p>
            <a:pPr marL="342900" indent="-342900">
              <a:lnSpc>
                <a:spcPts val="1600"/>
              </a:lnSpc>
              <a:buSzPct val="100000"/>
              <a:buChar char="•"/>
            </a:pPr>
            <a:r>
              <a:rPr lang="en-US" sz="1200" dirty="0">
                <a:solidFill>
                  <a:srgbClr val="5B6472"/>
                </a:solidFill>
              </a:rPr>
              <a:t>Landing success is highly learnable from launch parameters — 83% test accuracy from a simple, interpretable model.</a:t>
            </a:r>
            <a:endParaRPr lang="en-US" sz="1200" dirty="0"/>
          </a:p>
        </p:txBody>
      </p:sp>
      <p:sp>
        <p:nvSpPr>
          <p:cNvPr id="9" name="Text 7"/>
          <p:cNvSpPr/>
          <p:nvPr/>
        </p:nvSpPr>
        <p:spPr>
          <a:xfrm>
            <a:off x="6309360" y="2926080"/>
            <a:ext cx="5394960" cy="914400"/>
          </a:xfrm>
          <a:prstGeom prst="rect">
            <a:avLst/>
          </a:prstGeom>
          <a:noFill/>
          <a:ln/>
        </p:spPr>
        <p:txBody>
          <a:bodyPr wrap="square" rtlCol="0" anchor="ctr"/>
          <a:lstStyle/>
          <a:p>
            <a:pPr marL="342900" indent="-342900">
              <a:lnSpc>
                <a:spcPts val="1600"/>
              </a:lnSpc>
              <a:buSzPct val="100000"/>
              <a:buChar char="•"/>
            </a:pPr>
            <a:r>
              <a:rPr lang="en-US" sz="1200" dirty="0">
                <a:solidFill>
                  <a:srgbClr val="5B6472"/>
                </a:solidFill>
              </a:rPr>
              <a:t>Orbit type and payload mass are the strongest visual predictors; heavier GTO missions land less reliably than light LEO/ISS missions.</a:t>
            </a:r>
            <a:endParaRPr lang="en-US" sz="1200" dirty="0"/>
          </a:p>
        </p:txBody>
      </p:sp>
      <p:sp>
        <p:nvSpPr>
          <p:cNvPr id="10" name="Text 8"/>
          <p:cNvSpPr/>
          <p:nvPr/>
        </p:nvSpPr>
        <p:spPr>
          <a:xfrm>
            <a:off x="6309360" y="3931920"/>
            <a:ext cx="5394960" cy="914400"/>
          </a:xfrm>
          <a:prstGeom prst="rect">
            <a:avLst/>
          </a:prstGeom>
          <a:noFill/>
          <a:ln/>
        </p:spPr>
        <p:txBody>
          <a:bodyPr wrap="square" rtlCol="0" anchor="ctr"/>
          <a:lstStyle/>
          <a:p>
            <a:pPr marL="342900" indent="-342900">
              <a:lnSpc>
                <a:spcPts val="1600"/>
              </a:lnSpc>
              <a:buSzPct val="100000"/>
              <a:buChar char="•"/>
            </a:pPr>
            <a:r>
              <a:rPr lang="en-US" sz="1200" dirty="0">
                <a:solidFill>
                  <a:srgbClr val="5B6472"/>
                </a:solidFill>
              </a:rPr>
              <a:t>Success rate improved dramatically over time (2013 → 2020), reflecting SpaceX's iterative process improvements — not a static property of the hardware.</a:t>
            </a:r>
            <a:endParaRPr lang="en-US" sz="1200" dirty="0"/>
          </a:p>
        </p:txBody>
      </p:sp>
      <p:sp>
        <p:nvSpPr>
          <p:cNvPr id="11" name="Text 9"/>
          <p:cNvSpPr/>
          <p:nvPr/>
        </p:nvSpPr>
        <p:spPr>
          <a:xfrm>
            <a:off x="6309360" y="4937760"/>
            <a:ext cx="5394960" cy="914400"/>
          </a:xfrm>
          <a:prstGeom prst="rect">
            <a:avLst/>
          </a:prstGeom>
          <a:noFill/>
          <a:ln/>
        </p:spPr>
        <p:txBody>
          <a:bodyPr wrap="square" rtlCol="0" anchor="ctr"/>
          <a:lstStyle/>
          <a:p>
            <a:pPr marL="342900" indent="-342900">
              <a:lnSpc>
                <a:spcPts val="1600"/>
              </a:lnSpc>
              <a:buSzPct val="100000"/>
              <a:buChar char="•"/>
            </a:pPr>
            <a:r>
              <a:rPr lang="en-US" sz="1200" dirty="0">
                <a:solidFill>
                  <a:srgbClr val="5B6472"/>
                </a:solidFill>
              </a:rPr>
              <a:t>Recommendation: a competing bidder can use this model as a first-pass cost-risk estimator, refining it further with more recent launches and continuous re-training.</a:t>
            </a:r>
            <a:endParaRPr lang="en-US" sz="1200" dirty="0"/>
          </a:p>
        </p:txBody>
      </p:sp>
      <p:sp>
        <p:nvSpPr>
          <p:cNvPr id="12" name="Text 10"/>
          <p:cNvSpPr/>
          <p:nvPr/>
        </p:nvSpPr>
        <p:spPr>
          <a:xfrm>
            <a:off x="457200" y="6492240"/>
            <a:ext cx="11247120" cy="274320"/>
          </a:xfrm>
          <a:prstGeom prst="rect">
            <a:avLst/>
          </a:prstGeom>
          <a:noFill/>
          <a:ln/>
        </p:spPr>
        <p:txBody>
          <a:bodyPr wrap="square" rtlCol="0" anchor="ctr"/>
          <a:lstStyle/>
          <a:p>
            <a:pPr indent="0" marL="0">
              <a:buNone/>
            </a:pPr>
            <a:r>
              <a:rPr lang="en-US" sz="1050" b="1" dirty="0">
                <a:solidFill>
                  <a:srgbClr val="5B6472"/>
                </a:solidFill>
              </a:rPr>
              <a:t>GitHub: </a:t>
            </a:r>
            <a:pPr indent="0" marL="0">
              <a:buNone/>
            </a:pPr>
            <a:r>
              <a:rPr lang="en-US" sz="10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050" dirty="0"/>
          </a:p>
        </p:txBody>
      </p:sp>
      <p:sp>
        <p:nvSpPr>
          <p:cNvPr id="13" name="Text 11"/>
          <p:cNvSpPr/>
          <p:nvPr/>
        </p:nvSpPr>
        <p:spPr>
          <a:xfrm>
            <a:off x="11750040" y="6492240"/>
            <a:ext cx="365760" cy="274320"/>
          </a:xfrm>
          <a:prstGeom prst="rect">
            <a:avLst/>
          </a:prstGeom>
          <a:noFill/>
          <a:ln/>
        </p:spPr>
        <p:txBody>
          <a:bodyPr wrap="square" rtlCol="0" anchor="ctr"/>
          <a:lstStyle/>
          <a:p>
            <a:pPr algn="r" indent="0" marL="0">
              <a:buNone/>
            </a:pPr>
            <a:r>
              <a:rPr lang="en-US" sz="1000" dirty="0">
                <a:solidFill>
                  <a:srgbClr val="5B6472"/>
                </a:solidFill>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2026-08-19T03:58:23Z</dcterms:created>
  <dcterms:modified xsi:type="dcterms:W3CDTF">2026-08-19T03:58:23Z</dcterms:modified>
</cp:coreProperties>
</file>