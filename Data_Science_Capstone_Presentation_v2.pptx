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razerblade09/spacex-falcon9-capstone"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razerblade09/spacex-falcon9-capstone" TargetMode="External"/><Relationship Id="rId2" Type="http://schemas.openxmlformats.org/officeDocument/2006/relationships/hyperlink" Target="https://github.com/razerblade09/spacex-falcon9-capstone"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razerblade09/spacex-falcon9-capstone" TargetMode="Externa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razerblade09/spacex-falcon9-capstone/blob/main/notebooks/01_data_collection_api.py"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razerblade09/spacex-falcon9-capstone/blob/main/notebooks/02_web_scraping.py"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razerblade09/spacex-falcon9-capstone/blob/main/notebooks/03_data_wrangling.py" TargetMode="Externa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7" Type="http://schemas.openxmlformats.org/officeDocument/2006/relationships/hyperlink" Target="https://github.com/razerblade09/spacex-falcon9-capstone/blob/main/notebooks/04_07_eda_sql_ml.py"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razerblade09/spacex-falcon9-capstone/blob/main/notebooks/04_07_eda_sql_ml.py"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razerblade09/spacex-falcon9-capstone/blob/main/notebooks/06_folium_map.py" TargetMode="Externa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hyperlink" Target="https://github.com/razerblade09/spacex-falcon9-capstone/blob/main/dashboard/app.py" TargetMode="Externa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razerblade09/spacex-falcon9-capstone/blob/main/notebooks/04_07_eda_sql_ml.py" TargetMode="Externa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razerblade09/spacex-falcon9-capstone"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731520" y="1737360"/>
            <a:ext cx="10698480" cy="1828800"/>
          </a:xfrm>
          <a:prstGeom prst="rect">
            <a:avLst/>
          </a:prstGeom>
          <a:noFill/>
          <a:ln/>
        </p:spPr>
        <p:txBody>
          <a:bodyPr wrap="square" rtlCol="0" anchor="ctr"/>
          <a:lstStyle/>
          <a:p>
            <a:pPr indent="0" marL="0">
              <a:buNone/>
            </a:pPr>
            <a:r>
              <a:rPr lang="en-US" sz="3800" b="1" dirty="0">
                <a:solidFill>
                  <a:srgbClr val="FFFFFF"/>
                </a:solidFill>
              </a:rPr>
              <a:t>SpaceX Falcon 9</a:t>
            </a:r>
            <a:endParaRPr lang="en-US" sz="3800" dirty="0"/>
          </a:p>
          <a:p>
            <a:pPr indent="0" marL="0">
              <a:buNone/>
            </a:pPr>
            <a:r>
              <a:rPr lang="en-US" sz="3800" b="1" dirty="0">
                <a:solidFill>
                  <a:srgbClr val="FFFFFF"/>
                </a:solidFill>
              </a:rPr>
              <a:t>First-Stage Landing Prediction</a:t>
            </a:r>
            <a:endParaRPr lang="en-US" sz="3800" dirty="0"/>
          </a:p>
        </p:txBody>
      </p:sp>
      <p:sp>
        <p:nvSpPr>
          <p:cNvPr id="3" name="Text 1"/>
          <p:cNvSpPr/>
          <p:nvPr/>
        </p:nvSpPr>
        <p:spPr>
          <a:xfrm>
            <a:off x="731520" y="3383280"/>
            <a:ext cx="10058400" cy="457200"/>
          </a:xfrm>
          <a:prstGeom prst="rect">
            <a:avLst/>
          </a:prstGeom>
          <a:noFill/>
          <a:ln/>
        </p:spPr>
        <p:txBody>
          <a:bodyPr wrap="square" rtlCol="0" anchor="ctr"/>
          <a:lstStyle/>
          <a:p>
            <a:pPr indent="0" marL="0">
              <a:buNone/>
            </a:pPr>
            <a:r>
              <a:rPr lang="en-US" sz="1900" dirty="0">
                <a:solidFill>
                  <a:srgbClr val="17BEBB"/>
                </a:solidFill>
              </a:rPr>
              <a:t>Data Science Capstone Project Report</a:t>
            </a:r>
            <a:endParaRPr lang="en-US" sz="1900" dirty="0"/>
          </a:p>
        </p:txBody>
      </p:sp>
      <p:sp>
        <p:nvSpPr>
          <p:cNvPr id="4" name="Shape 2"/>
          <p:cNvSpPr/>
          <p:nvPr/>
        </p:nvSpPr>
        <p:spPr>
          <a:xfrm>
            <a:off x="731520" y="3886200"/>
            <a:ext cx="2011680" cy="45720"/>
          </a:xfrm>
          <a:prstGeom prst="rect">
            <a:avLst/>
          </a:prstGeom>
          <a:solidFill>
            <a:srgbClr val="3B60E4"/>
          </a:solidFill>
          <a:ln/>
        </p:spPr>
      </p:sp>
      <p:sp>
        <p:nvSpPr>
          <p:cNvPr id="5" name="Text 3"/>
          <p:cNvSpPr/>
          <p:nvPr/>
        </p:nvSpPr>
        <p:spPr>
          <a:xfrm>
            <a:off x="731520" y="4160520"/>
            <a:ext cx="10515600" cy="365760"/>
          </a:xfrm>
          <a:prstGeom prst="rect">
            <a:avLst/>
          </a:prstGeom>
          <a:noFill/>
          <a:ln/>
        </p:spPr>
        <p:txBody>
          <a:bodyPr wrap="square" rtlCol="0" anchor="ctr"/>
          <a:lstStyle/>
          <a:p>
            <a:pPr indent="0" marL="0">
              <a:buNone/>
            </a:pPr>
            <a:r>
              <a:rPr lang="en-US" sz="1400" b="1" dirty="0">
                <a:solidFill>
                  <a:srgbClr val="FFFFFF"/>
                </a:solidFill>
              </a:rPr>
              <a:t>GitHub Repository: </a:t>
            </a:r>
            <a:pPr indent="0" marL="0">
              <a:buNone/>
            </a:pPr>
            <a:r>
              <a:rPr lang="en-US" sz="1400" u="sng" dirty="0">
                <a:solidFill>
                  <a:srgbClr val="17BEBB"/>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a:t>
            </a:r>
            <a:endParaRPr lang="en-US" sz="1400" dirty="0"/>
          </a:p>
        </p:txBody>
      </p:sp>
      <p:sp>
        <p:nvSpPr>
          <p:cNvPr id="6" name="Text 4"/>
          <p:cNvSpPr/>
          <p:nvPr/>
        </p:nvSpPr>
        <p:spPr>
          <a:xfrm>
            <a:off x="731520" y="4526280"/>
            <a:ext cx="10332720" cy="640080"/>
          </a:xfrm>
          <a:prstGeom prst="rect">
            <a:avLst/>
          </a:prstGeom>
          <a:noFill/>
          <a:ln/>
        </p:spPr>
        <p:txBody>
          <a:bodyPr wrap="square" rtlCol="0" anchor="ctr"/>
          <a:lstStyle/>
          <a:p>
            <a:pPr indent="0" marL="0">
              <a:lnSpc>
                <a:spcPts val="1500"/>
              </a:lnSpc>
              <a:buNone/>
            </a:pPr>
            <a:r>
              <a:rPr lang="en-US" sz="1100" dirty="0">
                <a:solidFill>
                  <a:srgbClr val="AAB4C8"/>
                </a:solidFill>
              </a:rPr>
              <a:t>Contains all completed notebooks, Python scripts (data collection, web scraping, wrangling, EDA, SQL, Folium, ML modeling) and the Plotly Dash dashboard app referenced in this presentation.</a:t>
            </a:r>
            <a:endParaRPr lang="en-US" sz="1100" dirty="0"/>
          </a:p>
        </p:txBody>
      </p:sp>
      <p:sp>
        <p:nvSpPr>
          <p:cNvPr id="7" name="Text 5"/>
          <p:cNvSpPr/>
          <p:nvPr/>
        </p:nvSpPr>
        <p:spPr>
          <a:xfrm>
            <a:off x="731520" y="6035040"/>
            <a:ext cx="10058400" cy="365760"/>
          </a:xfrm>
          <a:prstGeom prst="rect">
            <a:avLst/>
          </a:prstGeom>
          <a:noFill/>
          <a:ln/>
        </p:spPr>
        <p:txBody>
          <a:bodyPr wrap="square" rtlCol="0" anchor="ctr"/>
          <a:lstStyle/>
          <a:p>
            <a:pPr indent="0" marL="0">
              <a:buNone/>
            </a:pPr>
            <a:r>
              <a:rPr lang="en-US" sz="1250" dirty="0">
                <a:solidFill>
                  <a:srgbClr val="AAB4C8"/>
                </a:solidFill>
              </a:rPr>
              <a:t>Presented by: razerblade09   |   2026-08-03</a:t>
            </a:r>
            <a:endParaRPr lang="en-US" sz="1250" dirty="0"/>
          </a:p>
        </p:txBody>
      </p:sp>
      <p:sp>
        <p:nvSpPr>
          <p:cNvPr id="8" name="Text 6"/>
          <p:cNvSpPr/>
          <p:nvPr/>
        </p:nvSpPr>
        <p:spPr>
          <a:xfrm>
            <a:off x="11750040" y="6537960"/>
            <a:ext cx="365760" cy="256032"/>
          </a:xfrm>
          <a:prstGeom prst="rect">
            <a:avLst/>
          </a:prstGeom>
          <a:noFill/>
          <a:ln/>
        </p:spPr>
        <p:txBody>
          <a:bodyPr wrap="square" rtlCol="0" anchor="ctr"/>
          <a:lstStyle/>
          <a:p>
            <a:pPr algn="r" indent="0" marL="0">
              <a:buNone/>
            </a:pPr>
            <a:r>
              <a:rPr lang="en-US" sz="950" dirty="0">
                <a:solidFill>
                  <a:srgbClr val="5B6472"/>
                </a:solidFill>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7315200" cy="256032"/>
          </a:xfrm>
          <a:prstGeom prst="rect">
            <a:avLst/>
          </a:prstGeom>
          <a:noFill/>
          <a:ln/>
        </p:spPr>
        <p:txBody>
          <a:bodyPr wrap="square" rtlCol="0" anchor="ctr"/>
          <a:lstStyle/>
          <a:p>
            <a:pPr indent="0" marL="0">
              <a:buNone/>
            </a:pPr>
            <a:r>
              <a:rPr lang="en-US" sz="1150" b="1" spc="200" kern="0" dirty="0">
                <a:solidFill>
                  <a:srgbClr val="3B60E4"/>
                </a:solidFill>
              </a:rPr>
              <a:t>OVERVIEW</a:t>
            </a:r>
            <a:endParaRPr lang="en-US" sz="1150" dirty="0"/>
          </a:p>
        </p:txBody>
      </p:sp>
      <p:sp>
        <p:nvSpPr>
          <p:cNvPr id="3" name="Text 1"/>
          <p:cNvSpPr/>
          <p:nvPr/>
        </p:nvSpPr>
        <p:spPr>
          <a:xfrm>
            <a:off x="457200" y="512064"/>
            <a:ext cx="11247120" cy="548640"/>
          </a:xfrm>
          <a:prstGeom prst="rect">
            <a:avLst/>
          </a:prstGeom>
          <a:noFill/>
          <a:ln/>
        </p:spPr>
        <p:txBody>
          <a:bodyPr wrap="square" rtlCol="0" anchor="ctr"/>
          <a:lstStyle/>
          <a:p>
            <a:pPr indent="0" marL="0">
              <a:buNone/>
            </a:pPr>
            <a:r>
              <a:rPr lang="en-US" sz="2400" b="1" dirty="0">
                <a:solidFill>
                  <a:srgbClr val="0B1F3A"/>
                </a:solidFill>
              </a:rPr>
              <a:t>Executive Summary</a:t>
            </a:r>
            <a:endParaRPr lang="en-US" sz="2400" dirty="0"/>
          </a:p>
        </p:txBody>
      </p:sp>
      <p:sp>
        <p:nvSpPr>
          <p:cNvPr id="4" name="Text 2"/>
          <p:cNvSpPr/>
          <p:nvPr/>
        </p:nvSpPr>
        <p:spPr>
          <a:xfrm>
            <a:off x="457200" y="1051560"/>
            <a:ext cx="11247120" cy="292608"/>
          </a:xfrm>
          <a:prstGeom prst="rect">
            <a:avLst/>
          </a:prstGeom>
          <a:noFill/>
          <a:ln/>
        </p:spPr>
        <p:txBody>
          <a:bodyPr wrap="square" rtlCol="0" anchor="ctr"/>
          <a:lstStyle/>
          <a:p>
            <a:pPr indent="0" marL="0">
              <a:buNone/>
            </a:pPr>
            <a:r>
              <a:rPr lang="en-US" sz="1050" b="1" dirty="0">
                <a:solidFill>
                  <a:srgbClr val="0B1F3A"/>
                </a:solidFill>
              </a:rPr>
              <a:t>Project links — </a:t>
            </a:r>
            <a:pPr indent="0" marL="0">
              <a:buNone/>
            </a:pPr>
            <a:r>
              <a:rPr lang="en-US" sz="1050" dirty="0">
                <a:solidFill>
                  <a:srgbClr val="5B6472"/>
                </a:solidFill>
              </a:rPr>
              <a:t>GitHub repository: </a:t>
            </a:r>
            <a:pPr indent="0" marL="0">
              <a:buNone/>
            </a:pPr>
            <a:r>
              <a:rPr lang="en-US" sz="10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a:t>
            </a:r>
            <a:pPr indent="0" marL="0">
              <a:buNone/>
            </a:pPr>
            <a:r>
              <a:rPr lang="en-US" sz="1050" i="1" dirty="0">
                <a:solidFill>
                  <a:srgbClr val="5B6472"/>
                </a:solidFill>
              </a:rPr>
              <a:t>  (all notebooks, scripts, and dashboard code)</a:t>
            </a:r>
            <a:endParaRPr lang="en-US" sz="1050" dirty="0"/>
          </a:p>
        </p:txBody>
      </p:sp>
      <p:sp>
        <p:nvSpPr>
          <p:cNvPr id="5" name="Text 3"/>
          <p:cNvSpPr/>
          <p:nvPr/>
        </p:nvSpPr>
        <p:spPr>
          <a:xfrm>
            <a:off x="457200" y="1508760"/>
            <a:ext cx="5577840" cy="1828800"/>
          </a:xfrm>
          <a:prstGeom prst="rect">
            <a:avLst/>
          </a:prstGeom>
          <a:noFill/>
          <a:ln/>
        </p:spPr>
        <p:txBody>
          <a:bodyPr wrap="square" rtlCol="0" anchor="ctr"/>
          <a:lstStyle/>
          <a:p>
            <a:pPr indent="0" marL="0">
              <a:lnSpc>
                <a:spcPts val="1900"/>
              </a:lnSpc>
              <a:buNone/>
            </a:pPr>
            <a:r>
              <a:rPr lang="en-US" sz="1300" b="1" dirty="0">
                <a:solidFill>
                  <a:srgbClr val="0B1F3A"/>
                </a:solidFill>
              </a:rPr>
              <a:t>Methods used: </a:t>
            </a:r>
            <a:pPr indent="0" marL="0">
              <a:lnSpc>
                <a:spcPts val="1900"/>
              </a:lnSpc>
              <a:buNone/>
            </a:pPr>
            <a:r>
              <a:rPr lang="en-US" sz="1300" dirty="0">
                <a:solidFill>
                  <a:srgbClr val="5B6472"/>
                </a:solidFill>
              </a:rPr>
              <a:t>Data was collected via the SpaceX REST API and Wikipedia web scraping, cleaned and labeled, explored with visualization and SQL, mapped geospatially with Folium, and modeled with four classifiers (Logistic Regression, SVM, Decision Tree, KNN) tuned via GridSearchCV.</a:t>
            </a:r>
            <a:endParaRPr lang="en-US" sz="1300" dirty="0"/>
          </a:p>
        </p:txBody>
      </p:sp>
      <p:sp>
        <p:nvSpPr>
          <p:cNvPr id="6" name="Text 4"/>
          <p:cNvSpPr/>
          <p:nvPr/>
        </p:nvSpPr>
        <p:spPr>
          <a:xfrm>
            <a:off x="6217920" y="1508760"/>
            <a:ext cx="5486400" cy="1828800"/>
          </a:xfrm>
          <a:prstGeom prst="rect">
            <a:avLst/>
          </a:prstGeom>
          <a:noFill/>
          <a:ln/>
        </p:spPr>
        <p:txBody>
          <a:bodyPr wrap="square" rtlCol="0" anchor="ctr"/>
          <a:lstStyle/>
          <a:p>
            <a:pPr indent="0" marL="0">
              <a:lnSpc>
                <a:spcPts val="1900"/>
              </a:lnSpc>
              <a:buNone/>
            </a:pPr>
            <a:r>
              <a:rPr lang="en-US" sz="1300" b="1" dirty="0">
                <a:solidFill>
                  <a:srgbClr val="0B1F3A"/>
                </a:solidFill>
              </a:rPr>
              <a:t>Key results: </a:t>
            </a:r>
            <a:pPr indent="0" marL="0">
              <a:lnSpc>
                <a:spcPts val="1900"/>
              </a:lnSpc>
              <a:buNone/>
            </a:pPr>
            <a:r>
              <a:rPr lang="en-US" sz="1300" dirty="0">
                <a:solidFill>
                  <a:srgbClr val="5B6472"/>
                </a:solidFill>
              </a:rPr>
              <a:t>Across 90 Falcon 9 launches, the overall first-stage landing success rate was 67%. The best-performing model, Logistic Regression, reached 83% test accuracy in predicting landing outcome.</a:t>
            </a:r>
            <a:endParaRPr lang="en-US" sz="1300" dirty="0"/>
          </a:p>
        </p:txBody>
      </p:sp>
      <p:sp>
        <p:nvSpPr>
          <p:cNvPr id="7" name="Shape 5"/>
          <p:cNvSpPr/>
          <p:nvPr/>
        </p:nvSpPr>
        <p:spPr>
          <a:xfrm>
            <a:off x="457200" y="3474720"/>
            <a:ext cx="2606040" cy="1188720"/>
          </a:xfrm>
          <a:prstGeom prst="roundRect">
            <a:avLst>
              <a:gd name="adj" fmla="val 7692"/>
            </a:avLst>
          </a:prstGeom>
          <a:solidFill>
            <a:srgbClr val="F4F7FC"/>
          </a:solidFill>
          <a:ln w="12700">
            <a:solidFill>
              <a:srgbClr val="E2E8F5"/>
            </a:solidFill>
            <a:prstDash val="solid"/>
          </a:ln>
        </p:spPr>
      </p:sp>
      <p:sp>
        <p:nvSpPr>
          <p:cNvPr id="8" name="Text 6"/>
          <p:cNvSpPr/>
          <p:nvPr/>
        </p:nvSpPr>
        <p:spPr>
          <a:xfrm>
            <a:off x="457200" y="3584448"/>
            <a:ext cx="2606040" cy="566928"/>
          </a:xfrm>
          <a:prstGeom prst="rect">
            <a:avLst/>
          </a:prstGeom>
          <a:noFill/>
          <a:ln/>
        </p:spPr>
        <p:txBody>
          <a:bodyPr wrap="square" rtlCol="0" anchor="ctr"/>
          <a:lstStyle/>
          <a:p>
            <a:pPr algn="ctr" indent="0" marL="0">
              <a:buNone/>
            </a:pPr>
            <a:r>
              <a:rPr lang="en-US" sz="2400" b="1" dirty="0">
                <a:solidFill>
                  <a:srgbClr val="3B60E4"/>
                </a:solidFill>
              </a:rPr>
              <a:t>90</a:t>
            </a:r>
            <a:endParaRPr lang="en-US" sz="2400" dirty="0"/>
          </a:p>
        </p:txBody>
      </p:sp>
      <p:sp>
        <p:nvSpPr>
          <p:cNvPr id="9" name="Text 7"/>
          <p:cNvSpPr/>
          <p:nvPr/>
        </p:nvSpPr>
        <p:spPr>
          <a:xfrm>
            <a:off x="457200" y="4114800"/>
            <a:ext cx="2606040" cy="438912"/>
          </a:xfrm>
          <a:prstGeom prst="rect">
            <a:avLst/>
          </a:prstGeom>
          <a:noFill/>
          <a:ln/>
        </p:spPr>
        <p:txBody>
          <a:bodyPr wrap="square" rtlCol="0" anchor="ctr"/>
          <a:lstStyle/>
          <a:p>
            <a:pPr algn="ctr" indent="0" marL="0">
              <a:buNone/>
            </a:pPr>
            <a:r>
              <a:rPr lang="en-US" sz="1050" dirty="0">
                <a:solidFill>
                  <a:srgbClr val="5B6472"/>
                </a:solidFill>
              </a:rPr>
              <a:t>Launches analyzed</a:t>
            </a:r>
            <a:endParaRPr lang="en-US" sz="1050" dirty="0"/>
          </a:p>
        </p:txBody>
      </p:sp>
      <p:sp>
        <p:nvSpPr>
          <p:cNvPr id="10" name="Shape 8"/>
          <p:cNvSpPr/>
          <p:nvPr/>
        </p:nvSpPr>
        <p:spPr>
          <a:xfrm>
            <a:off x="3291840" y="3474720"/>
            <a:ext cx="2606040" cy="1188720"/>
          </a:xfrm>
          <a:prstGeom prst="roundRect">
            <a:avLst>
              <a:gd name="adj" fmla="val 7692"/>
            </a:avLst>
          </a:prstGeom>
          <a:solidFill>
            <a:srgbClr val="F4F7FC"/>
          </a:solidFill>
          <a:ln w="12700">
            <a:solidFill>
              <a:srgbClr val="E2E8F5"/>
            </a:solidFill>
            <a:prstDash val="solid"/>
          </a:ln>
        </p:spPr>
      </p:sp>
      <p:sp>
        <p:nvSpPr>
          <p:cNvPr id="11" name="Text 9"/>
          <p:cNvSpPr/>
          <p:nvPr/>
        </p:nvSpPr>
        <p:spPr>
          <a:xfrm>
            <a:off x="3291840" y="3584448"/>
            <a:ext cx="2606040" cy="566928"/>
          </a:xfrm>
          <a:prstGeom prst="rect">
            <a:avLst/>
          </a:prstGeom>
          <a:noFill/>
          <a:ln/>
        </p:spPr>
        <p:txBody>
          <a:bodyPr wrap="square" rtlCol="0" anchor="ctr"/>
          <a:lstStyle/>
          <a:p>
            <a:pPr algn="ctr" indent="0" marL="0">
              <a:buNone/>
            </a:pPr>
            <a:r>
              <a:rPr lang="en-US" sz="2400" b="1" dirty="0">
                <a:solidFill>
                  <a:srgbClr val="3B60E4"/>
                </a:solidFill>
              </a:rPr>
              <a:t>67%</a:t>
            </a:r>
            <a:endParaRPr lang="en-US" sz="2400" dirty="0"/>
          </a:p>
        </p:txBody>
      </p:sp>
      <p:sp>
        <p:nvSpPr>
          <p:cNvPr id="12" name="Text 10"/>
          <p:cNvSpPr/>
          <p:nvPr/>
        </p:nvSpPr>
        <p:spPr>
          <a:xfrm>
            <a:off x="3291840" y="4114800"/>
            <a:ext cx="2606040" cy="438912"/>
          </a:xfrm>
          <a:prstGeom prst="rect">
            <a:avLst/>
          </a:prstGeom>
          <a:noFill/>
          <a:ln/>
        </p:spPr>
        <p:txBody>
          <a:bodyPr wrap="square" rtlCol="0" anchor="ctr"/>
          <a:lstStyle/>
          <a:p>
            <a:pPr algn="ctr" indent="0" marL="0">
              <a:buNone/>
            </a:pPr>
            <a:r>
              <a:rPr lang="en-US" sz="1050" dirty="0">
                <a:solidFill>
                  <a:srgbClr val="5B6472"/>
                </a:solidFill>
              </a:rPr>
              <a:t>Overall landing success rate</a:t>
            </a:r>
            <a:endParaRPr lang="en-US" sz="1050" dirty="0"/>
          </a:p>
        </p:txBody>
      </p:sp>
      <p:sp>
        <p:nvSpPr>
          <p:cNvPr id="13" name="Shape 11"/>
          <p:cNvSpPr/>
          <p:nvPr/>
        </p:nvSpPr>
        <p:spPr>
          <a:xfrm>
            <a:off x="6126480" y="3474720"/>
            <a:ext cx="2606040" cy="1188720"/>
          </a:xfrm>
          <a:prstGeom prst="roundRect">
            <a:avLst>
              <a:gd name="adj" fmla="val 7692"/>
            </a:avLst>
          </a:prstGeom>
          <a:solidFill>
            <a:srgbClr val="F4F7FC"/>
          </a:solidFill>
          <a:ln w="12700">
            <a:solidFill>
              <a:srgbClr val="E2E8F5"/>
            </a:solidFill>
            <a:prstDash val="solid"/>
          </a:ln>
        </p:spPr>
      </p:sp>
      <p:sp>
        <p:nvSpPr>
          <p:cNvPr id="14" name="Text 12"/>
          <p:cNvSpPr/>
          <p:nvPr/>
        </p:nvSpPr>
        <p:spPr>
          <a:xfrm>
            <a:off x="6126480" y="3584448"/>
            <a:ext cx="2606040" cy="566928"/>
          </a:xfrm>
          <a:prstGeom prst="rect">
            <a:avLst/>
          </a:prstGeom>
          <a:noFill/>
          <a:ln/>
        </p:spPr>
        <p:txBody>
          <a:bodyPr wrap="square" rtlCol="0" anchor="ctr"/>
          <a:lstStyle/>
          <a:p>
            <a:pPr algn="ctr" indent="0" marL="0">
              <a:buNone/>
            </a:pPr>
            <a:r>
              <a:rPr lang="en-US" sz="2400" b="1" dirty="0">
                <a:solidFill>
                  <a:srgbClr val="3B60E4"/>
                </a:solidFill>
              </a:rPr>
              <a:t>83.3%</a:t>
            </a:r>
            <a:endParaRPr lang="en-US" sz="2400" dirty="0"/>
          </a:p>
        </p:txBody>
      </p:sp>
      <p:sp>
        <p:nvSpPr>
          <p:cNvPr id="15" name="Text 13"/>
          <p:cNvSpPr/>
          <p:nvPr/>
        </p:nvSpPr>
        <p:spPr>
          <a:xfrm>
            <a:off x="6126480" y="4114800"/>
            <a:ext cx="2606040" cy="438912"/>
          </a:xfrm>
          <a:prstGeom prst="rect">
            <a:avLst/>
          </a:prstGeom>
          <a:noFill/>
          <a:ln/>
        </p:spPr>
        <p:txBody>
          <a:bodyPr wrap="square" rtlCol="0" anchor="ctr"/>
          <a:lstStyle/>
          <a:p>
            <a:pPr algn="ctr" indent="0" marL="0">
              <a:buNone/>
            </a:pPr>
            <a:r>
              <a:rPr lang="en-US" sz="1050" dirty="0">
                <a:solidFill>
                  <a:srgbClr val="5B6472"/>
                </a:solidFill>
              </a:rPr>
              <a:t>Best model test accuracy</a:t>
            </a:r>
            <a:endParaRPr lang="en-US" sz="1050" dirty="0"/>
          </a:p>
        </p:txBody>
      </p:sp>
      <p:sp>
        <p:nvSpPr>
          <p:cNvPr id="16" name="Shape 14"/>
          <p:cNvSpPr/>
          <p:nvPr/>
        </p:nvSpPr>
        <p:spPr>
          <a:xfrm>
            <a:off x="8961120" y="3474720"/>
            <a:ext cx="2606040" cy="1188720"/>
          </a:xfrm>
          <a:prstGeom prst="roundRect">
            <a:avLst>
              <a:gd name="adj" fmla="val 7692"/>
            </a:avLst>
          </a:prstGeom>
          <a:solidFill>
            <a:srgbClr val="F4F7FC"/>
          </a:solidFill>
          <a:ln w="12700">
            <a:solidFill>
              <a:srgbClr val="E2E8F5"/>
            </a:solidFill>
            <a:prstDash val="solid"/>
          </a:ln>
        </p:spPr>
      </p:sp>
      <p:sp>
        <p:nvSpPr>
          <p:cNvPr id="17" name="Text 15"/>
          <p:cNvSpPr/>
          <p:nvPr/>
        </p:nvSpPr>
        <p:spPr>
          <a:xfrm>
            <a:off x="8961120" y="3584448"/>
            <a:ext cx="2606040" cy="566928"/>
          </a:xfrm>
          <a:prstGeom prst="rect">
            <a:avLst/>
          </a:prstGeom>
          <a:noFill/>
          <a:ln/>
        </p:spPr>
        <p:txBody>
          <a:bodyPr wrap="square" rtlCol="0" anchor="ctr"/>
          <a:lstStyle/>
          <a:p>
            <a:pPr algn="ctr" indent="0" marL="0">
              <a:buNone/>
            </a:pPr>
            <a:r>
              <a:rPr lang="en-US" sz="2400" b="1" dirty="0">
                <a:solidFill>
                  <a:srgbClr val="3B60E4"/>
                </a:solidFill>
              </a:rPr>
              <a:t>4</a:t>
            </a:r>
            <a:endParaRPr lang="en-US" sz="2400" dirty="0"/>
          </a:p>
        </p:txBody>
      </p:sp>
      <p:sp>
        <p:nvSpPr>
          <p:cNvPr id="18" name="Text 16"/>
          <p:cNvSpPr/>
          <p:nvPr/>
        </p:nvSpPr>
        <p:spPr>
          <a:xfrm>
            <a:off x="8961120" y="4114800"/>
            <a:ext cx="2606040" cy="438912"/>
          </a:xfrm>
          <a:prstGeom prst="rect">
            <a:avLst/>
          </a:prstGeom>
          <a:noFill/>
          <a:ln/>
        </p:spPr>
        <p:txBody>
          <a:bodyPr wrap="square" rtlCol="0" anchor="ctr"/>
          <a:lstStyle/>
          <a:p>
            <a:pPr algn="ctr" indent="0" marL="0">
              <a:buNone/>
            </a:pPr>
            <a:r>
              <a:rPr lang="en-US" sz="1050" dirty="0">
                <a:solidFill>
                  <a:srgbClr val="5B6472"/>
                </a:solidFill>
              </a:rPr>
              <a:t>ML models compared</a:t>
            </a:r>
            <a:endParaRPr lang="en-US" sz="1050" dirty="0"/>
          </a:p>
        </p:txBody>
      </p:sp>
      <p:sp>
        <p:nvSpPr>
          <p:cNvPr id="19" name="Text 17"/>
          <p:cNvSpPr/>
          <p:nvPr/>
        </p:nvSpPr>
        <p:spPr>
          <a:xfrm>
            <a:off x="457200" y="4892040"/>
            <a:ext cx="11247120" cy="822960"/>
          </a:xfrm>
          <a:prstGeom prst="rect">
            <a:avLst/>
          </a:prstGeom>
          <a:noFill/>
          <a:ln/>
        </p:spPr>
        <p:txBody>
          <a:bodyPr wrap="square" rtlCol="0" anchor="ctr"/>
          <a:lstStyle/>
          <a:p>
            <a:pPr indent="0" marL="0">
              <a:buNone/>
            </a:pPr>
            <a:r>
              <a:rPr lang="en-US" sz="1200" i="1" dirty="0">
                <a:solidFill>
                  <a:srgbClr val="0B1F3A"/>
                </a:solidFill>
              </a:rPr>
              <a:t>Conclusion: Landing success is highly predictable from launch parameters, meaning a competing launch provider could reliably estimate SpaceX's true reusable-launch cost advantage — see full Conclusion &amp; Insights on the final slide.</a:t>
            </a:r>
            <a:endParaRPr lang="en-US" sz="1200" dirty="0"/>
          </a:p>
        </p:txBody>
      </p:sp>
      <p:sp>
        <p:nvSpPr>
          <p:cNvPr id="20" name="Text 18"/>
          <p:cNvSpPr/>
          <p:nvPr/>
        </p:nvSpPr>
        <p:spPr>
          <a:xfrm>
            <a:off x="457200" y="6537960"/>
            <a:ext cx="11247120" cy="256032"/>
          </a:xfrm>
          <a:prstGeom prst="rect">
            <a:avLst/>
          </a:prstGeom>
          <a:noFill/>
          <a:ln/>
        </p:spPr>
        <p:txBody>
          <a:bodyPr wrap="square" rtlCol="0" anchor="ctr"/>
          <a:lstStyle/>
          <a:p>
            <a:pPr indent="0" marL="0">
              <a:buNone/>
            </a:pPr>
            <a:r>
              <a:rPr lang="en-US" sz="950" b="1" dirty="0">
                <a:solidFill>
                  <a:srgbClr val="5B6472"/>
                </a:solidFill>
              </a:rPr>
              <a:t>GitHub repository: </a:t>
            </a:r>
            <a:pPr indent="0" marL="0">
              <a:buNone/>
            </a:pPr>
            <a:r>
              <a:rPr lang="en-US" sz="950" u="sng" dirty="0">
                <a:solidFill>
                  <a:srgbClr val="3B60E4"/>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a:t>
            </a:r>
            <a:endParaRPr lang="en-US" sz="950" dirty="0"/>
          </a:p>
        </p:txBody>
      </p:sp>
      <p:sp>
        <p:nvSpPr>
          <p:cNvPr id="21" name="Text 19"/>
          <p:cNvSpPr/>
          <p:nvPr/>
        </p:nvSpPr>
        <p:spPr>
          <a:xfrm>
            <a:off x="11750040" y="6537960"/>
            <a:ext cx="365760" cy="256032"/>
          </a:xfrm>
          <a:prstGeom prst="rect">
            <a:avLst/>
          </a:prstGeom>
          <a:noFill/>
          <a:ln/>
        </p:spPr>
        <p:txBody>
          <a:bodyPr wrap="square" rtlCol="0" anchor="ctr"/>
          <a:lstStyle/>
          <a:p>
            <a:pPr algn="r" indent="0" marL="0">
              <a:buNone/>
            </a:pPr>
            <a:r>
              <a:rPr lang="en-US" sz="950" dirty="0">
                <a:solidFill>
                  <a:srgbClr val="5B6472"/>
                </a:solidFill>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7315200" cy="256032"/>
          </a:xfrm>
          <a:prstGeom prst="rect">
            <a:avLst/>
          </a:prstGeom>
          <a:noFill/>
          <a:ln/>
        </p:spPr>
        <p:txBody>
          <a:bodyPr wrap="square" rtlCol="0" anchor="ctr"/>
          <a:lstStyle/>
          <a:p>
            <a:pPr indent="0" marL="0">
              <a:buNone/>
            </a:pPr>
            <a:r>
              <a:rPr lang="en-US" sz="1150" b="1" spc="200" kern="0" dirty="0">
                <a:solidFill>
                  <a:srgbClr val="3B60E4"/>
                </a:solidFill>
              </a:rPr>
              <a:t>BACKGROUND</a:t>
            </a:r>
            <a:endParaRPr lang="en-US" sz="1150" dirty="0"/>
          </a:p>
        </p:txBody>
      </p:sp>
      <p:sp>
        <p:nvSpPr>
          <p:cNvPr id="3" name="Text 1"/>
          <p:cNvSpPr/>
          <p:nvPr/>
        </p:nvSpPr>
        <p:spPr>
          <a:xfrm>
            <a:off x="457200" y="512064"/>
            <a:ext cx="11247120" cy="548640"/>
          </a:xfrm>
          <a:prstGeom prst="rect">
            <a:avLst/>
          </a:prstGeom>
          <a:noFill/>
          <a:ln/>
        </p:spPr>
        <p:txBody>
          <a:bodyPr wrap="square" rtlCol="0" anchor="ctr"/>
          <a:lstStyle/>
          <a:p>
            <a:pPr indent="0" marL="0">
              <a:buNone/>
            </a:pPr>
            <a:r>
              <a:rPr lang="en-US" sz="2400" b="1" dirty="0">
                <a:solidFill>
                  <a:srgbClr val="0B1F3A"/>
                </a:solidFill>
              </a:rPr>
              <a:t>Introduction</a:t>
            </a:r>
            <a:endParaRPr lang="en-US" sz="2400" dirty="0"/>
          </a:p>
        </p:txBody>
      </p:sp>
      <p:sp>
        <p:nvSpPr>
          <p:cNvPr id="4" name="Text 2"/>
          <p:cNvSpPr/>
          <p:nvPr/>
        </p:nvSpPr>
        <p:spPr>
          <a:xfrm>
            <a:off x="457200" y="1371600"/>
            <a:ext cx="6675120" cy="2834640"/>
          </a:xfrm>
          <a:prstGeom prst="rect">
            <a:avLst/>
          </a:prstGeom>
          <a:noFill/>
          <a:ln/>
        </p:spPr>
        <p:txBody>
          <a:bodyPr wrap="square" rtlCol="0" anchor="ctr"/>
          <a:lstStyle/>
          <a:p>
            <a:pPr indent="0" marL="0">
              <a:lnSpc>
                <a:spcPts val="2100"/>
              </a:lnSpc>
              <a:buNone/>
            </a:pPr>
            <a:r>
              <a:rPr lang="en-US" sz="1350" dirty="0">
                <a:solidFill>
                  <a:srgbClr val="5B6472"/>
                </a:solidFill>
              </a:rPr>
              <a:t>SpaceX advertises Falcon 9 launches at $62 million, versus $165M+ from other providers — largely because SpaceX reuses the rocket's first stage instead of discarding it.
</a:t>
            </a:r>
            <a:pPr indent="0" marL="0">
              <a:lnSpc>
                <a:spcPts val="2100"/>
              </a:lnSpc>
              <a:buNone/>
            </a:pPr>
            <a:r>
              <a:rPr lang="en-US" sz="1350" b="1" dirty="0">
                <a:solidFill>
                  <a:srgbClr val="0B1F3A"/>
                </a:solidFill>
              </a:rPr>
              <a:t>Problem statement: </a:t>
            </a:r>
            <a:pPr indent="0" marL="0">
              <a:lnSpc>
                <a:spcPts val="2100"/>
              </a:lnSpc>
              <a:buNone/>
            </a:pPr>
            <a:r>
              <a:rPr lang="en-US" sz="1350" dirty="0">
                <a:solidFill>
                  <a:srgbClr val="5B6472"/>
                </a:solidFill>
              </a:rPr>
              <a:t>If the first stage does not land successfully, that launch's cost estimate changes substantially. This project builds a model to predict whether the first stage will land, using historical launch data — enabling accurate cost estimation for a competing bid.
</a:t>
            </a:r>
            <a:pPr indent="0" marL="0">
              <a:lnSpc>
                <a:spcPts val="2100"/>
              </a:lnSpc>
              <a:buNone/>
            </a:pPr>
            <a:r>
              <a:rPr lang="en-US" sz="1350" b="1" dirty="0">
                <a:solidFill>
                  <a:srgbClr val="0B1F3A"/>
                </a:solidFill>
              </a:rPr>
              <a:t>Objectives:</a:t>
            </a:r>
            <a:endParaRPr lang="en-US" sz="1350" dirty="0"/>
          </a:p>
        </p:txBody>
      </p:sp>
      <p:sp>
        <p:nvSpPr>
          <p:cNvPr id="5" name="Text 3"/>
          <p:cNvSpPr/>
          <p:nvPr/>
        </p:nvSpPr>
        <p:spPr>
          <a:xfrm>
            <a:off x="731520" y="4251960"/>
            <a:ext cx="6217920" cy="347472"/>
          </a:xfrm>
          <a:prstGeom prst="rect">
            <a:avLst/>
          </a:prstGeom>
          <a:noFill/>
          <a:ln/>
        </p:spPr>
        <p:txBody>
          <a:bodyPr wrap="square" rtlCol="0" anchor="ctr"/>
          <a:lstStyle/>
          <a:p>
            <a:pPr marL="342900" indent="-342900">
              <a:buSzPct val="100000"/>
              <a:buChar char="•"/>
            </a:pPr>
            <a:r>
              <a:rPr lang="en-US" sz="1250" dirty="0">
                <a:solidFill>
                  <a:srgbClr val="0B1F3A"/>
                </a:solidFill>
              </a:rPr>
              <a:t>Collect and clean historical Falcon 9 launch data</a:t>
            </a:r>
            <a:endParaRPr lang="en-US" sz="1250" dirty="0"/>
          </a:p>
        </p:txBody>
      </p:sp>
      <p:sp>
        <p:nvSpPr>
          <p:cNvPr id="6" name="Text 4"/>
          <p:cNvSpPr/>
          <p:nvPr/>
        </p:nvSpPr>
        <p:spPr>
          <a:xfrm>
            <a:off x="731520" y="4617720"/>
            <a:ext cx="6217920" cy="347472"/>
          </a:xfrm>
          <a:prstGeom prst="rect">
            <a:avLst/>
          </a:prstGeom>
          <a:noFill/>
          <a:ln/>
        </p:spPr>
        <p:txBody>
          <a:bodyPr wrap="square" rtlCol="0" anchor="ctr"/>
          <a:lstStyle/>
          <a:p>
            <a:pPr marL="342900" indent="-342900">
              <a:buSzPct val="100000"/>
              <a:buChar char="•"/>
            </a:pPr>
            <a:r>
              <a:rPr lang="en-US" sz="1250" dirty="0">
                <a:solidFill>
                  <a:srgbClr val="0B1F3A"/>
                </a:solidFill>
              </a:rPr>
              <a:t>Identify factors correlated with landing success</a:t>
            </a:r>
            <a:endParaRPr lang="en-US" sz="1250" dirty="0"/>
          </a:p>
        </p:txBody>
      </p:sp>
      <p:sp>
        <p:nvSpPr>
          <p:cNvPr id="7" name="Text 5"/>
          <p:cNvSpPr/>
          <p:nvPr/>
        </p:nvSpPr>
        <p:spPr>
          <a:xfrm>
            <a:off x="731520" y="4983480"/>
            <a:ext cx="6217920" cy="347472"/>
          </a:xfrm>
          <a:prstGeom prst="rect">
            <a:avLst/>
          </a:prstGeom>
          <a:noFill/>
          <a:ln/>
        </p:spPr>
        <p:txBody>
          <a:bodyPr wrap="square" rtlCol="0" anchor="ctr"/>
          <a:lstStyle/>
          <a:p>
            <a:pPr marL="342900" indent="-342900">
              <a:buSzPct val="100000"/>
              <a:buChar char="•"/>
            </a:pPr>
            <a:r>
              <a:rPr lang="en-US" sz="1250" dirty="0">
                <a:solidFill>
                  <a:srgbClr val="0B1F3A"/>
                </a:solidFill>
              </a:rPr>
              <a:t>Visualize patterns across sites, orbits, and time</a:t>
            </a:r>
            <a:endParaRPr lang="en-US" sz="1250" dirty="0"/>
          </a:p>
        </p:txBody>
      </p:sp>
      <p:sp>
        <p:nvSpPr>
          <p:cNvPr id="8" name="Text 6"/>
          <p:cNvSpPr/>
          <p:nvPr/>
        </p:nvSpPr>
        <p:spPr>
          <a:xfrm>
            <a:off x="731520" y="5349240"/>
            <a:ext cx="6217920" cy="347472"/>
          </a:xfrm>
          <a:prstGeom prst="rect">
            <a:avLst/>
          </a:prstGeom>
          <a:noFill/>
          <a:ln/>
        </p:spPr>
        <p:txBody>
          <a:bodyPr wrap="square" rtlCol="0" anchor="ctr"/>
          <a:lstStyle/>
          <a:p>
            <a:pPr marL="342900" indent="-342900">
              <a:buSzPct val="100000"/>
              <a:buChar char="•"/>
            </a:pPr>
            <a:r>
              <a:rPr lang="en-US" sz="1250" dirty="0">
                <a:solidFill>
                  <a:srgbClr val="0B1F3A"/>
                </a:solidFill>
              </a:rPr>
              <a:t>Build and evaluate a landing-outcome classifier</a:t>
            </a:r>
            <a:endParaRPr lang="en-US" sz="1250" dirty="0"/>
          </a:p>
        </p:txBody>
      </p:sp>
      <p:pic>
        <p:nvPicPr>
          <p:cNvPr id="9" name="Image 0" descr="/home/claude/capstone/images/eda_yearly_trend.png">    </p:cNvPr>
          <p:cNvPicPr>
            <a:picLocks noChangeAspect="1"/>
          </p:cNvPicPr>
          <p:nvPr/>
        </p:nvPicPr>
        <p:blipFill>
          <a:blip r:embed="rId1"/>
          <a:stretch>
            <a:fillRect/>
          </a:stretch>
        </p:blipFill>
        <p:spPr>
          <a:xfrm>
            <a:off x="7406640" y="1371600"/>
            <a:ext cx="4297680" cy="2743200"/>
          </a:xfrm>
          <a:prstGeom prst="rect">
            <a:avLst/>
          </a:prstGeom>
        </p:spPr>
      </p:pic>
      <p:sp>
        <p:nvSpPr>
          <p:cNvPr id="10" name="Text 7"/>
          <p:cNvSpPr/>
          <p:nvPr/>
        </p:nvSpPr>
        <p:spPr>
          <a:xfrm>
            <a:off x="7406640" y="4206240"/>
            <a:ext cx="4297680" cy="1097280"/>
          </a:xfrm>
          <a:prstGeom prst="rect">
            <a:avLst/>
          </a:prstGeom>
          <a:noFill/>
          <a:ln/>
        </p:spPr>
        <p:txBody>
          <a:bodyPr wrap="square" rtlCol="0" anchor="ctr"/>
          <a:lstStyle/>
          <a:p>
            <a:pPr indent="0" marL="0">
              <a:buNone/>
            </a:pPr>
            <a:r>
              <a:rPr lang="en-US" sz="1100" i="1" dirty="0">
                <a:solidFill>
                  <a:srgbClr val="5B6472"/>
                </a:solidFill>
              </a:rPr>
              <a:t>Falcon 9 landing success climbed steadily as SpaceX matured its recovery process.</a:t>
            </a:r>
            <a:endParaRPr lang="en-US" sz="1100" dirty="0"/>
          </a:p>
        </p:txBody>
      </p:sp>
      <p:sp>
        <p:nvSpPr>
          <p:cNvPr id="11" name="Text 8"/>
          <p:cNvSpPr/>
          <p:nvPr/>
        </p:nvSpPr>
        <p:spPr>
          <a:xfrm>
            <a:off x="457200" y="6537960"/>
            <a:ext cx="11247120" cy="256032"/>
          </a:xfrm>
          <a:prstGeom prst="rect">
            <a:avLst/>
          </a:prstGeom>
          <a:noFill/>
          <a:ln/>
        </p:spPr>
        <p:txBody>
          <a:bodyPr wrap="square" rtlCol="0" anchor="ctr"/>
          <a:lstStyle/>
          <a:p>
            <a:pPr indent="0" marL="0">
              <a:buNone/>
            </a:pPr>
            <a:r>
              <a:rPr lang="en-US" sz="950" b="1" dirty="0">
                <a:solidFill>
                  <a:srgbClr val="5B6472"/>
                </a:solidFill>
              </a:rPr>
              <a:t>GitHub repository: </a:t>
            </a:r>
            <a:pPr indent="0" marL="0">
              <a:buNone/>
            </a:pPr>
            <a:r>
              <a:rPr lang="en-US" sz="950" u="sng" dirty="0">
                <a:solidFill>
                  <a:srgbClr val="3B60E4"/>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a:t>
            </a:r>
            <a:endParaRPr lang="en-US" sz="950" dirty="0"/>
          </a:p>
        </p:txBody>
      </p:sp>
      <p:sp>
        <p:nvSpPr>
          <p:cNvPr id="12" name="Text 9"/>
          <p:cNvSpPr/>
          <p:nvPr/>
        </p:nvSpPr>
        <p:spPr>
          <a:xfrm>
            <a:off x="11750040" y="6537960"/>
            <a:ext cx="365760" cy="256032"/>
          </a:xfrm>
          <a:prstGeom prst="rect">
            <a:avLst/>
          </a:prstGeom>
          <a:noFill/>
          <a:ln/>
        </p:spPr>
        <p:txBody>
          <a:bodyPr wrap="square" rtlCol="0" anchor="ctr"/>
          <a:lstStyle/>
          <a:p>
            <a:pPr algn="r" indent="0" marL="0">
              <a:buNone/>
            </a:pPr>
            <a:r>
              <a:rPr lang="en-US" sz="950" dirty="0">
                <a:solidFill>
                  <a:srgbClr val="5B6472"/>
                </a:solidFill>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7315200" cy="256032"/>
          </a:xfrm>
          <a:prstGeom prst="rect">
            <a:avLst/>
          </a:prstGeom>
          <a:noFill/>
          <a:ln/>
        </p:spPr>
        <p:txBody>
          <a:bodyPr wrap="square" rtlCol="0" anchor="ctr"/>
          <a:lstStyle/>
          <a:p>
            <a:pPr indent="0" marL="0">
              <a:buNone/>
            </a:pPr>
            <a:r>
              <a:rPr lang="en-US" sz="1150" b="1" spc="200" kern="0" dirty="0">
                <a:solidFill>
                  <a:srgbClr val="3B60E4"/>
                </a:solidFill>
              </a:rPr>
              <a:t>DATA COLLECTION · PART 1</a:t>
            </a:r>
            <a:endParaRPr lang="en-US" sz="1150" dirty="0"/>
          </a:p>
        </p:txBody>
      </p:sp>
      <p:sp>
        <p:nvSpPr>
          <p:cNvPr id="3" name="Text 1"/>
          <p:cNvSpPr/>
          <p:nvPr/>
        </p:nvSpPr>
        <p:spPr>
          <a:xfrm>
            <a:off x="457200" y="512064"/>
            <a:ext cx="11247120" cy="548640"/>
          </a:xfrm>
          <a:prstGeom prst="rect">
            <a:avLst/>
          </a:prstGeom>
          <a:noFill/>
          <a:ln/>
        </p:spPr>
        <p:txBody>
          <a:bodyPr wrap="square" rtlCol="0" anchor="ctr"/>
          <a:lstStyle/>
          <a:p>
            <a:pPr indent="0" marL="0">
              <a:buNone/>
            </a:pPr>
            <a:r>
              <a:rPr lang="en-US" sz="2400" b="1" dirty="0">
                <a:solidFill>
                  <a:srgbClr val="0B1F3A"/>
                </a:solidFill>
              </a:rPr>
              <a:t>Data Collection – SpaceX API</a:t>
            </a:r>
            <a:endParaRPr lang="en-US" sz="2400" dirty="0"/>
          </a:p>
        </p:txBody>
      </p:sp>
      <p:sp>
        <p:nvSpPr>
          <p:cNvPr id="4" name="Text 2"/>
          <p:cNvSpPr/>
          <p:nvPr/>
        </p:nvSpPr>
        <p:spPr>
          <a:xfrm>
            <a:off x="457200" y="1417320"/>
            <a:ext cx="5394960" cy="292608"/>
          </a:xfrm>
          <a:prstGeom prst="rect">
            <a:avLst/>
          </a:prstGeom>
          <a:noFill/>
          <a:ln/>
        </p:spPr>
        <p:txBody>
          <a:bodyPr wrap="square" rtlCol="0" anchor="ctr"/>
          <a:lstStyle/>
          <a:p>
            <a:pPr indent="0" marL="0">
              <a:buNone/>
            </a:pPr>
            <a:r>
              <a:rPr lang="en-US" sz="1350" b="1" dirty="0">
                <a:solidFill>
                  <a:srgbClr val="0B1F3A"/>
                </a:solidFill>
              </a:rPr>
              <a:t>Pipeline:</a:t>
            </a:r>
            <a:endParaRPr lang="en-US" sz="1350" dirty="0"/>
          </a:p>
        </p:txBody>
      </p:sp>
      <p:sp>
        <p:nvSpPr>
          <p:cNvPr id="5" name="Shape 3"/>
          <p:cNvSpPr/>
          <p:nvPr/>
        </p:nvSpPr>
        <p:spPr>
          <a:xfrm>
            <a:off x="457200" y="1783080"/>
            <a:ext cx="365760" cy="365760"/>
          </a:xfrm>
          <a:prstGeom prst="roundRect">
            <a:avLst>
              <a:gd name="adj" fmla="val 125000"/>
            </a:avLst>
          </a:prstGeom>
          <a:solidFill>
            <a:srgbClr val="3B60E4"/>
          </a:solidFill>
          <a:ln/>
        </p:spPr>
      </p:sp>
      <p:sp>
        <p:nvSpPr>
          <p:cNvPr id="6" name="Text 4"/>
          <p:cNvSpPr/>
          <p:nvPr/>
        </p:nvSpPr>
        <p:spPr>
          <a:xfrm>
            <a:off x="457200" y="1783080"/>
            <a:ext cx="365760" cy="365760"/>
          </a:xfrm>
          <a:prstGeom prst="rect">
            <a:avLst/>
          </a:prstGeom>
          <a:noFill/>
          <a:ln/>
        </p:spPr>
        <p:txBody>
          <a:bodyPr wrap="square" rtlCol="0" anchor="ctr"/>
          <a:lstStyle/>
          <a:p>
            <a:pPr algn="ctr" indent="0" marL="0">
              <a:buNone/>
            </a:pPr>
            <a:r>
              <a:rPr lang="en-US" sz="1300" b="1" dirty="0">
                <a:solidFill>
                  <a:srgbClr val="FFFFFF"/>
                </a:solidFill>
              </a:rPr>
              <a:t>1</a:t>
            </a:r>
            <a:endParaRPr lang="en-US" sz="1300" dirty="0"/>
          </a:p>
        </p:txBody>
      </p:sp>
      <p:sp>
        <p:nvSpPr>
          <p:cNvPr id="7" name="Text 5"/>
          <p:cNvSpPr/>
          <p:nvPr/>
        </p:nvSpPr>
        <p:spPr>
          <a:xfrm>
            <a:off x="960120" y="1783080"/>
            <a:ext cx="4937760" cy="621792"/>
          </a:xfrm>
          <a:prstGeom prst="rect">
            <a:avLst/>
          </a:prstGeom>
          <a:noFill/>
          <a:ln/>
        </p:spPr>
        <p:txBody>
          <a:bodyPr wrap="square" rtlCol="0" anchor="ctr"/>
          <a:lstStyle/>
          <a:p>
            <a:pPr indent="0" marL="0">
              <a:buNone/>
            </a:pPr>
            <a:r>
              <a:rPr lang="en-US" sz="1200" dirty="0">
                <a:solidFill>
                  <a:srgbClr val="5B6472"/>
                </a:solidFill>
              </a:rPr>
              <a:t>GET /v4/launches/past → all historical launches</a:t>
            </a:r>
            <a:endParaRPr lang="en-US" sz="1200" dirty="0"/>
          </a:p>
        </p:txBody>
      </p:sp>
      <p:sp>
        <p:nvSpPr>
          <p:cNvPr id="8" name="Shape 6"/>
          <p:cNvSpPr/>
          <p:nvPr/>
        </p:nvSpPr>
        <p:spPr>
          <a:xfrm>
            <a:off x="457200" y="2468880"/>
            <a:ext cx="365760" cy="365760"/>
          </a:xfrm>
          <a:prstGeom prst="roundRect">
            <a:avLst>
              <a:gd name="adj" fmla="val 125000"/>
            </a:avLst>
          </a:prstGeom>
          <a:solidFill>
            <a:srgbClr val="3B60E4"/>
          </a:solidFill>
          <a:ln/>
        </p:spPr>
      </p:sp>
      <p:sp>
        <p:nvSpPr>
          <p:cNvPr id="9" name="Text 7"/>
          <p:cNvSpPr/>
          <p:nvPr/>
        </p:nvSpPr>
        <p:spPr>
          <a:xfrm>
            <a:off x="457200" y="2468880"/>
            <a:ext cx="365760" cy="365760"/>
          </a:xfrm>
          <a:prstGeom prst="rect">
            <a:avLst/>
          </a:prstGeom>
          <a:noFill/>
          <a:ln/>
        </p:spPr>
        <p:txBody>
          <a:bodyPr wrap="square" rtlCol="0" anchor="ctr"/>
          <a:lstStyle/>
          <a:p>
            <a:pPr algn="ctr" indent="0" marL="0">
              <a:buNone/>
            </a:pPr>
            <a:r>
              <a:rPr lang="en-US" sz="1300" b="1" dirty="0">
                <a:solidFill>
                  <a:srgbClr val="FFFFFF"/>
                </a:solidFill>
              </a:rPr>
              <a:t>2</a:t>
            </a:r>
            <a:endParaRPr lang="en-US" sz="1300" dirty="0"/>
          </a:p>
        </p:txBody>
      </p:sp>
      <p:sp>
        <p:nvSpPr>
          <p:cNvPr id="10" name="Text 8"/>
          <p:cNvSpPr/>
          <p:nvPr/>
        </p:nvSpPr>
        <p:spPr>
          <a:xfrm>
            <a:off x="960120" y="2468880"/>
            <a:ext cx="4937760" cy="621792"/>
          </a:xfrm>
          <a:prstGeom prst="rect">
            <a:avLst/>
          </a:prstGeom>
          <a:noFill/>
          <a:ln/>
        </p:spPr>
        <p:txBody>
          <a:bodyPr wrap="square" rtlCol="0" anchor="ctr"/>
          <a:lstStyle/>
          <a:p>
            <a:pPr indent="0" marL="0">
              <a:buNone/>
            </a:pPr>
            <a:r>
              <a:rPr lang="en-US" sz="1200" dirty="0">
                <a:solidFill>
                  <a:srgbClr val="5B6472"/>
                </a:solidFill>
              </a:rPr>
              <a:t>Filter to single-core, single-payload Falcon 9 flights</a:t>
            </a:r>
            <a:endParaRPr lang="en-US" sz="1200" dirty="0"/>
          </a:p>
        </p:txBody>
      </p:sp>
      <p:sp>
        <p:nvSpPr>
          <p:cNvPr id="11" name="Shape 9"/>
          <p:cNvSpPr/>
          <p:nvPr/>
        </p:nvSpPr>
        <p:spPr>
          <a:xfrm>
            <a:off x="457200" y="3154680"/>
            <a:ext cx="365760" cy="365760"/>
          </a:xfrm>
          <a:prstGeom prst="roundRect">
            <a:avLst>
              <a:gd name="adj" fmla="val 125000"/>
            </a:avLst>
          </a:prstGeom>
          <a:solidFill>
            <a:srgbClr val="3B60E4"/>
          </a:solidFill>
          <a:ln/>
        </p:spPr>
      </p:sp>
      <p:sp>
        <p:nvSpPr>
          <p:cNvPr id="12" name="Text 10"/>
          <p:cNvSpPr/>
          <p:nvPr/>
        </p:nvSpPr>
        <p:spPr>
          <a:xfrm>
            <a:off x="457200" y="3154680"/>
            <a:ext cx="365760" cy="365760"/>
          </a:xfrm>
          <a:prstGeom prst="rect">
            <a:avLst/>
          </a:prstGeom>
          <a:noFill/>
          <a:ln/>
        </p:spPr>
        <p:txBody>
          <a:bodyPr wrap="square" rtlCol="0" anchor="ctr"/>
          <a:lstStyle/>
          <a:p>
            <a:pPr algn="ctr" indent="0" marL="0">
              <a:buNone/>
            </a:pPr>
            <a:r>
              <a:rPr lang="en-US" sz="1300" b="1" dirty="0">
                <a:solidFill>
                  <a:srgbClr val="FFFFFF"/>
                </a:solidFill>
              </a:rPr>
              <a:t>3</a:t>
            </a:r>
            <a:endParaRPr lang="en-US" sz="1300" dirty="0"/>
          </a:p>
        </p:txBody>
      </p:sp>
      <p:sp>
        <p:nvSpPr>
          <p:cNvPr id="13" name="Text 11"/>
          <p:cNvSpPr/>
          <p:nvPr/>
        </p:nvSpPr>
        <p:spPr>
          <a:xfrm>
            <a:off x="960120" y="3154680"/>
            <a:ext cx="4937760" cy="621792"/>
          </a:xfrm>
          <a:prstGeom prst="rect">
            <a:avLst/>
          </a:prstGeom>
          <a:noFill/>
          <a:ln/>
        </p:spPr>
        <p:txBody>
          <a:bodyPr wrap="square" rtlCol="0" anchor="ctr"/>
          <a:lstStyle/>
          <a:p>
            <a:pPr indent="0" marL="0">
              <a:buNone/>
            </a:pPr>
            <a:r>
              <a:rPr lang="en-US" sz="1200" dirty="0">
                <a:solidFill>
                  <a:srgbClr val="5B6472"/>
                </a:solidFill>
              </a:rPr>
              <a:t>For each launch, call /rockets, /launchpads, /payloads, /cores endpoints</a:t>
            </a:r>
            <a:endParaRPr lang="en-US" sz="1200" dirty="0"/>
          </a:p>
        </p:txBody>
      </p:sp>
      <p:sp>
        <p:nvSpPr>
          <p:cNvPr id="14" name="Shape 12"/>
          <p:cNvSpPr/>
          <p:nvPr/>
        </p:nvSpPr>
        <p:spPr>
          <a:xfrm>
            <a:off x="457200" y="3840480"/>
            <a:ext cx="365760" cy="365760"/>
          </a:xfrm>
          <a:prstGeom prst="roundRect">
            <a:avLst>
              <a:gd name="adj" fmla="val 125000"/>
            </a:avLst>
          </a:prstGeom>
          <a:solidFill>
            <a:srgbClr val="3B60E4"/>
          </a:solidFill>
          <a:ln/>
        </p:spPr>
      </p:sp>
      <p:sp>
        <p:nvSpPr>
          <p:cNvPr id="15" name="Text 13"/>
          <p:cNvSpPr/>
          <p:nvPr/>
        </p:nvSpPr>
        <p:spPr>
          <a:xfrm>
            <a:off x="457200" y="3840480"/>
            <a:ext cx="365760" cy="365760"/>
          </a:xfrm>
          <a:prstGeom prst="rect">
            <a:avLst/>
          </a:prstGeom>
          <a:noFill/>
          <a:ln/>
        </p:spPr>
        <p:txBody>
          <a:bodyPr wrap="square" rtlCol="0" anchor="ctr"/>
          <a:lstStyle/>
          <a:p>
            <a:pPr algn="ctr" indent="0" marL="0">
              <a:buNone/>
            </a:pPr>
            <a:r>
              <a:rPr lang="en-US" sz="1300" b="1" dirty="0">
                <a:solidFill>
                  <a:srgbClr val="FFFFFF"/>
                </a:solidFill>
              </a:rPr>
              <a:t>4</a:t>
            </a:r>
            <a:endParaRPr lang="en-US" sz="1300" dirty="0"/>
          </a:p>
        </p:txBody>
      </p:sp>
      <p:sp>
        <p:nvSpPr>
          <p:cNvPr id="16" name="Text 14"/>
          <p:cNvSpPr/>
          <p:nvPr/>
        </p:nvSpPr>
        <p:spPr>
          <a:xfrm>
            <a:off x="960120" y="3840480"/>
            <a:ext cx="4937760" cy="621792"/>
          </a:xfrm>
          <a:prstGeom prst="rect">
            <a:avLst/>
          </a:prstGeom>
          <a:noFill/>
          <a:ln/>
        </p:spPr>
        <p:txBody>
          <a:bodyPr wrap="square" rtlCol="0" anchor="ctr"/>
          <a:lstStyle/>
          <a:p>
            <a:pPr indent="0" marL="0">
              <a:buNone/>
            </a:pPr>
            <a:r>
              <a:rPr lang="en-US" sz="1200" dirty="0">
                <a:solidFill>
                  <a:srgbClr val="5B6472"/>
                </a:solidFill>
              </a:rPr>
              <a:t>Assemble into one row per launch: booster, orbit, site, outcome, mass</a:t>
            </a:r>
            <a:endParaRPr lang="en-US" sz="1200" dirty="0"/>
          </a:p>
        </p:txBody>
      </p:sp>
      <p:sp>
        <p:nvSpPr>
          <p:cNvPr id="17" name="Shape 15"/>
          <p:cNvSpPr/>
          <p:nvPr/>
        </p:nvSpPr>
        <p:spPr>
          <a:xfrm>
            <a:off x="6309360" y="1417320"/>
            <a:ext cx="5394960" cy="3474720"/>
          </a:xfrm>
          <a:prstGeom prst="roundRect">
            <a:avLst>
              <a:gd name="adj" fmla="val 2105"/>
            </a:avLst>
          </a:prstGeom>
          <a:solidFill>
            <a:srgbClr val="F4F7FC"/>
          </a:solidFill>
          <a:ln w="12700">
            <a:solidFill>
              <a:srgbClr val="E2E8F5"/>
            </a:solidFill>
            <a:prstDash val="solid"/>
          </a:ln>
        </p:spPr>
      </p:sp>
      <p:sp>
        <p:nvSpPr>
          <p:cNvPr id="18" name="Text 16"/>
          <p:cNvSpPr/>
          <p:nvPr/>
        </p:nvSpPr>
        <p:spPr>
          <a:xfrm>
            <a:off x="6537960" y="1600200"/>
            <a:ext cx="4937760" cy="365760"/>
          </a:xfrm>
          <a:prstGeom prst="rect">
            <a:avLst/>
          </a:prstGeom>
          <a:noFill/>
          <a:ln/>
        </p:spPr>
        <p:txBody>
          <a:bodyPr wrap="square" rtlCol="0" anchor="ctr"/>
          <a:lstStyle/>
          <a:p>
            <a:pPr indent="0" marL="0">
              <a:buNone/>
            </a:pPr>
            <a:r>
              <a:rPr lang="en-US" sz="1200" b="1" dirty="0">
                <a:solidFill>
                  <a:srgbClr val="3B60E4"/>
                </a:solidFill>
                <a:latin typeface="Courier New" pitchFamily="34" charset="0"/>
                <a:ea typeface="Courier New" pitchFamily="34" charset="-122"/>
                <a:cs typeface="Courier New" pitchFamily="34" charset="-120"/>
              </a:rPr>
              <a:t>api.spacexdata.com/v4/launches/past</a:t>
            </a:r>
            <a:endParaRPr lang="en-US" sz="1200" dirty="0"/>
          </a:p>
        </p:txBody>
      </p:sp>
      <p:sp>
        <p:nvSpPr>
          <p:cNvPr id="19" name="Text 17"/>
          <p:cNvSpPr/>
          <p:nvPr/>
        </p:nvSpPr>
        <p:spPr>
          <a:xfrm>
            <a:off x="6537960" y="2103120"/>
            <a:ext cx="4937760" cy="1645920"/>
          </a:xfrm>
          <a:prstGeom prst="rect">
            <a:avLst/>
          </a:prstGeom>
          <a:noFill/>
          <a:ln/>
        </p:spPr>
        <p:txBody>
          <a:bodyPr wrap="square" rtlCol="0" anchor="ctr"/>
          <a:lstStyle/>
          <a:p>
            <a:pPr indent="0" marL="0">
              <a:lnSpc>
                <a:spcPts val="1900"/>
              </a:lnSpc>
              <a:buNone/>
            </a:pPr>
            <a:r>
              <a:rPr lang="en-US" sz="1250" b="1" dirty="0">
                <a:solidFill>
                  <a:srgbClr val="0B1F3A"/>
                </a:solidFill>
              </a:rPr>
              <a:t>Result: </a:t>
            </a:r>
            <a:pPr indent="0" marL="0">
              <a:lnSpc>
                <a:spcPts val="1900"/>
              </a:lnSpc>
              <a:buNone/>
            </a:pPr>
            <a:r>
              <a:rPr lang="en-US" sz="1250" dirty="0">
                <a:solidFill>
                  <a:srgbClr val="0B1F3A"/>
                </a:solidFill>
              </a:rPr>
              <a:t>90 clean Falcon 9 launch records (2010–Nov 2020), each with booster version, payload mass, orbit, launch site, flight count, grid fins, reused flag, legs, landing pad, and outcome.</a:t>
            </a:r>
            <a:endParaRPr lang="en-US" sz="1250" dirty="0"/>
          </a:p>
        </p:txBody>
      </p:sp>
      <p:sp>
        <p:nvSpPr>
          <p:cNvPr id="20" name="Text 18"/>
          <p:cNvSpPr/>
          <p:nvPr/>
        </p:nvSpPr>
        <p:spPr>
          <a:xfrm>
            <a:off x="6537960" y="3794760"/>
            <a:ext cx="4937760" cy="1005840"/>
          </a:xfrm>
          <a:prstGeom prst="rect">
            <a:avLst/>
          </a:prstGeom>
          <a:noFill/>
          <a:ln/>
        </p:spPr>
        <p:txBody>
          <a:bodyPr wrap="square" rtlCol="0" anchor="ctr"/>
          <a:lstStyle/>
          <a:p>
            <a:pPr indent="0" marL="0">
              <a:buNone/>
            </a:pPr>
            <a:r>
              <a:rPr lang="en-US" sz="1050" i="1" dirty="0">
                <a:solidFill>
                  <a:srgbClr val="5B6472"/>
                </a:solidFill>
              </a:rPr>
              <a:t>Falcon 1 launches were excluded — this project focuses only on the Falcon 9 landing-prediction problem.</a:t>
            </a:r>
            <a:endParaRPr lang="en-US" sz="1050" dirty="0"/>
          </a:p>
        </p:txBody>
      </p:sp>
      <p:sp>
        <p:nvSpPr>
          <p:cNvPr id="21" name="Text 19"/>
          <p:cNvSpPr/>
          <p:nvPr/>
        </p:nvSpPr>
        <p:spPr>
          <a:xfrm>
            <a:off x="457200" y="6537960"/>
            <a:ext cx="11247120" cy="256032"/>
          </a:xfrm>
          <a:prstGeom prst="rect">
            <a:avLst/>
          </a:prstGeom>
          <a:noFill/>
          <a:ln/>
        </p:spPr>
        <p:txBody>
          <a:bodyPr wrap="square" rtlCol="0" anchor="ctr"/>
          <a:lstStyle/>
          <a:p>
            <a:pPr indent="0" marL="0">
              <a:buNone/>
            </a:pPr>
            <a:r>
              <a:rPr lang="en-US" sz="950" b="1" dirty="0">
                <a:solidFill>
                  <a:srgbClr val="5B6472"/>
                </a:solidFill>
              </a:rPr>
              <a:t>GitHub repository: </a:t>
            </a:r>
            <a:pPr indent="0" marL="0">
              <a:buNone/>
            </a:pPr>
            <a:r>
              <a:rPr lang="en-US" sz="9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https://github.com/razerblade09/spacex-falcon9-capstone/blob/main/notebooks/01_data_collection_api.py</a:t>
            </a:r>
            <a:endParaRPr lang="en-US" sz="950" dirty="0"/>
          </a:p>
        </p:txBody>
      </p:sp>
      <p:sp>
        <p:nvSpPr>
          <p:cNvPr id="22" name="Text 20"/>
          <p:cNvSpPr/>
          <p:nvPr/>
        </p:nvSpPr>
        <p:spPr>
          <a:xfrm>
            <a:off x="11750040" y="6537960"/>
            <a:ext cx="365760" cy="256032"/>
          </a:xfrm>
          <a:prstGeom prst="rect">
            <a:avLst/>
          </a:prstGeom>
          <a:noFill/>
          <a:ln/>
        </p:spPr>
        <p:txBody>
          <a:bodyPr wrap="square" rtlCol="0" anchor="ctr"/>
          <a:lstStyle/>
          <a:p>
            <a:pPr algn="r" indent="0" marL="0">
              <a:buNone/>
            </a:pPr>
            <a:r>
              <a:rPr lang="en-US" sz="950" dirty="0">
                <a:solidFill>
                  <a:srgbClr val="5B6472"/>
                </a:solidFill>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7315200" cy="256032"/>
          </a:xfrm>
          <a:prstGeom prst="rect">
            <a:avLst/>
          </a:prstGeom>
          <a:noFill/>
          <a:ln/>
        </p:spPr>
        <p:txBody>
          <a:bodyPr wrap="square" rtlCol="0" anchor="ctr"/>
          <a:lstStyle/>
          <a:p>
            <a:pPr indent="0" marL="0">
              <a:buNone/>
            </a:pPr>
            <a:r>
              <a:rPr lang="en-US" sz="1150" b="1" spc="200" kern="0" dirty="0">
                <a:solidFill>
                  <a:srgbClr val="3B60E4"/>
                </a:solidFill>
              </a:rPr>
              <a:t>DATA COLLECTION · PART 2</a:t>
            </a:r>
            <a:endParaRPr lang="en-US" sz="1150" dirty="0"/>
          </a:p>
        </p:txBody>
      </p:sp>
      <p:sp>
        <p:nvSpPr>
          <p:cNvPr id="3" name="Text 1"/>
          <p:cNvSpPr/>
          <p:nvPr/>
        </p:nvSpPr>
        <p:spPr>
          <a:xfrm>
            <a:off x="457200" y="512064"/>
            <a:ext cx="11247120" cy="548640"/>
          </a:xfrm>
          <a:prstGeom prst="rect">
            <a:avLst/>
          </a:prstGeom>
          <a:noFill/>
          <a:ln/>
        </p:spPr>
        <p:txBody>
          <a:bodyPr wrap="square" rtlCol="0" anchor="ctr"/>
          <a:lstStyle/>
          <a:p>
            <a:pPr indent="0" marL="0">
              <a:buNone/>
            </a:pPr>
            <a:r>
              <a:rPr lang="en-US" sz="2400" b="1" dirty="0">
                <a:solidFill>
                  <a:srgbClr val="0B1F3A"/>
                </a:solidFill>
              </a:rPr>
              <a:t>Data Collection – Web Scraping</a:t>
            </a:r>
            <a:endParaRPr lang="en-US" sz="2400" dirty="0"/>
          </a:p>
        </p:txBody>
      </p:sp>
      <p:sp>
        <p:nvSpPr>
          <p:cNvPr id="4" name="Text 2"/>
          <p:cNvSpPr/>
          <p:nvPr/>
        </p:nvSpPr>
        <p:spPr>
          <a:xfrm>
            <a:off x="457200" y="1417320"/>
            <a:ext cx="5394960" cy="292608"/>
          </a:xfrm>
          <a:prstGeom prst="rect">
            <a:avLst/>
          </a:prstGeom>
          <a:noFill/>
          <a:ln/>
        </p:spPr>
        <p:txBody>
          <a:bodyPr wrap="square" rtlCol="0" anchor="ctr"/>
          <a:lstStyle/>
          <a:p>
            <a:pPr indent="0" marL="0">
              <a:buNone/>
            </a:pPr>
            <a:r>
              <a:rPr lang="en-US" sz="1350" b="1" dirty="0">
                <a:solidFill>
                  <a:srgbClr val="0B1F3A"/>
                </a:solidFill>
              </a:rPr>
              <a:t>Pipeline:</a:t>
            </a:r>
            <a:endParaRPr lang="en-US" sz="1350" dirty="0"/>
          </a:p>
        </p:txBody>
      </p:sp>
      <p:sp>
        <p:nvSpPr>
          <p:cNvPr id="5" name="Shape 3"/>
          <p:cNvSpPr/>
          <p:nvPr/>
        </p:nvSpPr>
        <p:spPr>
          <a:xfrm>
            <a:off x="457200" y="1783080"/>
            <a:ext cx="365760" cy="365760"/>
          </a:xfrm>
          <a:prstGeom prst="roundRect">
            <a:avLst>
              <a:gd name="adj" fmla="val 125000"/>
            </a:avLst>
          </a:prstGeom>
          <a:solidFill>
            <a:srgbClr val="17BEBB"/>
          </a:solidFill>
          <a:ln/>
        </p:spPr>
      </p:sp>
      <p:sp>
        <p:nvSpPr>
          <p:cNvPr id="6" name="Text 4"/>
          <p:cNvSpPr/>
          <p:nvPr/>
        </p:nvSpPr>
        <p:spPr>
          <a:xfrm>
            <a:off x="457200" y="1783080"/>
            <a:ext cx="365760" cy="365760"/>
          </a:xfrm>
          <a:prstGeom prst="rect">
            <a:avLst/>
          </a:prstGeom>
          <a:noFill/>
          <a:ln/>
        </p:spPr>
        <p:txBody>
          <a:bodyPr wrap="square" rtlCol="0" anchor="ctr"/>
          <a:lstStyle/>
          <a:p>
            <a:pPr algn="ctr" indent="0" marL="0">
              <a:buNone/>
            </a:pPr>
            <a:r>
              <a:rPr lang="en-US" sz="1300" b="1" dirty="0">
                <a:solidFill>
                  <a:srgbClr val="FFFFFF"/>
                </a:solidFill>
              </a:rPr>
              <a:t>1</a:t>
            </a:r>
            <a:endParaRPr lang="en-US" sz="1300" dirty="0"/>
          </a:p>
        </p:txBody>
      </p:sp>
      <p:sp>
        <p:nvSpPr>
          <p:cNvPr id="7" name="Text 5"/>
          <p:cNvSpPr/>
          <p:nvPr/>
        </p:nvSpPr>
        <p:spPr>
          <a:xfrm>
            <a:off x="960120" y="1783080"/>
            <a:ext cx="4937760" cy="621792"/>
          </a:xfrm>
          <a:prstGeom prst="rect">
            <a:avLst/>
          </a:prstGeom>
          <a:noFill/>
          <a:ln/>
        </p:spPr>
        <p:txBody>
          <a:bodyPr wrap="square" rtlCol="0" anchor="ctr"/>
          <a:lstStyle/>
          <a:p>
            <a:pPr indent="0" marL="0">
              <a:buNone/>
            </a:pPr>
            <a:r>
              <a:rPr lang="en-US" sz="1200" dirty="0">
                <a:solidFill>
                  <a:srgbClr val="5B6472"/>
                </a:solidFill>
              </a:rPr>
              <a:t>Request the Wikipedia "List of Falcon 9 and Falcon Heavy launches" page</a:t>
            </a:r>
            <a:endParaRPr lang="en-US" sz="1200" dirty="0"/>
          </a:p>
        </p:txBody>
      </p:sp>
      <p:sp>
        <p:nvSpPr>
          <p:cNvPr id="8" name="Shape 6"/>
          <p:cNvSpPr/>
          <p:nvPr/>
        </p:nvSpPr>
        <p:spPr>
          <a:xfrm>
            <a:off x="457200" y="2468880"/>
            <a:ext cx="365760" cy="365760"/>
          </a:xfrm>
          <a:prstGeom prst="roundRect">
            <a:avLst>
              <a:gd name="adj" fmla="val 125000"/>
            </a:avLst>
          </a:prstGeom>
          <a:solidFill>
            <a:srgbClr val="17BEBB"/>
          </a:solidFill>
          <a:ln/>
        </p:spPr>
      </p:sp>
      <p:sp>
        <p:nvSpPr>
          <p:cNvPr id="9" name="Text 7"/>
          <p:cNvSpPr/>
          <p:nvPr/>
        </p:nvSpPr>
        <p:spPr>
          <a:xfrm>
            <a:off x="457200" y="2468880"/>
            <a:ext cx="365760" cy="365760"/>
          </a:xfrm>
          <a:prstGeom prst="rect">
            <a:avLst/>
          </a:prstGeom>
          <a:noFill/>
          <a:ln/>
        </p:spPr>
        <p:txBody>
          <a:bodyPr wrap="square" rtlCol="0" anchor="ctr"/>
          <a:lstStyle/>
          <a:p>
            <a:pPr algn="ctr" indent="0" marL="0">
              <a:buNone/>
            </a:pPr>
            <a:r>
              <a:rPr lang="en-US" sz="1300" b="1" dirty="0">
                <a:solidFill>
                  <a:srgbClr val="FFFFFF"/>
                </a:solidFill>
              </a:rPr>
              <a:t>2</a:t>
            </a:r>
            <a:endParaRPr lang="en-US" sz="1300" dirty="0"/>
          </a:p>
        </p:txBody>
      </p:sp>
      <p:sp>
        <p:nvSpPr>
          <p:cNvPr id="10" name="Text 8"/>
          <p:cNvSpPr/>
          <p:nvPr/>
        </p:nvSpPr>
        <p:spPr>
          <a:xfrm>
            <a:off x="960120" y="2468880"/>
            <a:ext cx="4937760" cy="621792"/>
          </a:xfrm>
          <a:prstGeom prst="rect">
            <a:avLst/>
          </a:prstGeom>
          <a:noFill/>
          <a:ln/>
        </p:spPr>
        <p:txBody>
          <a:bodyPr wrap="square" rtlCol="0" anchor="ctr"/>
          <a:lstStyle/>
          <a:p>
            <a:pPr indent="0" marL="0">
              <a:buNone/>
            </a:pPr>
            <a:r>
              <a:rPr lang="en-US" sz="1200" dirty="0">
                <a:solidFill>
                  <a:srgbClr val="5B6472"/>
                </a:solidFill>
              </a:rPr>
              <a:t>Parse HTML tables with BeautifulSoup, locate the wikitable elements</a:t>
            </a:r>
            <a:endParaRPr lang="en-US" sz="1200" dirty="0"/>
          </a:p>
        </p:txBody>
      </p:sp>
      <p:sp>
        <p:nvSpPr>
          <p:cNvPr id="11" name="Shape 9"/>
          <p:cNvSpPr/>
          <p:nvPr/>
        </p:nvSpPr>
        <p:spPr>
          <a:xfrm>
            <a:off x="457200" y="3154680"/>
            <a:ext cx="365760" cy="365760"/>
          </a:xfrm>
          <a:prstGeom prst="roundRect">
            <a:avLst>
              <a:gd name="adj" fmla="val 125000"/>
            </a:avLst>
          </a:prstGeom>
          <a:solidFill>
            <a:srgbClr val="17BEBB"/>
          </a:solidFill>
          <a:ln/>
        </p:spPr>
      </p:sp>
      <p:sp>
        <p:nvSpPr>
          <p:cNvPr id="12" name="Text 10"/>
          <p:cNvSpPr/>
          <p:nvPr/>
        </p:nvSpPr>
        <p:spPr>
          <a:xfrm>
            <a:off x="457200" y="3154680"/>
            <a:ext cx="365760" cy="365760"/>
          </a:xfrm>
          <a:prstGeom prst="rect">
            <a:avLst/>
          </a:prstGeom>
          <a:noFill/>
          <a:ln/>
        </p:spPr>
        <p:txBody>
          <a:bodyPr wrap="square" rtlCol="0" anchor="ctr"/>
          <a:lstStyle/>
          <a:p>
            <a:pPr algn="ctr" indent="0" marL="0">
              <a:buNone/>
            </a:pPr>
            <a:r>
              <a:rPr lang="en-US" sz="1300" b="1" dirty="0">
                <a:solidFill>
                  <a:srgbClr val="FFFFFF"/>
                </a:solidFill>
              </a:rPr>
              <a:t>3</a:t>
            </a:r>
            <a:endParaRPr lang="en-US" sz="1300" dirty="0"/>
          </a:p>
        </p:txBody>
      </p:sp>
      <p:sp>
        <p:nvSpPr>
          <p:cNvPr id="13" name="Text 11"/>
          <p:cNvSpPr/>
          <p:nvPr/>
        </p:nvSpPr>
        <p:spPr>
          <a:xfrm>
            <a:off x="960120" y="3154680"/>
            <a:ext cx="4937760" cy="621792"/>
          </a:xfrm>
          <a:prstGeom prst="rect">
            <a:avLst/>
          </a:prstGeom>
          <a:noFill/>
          <a:ln/>
        </p:spPr>
        <p:txBody>
          <a:bodyPr wrap="square" rtlCol="0" anchor="ctr"/>
          <a:lstStyle/>
          <a:p>
            <a:pPr indent="0" marL="0">
              <a:buNone/>
            </a:pPr>
            <a:r>
              <a:rPr lang="en-US" sz="1200" dirty="0">
                <a:solidFill>
                  <a:srgbClr val="5B6472"/>
                </a:solidFill>
              </a:rPr>
              <a:t>Extract column headers, then walk each row of launch data</a:t>
            </a:r>
            <a:endParaRPr lang="en-US" sz="1200" dirty="0"/>
          </a:p>
        </p:txBody>
      </p:sp>
      <p:sp>
        <p:nvSpPr>
          <p:cNvPr id="14" name="Shape 12"/>
          <p:cNvSpPr/>
          <p:nvPr/>
        </p:nvSpPr>
        <p:spPr>
          <a:xfrm>
            <a:off x="457200" y="3840480"/>
            <a:ext cx="365760" cy="365760"/>
          </a:xfrm>
          <a:prstGeom prst="roundRect">
            <a:avLst>
              <a:gd name="adj" fmla="val 125000"/>
            </a:avLst>
          </a:prstGeom>
          <a:solidFill>
            <a:srgbClr val="17BEBB"/>
          </a:solidFill>
          <a:ln/>
        </p:spPr>
      </p:sp>
      <p:sp>
        <p:nvSpPr>
          <p:cNvPr id="15" name="Text 13"/>
          <p:cNvSpPr/>
          <p:nvPr/>
        </p:nvSpPr>
        <p:spPr>
          <a:xfrm>
            <a:off x="457200" y="3840480"/>
            <a:ext cx="365760" cy="365760"/>
          </a:xfrm>
          <a:prstGeom prst="rect">
            <a:avLst/>
          </a:prstGeom>
          <a:noFill/>
          <a:ln/>
        </p:spPr>
        <p:txBody>
          <a:bodyPr wrap="square" rtlCol="0" anchor="ctr"/>
          <a:lstStyle/>
          <a:p>
            <a:pPr algn="ctr" indent="0" marL="0">
              <a:buNone/>
            </a:pPr>
            <a:r>
              <a:rPr lang="en-US" sz="1300" b="1" dirty="0">
                <a:solidFill>
                  <a:srgbClr val="FFFFFF"/>
                </a:solidFill>
              </a:rPr>
              <a:t>4</a:t>
            </a:r>
            <a:endParaRPr lang="en-US" sz="1300" dirty="0"/>
          </a:p>
        </p:txBody>
      </p:sp>
      <p:sp>
        <p:nvSpPr>
          <p:cNvPr id="16" name="Text 14"/>
          <p:cNvSpPr/>
          <p:nvPr/>
        </p:nvSpPr>
        <p:spPr>
          <a:xfrm>
            <a:off x="960120" y="3840480"/>
            <a:ext cx="4937760" cy="621792"/>
          </a:xfrm>
          <a:prstGeom prst="rect">
            <a:avLst/>
          </a:prstGeom>
          <a:noFill/>
          <a:ln/>
        </p:spPr>
        <p:txBody>
          <a:bodyPr wrap="square" rtlCol="0" anchor="ctr"/>
          <a:lstStyle/>
          <a:p>
            <a:pPr indent="0" marL="0">
              <a:buNone/>
            </a:pPr>
            <a:r>
              <a:rPr lang="en-US" sz="1200" dirty="0">
                <a:solidFill>
                  <a:srgbClr val="5B6472"/>
                </a:solidFill>
              </a:rPr>
              <a:t>Clean text (dates, booster serials, payload mass) into a dataframe</a:t>
            </a:r>
            <a:endParaRPr lang="en-US" sz="1200" dirty="0"/>
          </a:p>
        </p:txBody>
      </p:sp>
      <p:sp>
        <p:nvSpPr>
          <p:cNvPr id="17" name="Shape 15"/>
          <p:cNvSpPr/>
          <p:nvPr/>
        </p:nvSpPr>
        <p:spPr>
          <a:xfrm>
            <a:off x="6309360" y="1417320"/>
            <a:ext cx="5394960" cy="3474720"/>
          </a:xfrm>
          <a:prstGeom prst="roundRect">
            <a:avLst>
              <a:gd name="adj" fmla="val 2105"/>
            </a:avLst>
          </a:prstGeom>
          <a:solidFill>
            <a:srgbClr val="F4F7FC"/>
          </a:solidFill>
          <a:ln w="12700">
            <a:solidFill>
              <a:srgbClr val="E2E8F5"/>
            </a:solidFill>
            <a:prstDash val="solid"/>
          </a:ln>
        </p:spPr>
      </p:sp>
      <p:sp>
        <p:nvSpPr>
          <p:cNvPr id="18" name="Text 16"/>
          <p:cNvSpPr/>
          <p:nvPr/>
        </p:nvSpPr>
        <p:spPr>
          <a:xfrm>
            <a:off x="6537960" y="1600200"/>
            <a:ext cx="4937760" cy="365760"/>
          </a:xfrm>
          <a:prstGeom prst="rect">
            <a:avLst/>
          </a:prstGeom>
          <a:noFill/>
          <a:ln/>
        </p:spPr>
        <p:txBody>
          <a:bodyPr wrap="square" rtlCol="0" anchor="ctr"/>
          <a:lstStyle/>
          <a:p>
            <a:pPr indent="0" marL="0">
              <a:buNone/>
            </a:pPr>
            <a:r>
              <a:rPr lang="en-US" sz="1200" b="1" dirty="0">
                <a:solidFill>
                  <a:srgbClr val="17BEBB"/>
                </a:solidFill>
                <a:latin typeface="Courier New" pitchFamily="34" charset="0"/>
                <a:ea typeface="Courier New" pitchFamily="34" charset="-122"/>
                <a:cs typeface="Courier New" pitchFamily="34" charset="-120"/>
              </a:rPr>
              <a:t>BeautifulSoup(response.text, 'html.parser')</a:t>
            </a:r>
            <a:endParaRPr lang="en-US" sz="1200" dirty="0"/>
          </a:p>
        </p:txBody>
      </p:sp>
      <p:sp>
        <p:nvSpPr>
          <p:cNvPr id="19" name="Text 17"/>
          <p:cNvSpPr/>
          <p:nvPr/>
        </p:nvSpPr>
        <p:spPr>
          <a:xfrm>
            <a:off x="6537960" y="2103120"/>
            <a:ext cx="4937760" cy="1645920"/>
          </a:xfrm>
          <a:prstGeom prst="rect">
            <a:avLst/>
          </a:prstGeom>
          <a:noFill/>
          <a:ln/>
        </p:spPr>
        <p:txBody>
          <a:bodyPr wrap="square" rtlCol="0" anchor="ctr"/>
          <a:lstStyle/>
          <a:p>
            <a:pPr indent="0" marL="0">
              <a:lnSpc>
                <a:spcPts val="1900"/>
              </a:lnSpc>
              <a:buNone/>
            </a:pPr>
            <a:r>
              <a:rPr lang="en-US" sz="1250" b="1" dirty="0">
                <a:solidFill>
                  <a:srgbClr val="0B1F3A"/>
                </a:solidFill>
              </a:rPr>
              <a:t>Purpose: </a:t>
            </a:r>
            <a:pPr indent="0" marL="0">
              <a:lnSpc>
                <a:spcPts val="1900"/>
              </a:lnSpc>
              <a:buNone/>
            </a:pPr>
            <a:r>
              <a:rPr lang="en-US" sz="1250" dirty="0">
                <a:solidFill>
                  <a:srgbClr val="0B1F3A"/>
                </a:solidFill>
              </a:rPr>
              <a:t>an independent, cross-checked source for launch records — used to validate the API dataset and fill in fields (like precise payload customer) the API doesn't expose.</a:t>
            </a:r>
            <a:endParaRPr lang="en-US" sz="1250" dirty="0"/>
          </a:p>
        </p:txBody>
      </p:sp>
      <p:sp>
        <p:nvSpPr>
          <p:cNvPr id="20" name="Text 18"/>
          <p:cNvSpPr/>
          <p:nvPr/>
        </p:nvSpPr>
        <p:spPr>
          <a:xfrm>
            <a:off x="6537960" y="3794760"/>
            <a:ext cx="4937760" cy="1005840"/>
          </a:xfrm>
          <a:prstGeom prst="rect">
            <a:avLst/>
          </a:prstGeom>
          <a:noFill/>
          <a:ln/>
        </p:spPr>
        <p:txBody>
          <a:bodyPr wrap="square" rtlCol="0" anchor="ctr"/>
          <a:lstStyle/>
          <a:p>
            <a:pPr indent="0" marL="0">
              <a:buNone/>
            </a:pPr>
            <a:r>
              <a:rPr lang="en-US" sz="1050" i="1" dirty="0">
                <a:solidFill>
                  <a:srgbClr val="5B6472"/>
                </a:solidFill>
              </a:rPr>
              <a:t>Key techniques: regex/Unicode cleanup for payload-mass strings, and helper functions to pull booster version and landing status out of merged table cells.</a:t>
            </a:r>
            <a:endParaRPr lang="en-US" sz="1050" dirty="0"/>
          </a:p>
        </p:txBody>
      </p:sp>
      <p:sp>
        <p:nvSpPr>
          <p:cNvPr id="21" name="Text 19"/>
          <p:cNvSpPr/>
          <p:nvPr/>
        </p:nvSpPr>
        <p:spPr>
          <a:xfrm>
            <a:off x="457200" y="6537960"/>
            <a:ext cx="11247120" cy="256032"/>
          </a:xfrm>
          <a:prstGeom prst="rect">
            <a:avLst/>
          </a:prstGeom>
          <a:noFill/>
          <a:ln/>
        </p:spPr>
        <p:txBody>
          <a:bodyPr wrap="square" rtlCol="0" anchor="ctr"/>
          <a:lstStyle/>
          <a:p>
            <a:pPr indent="0" marL="0">
              <a:buNone/>
            </a:pPr>
            <a:r>
              <a:rPr lang="en-US" sz="950" b="1" dirty="0">
                <a:solidFill>
                  <a:srgbClr val="5B6472"/>
                </a:solidFill>
              </a:rPr>
              <a:t>GitHub repository: </a:t>
            </a:r>
            <a:pPr indent="0" marL="0">
              <a:buNone/>
            </a:pPr>
            <a:r>
              <a:rPr lang="en-US" sz="9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https://github.com/razerblade09/spacex-falcon9-capstone/blob/main/notebooks/02_web_scraping.py</a:t>
            </a:r>
            <a:endParaRPr lang="en-US" sz="950" dirty="0"/>
          </a:p>
        </p:txBody>
      </p:sp>
      <p:sp>
        <p:nvSpPr>
          <p:cNvPr id="22" name="Text 20"/>
          <p:cNvSpPr/>
          <p:nvPr/>
        </p:nvSpPr>
        <p:spPr>
          <a:xfrm>
            <a:off x="11750040" y="6537960"/>
            <a:ext cx="365760" cy="256032"/>
          </a:xfrm>
          <a:prstGeom prst="rect">
            <a:avLst/>
          </a:prstGeom>
          <a:noFill/>
          <a:ln/>
        </p:spPr>
        <p:txBody>
          <a:bodyPr wrap="square" rtlCol="0" anchor="ctr"/>
          <a:lstStyle/>
          <a:p>
            <a:pPr algn="r" indent="0" marL="0">
              <a:buNone/>
            </a:pPr>
            <a:r>
              <a:rPr lang="en-US" sz="950" dirty="0">
                <a:solidFill>
                  <a:srgbClr val="5B6472"/>
                </a:solidFill>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7315200" cy="256032"/>
          </a:xfrm>
          <a:prstGeom prst="rect">
            <a:avLst/>
          </a:prstGeom>
          <a:noFill/>
          <a:ln/>
        </p:spPr>
        <p:txBody>
          <a:bodyPr wrap="square" rtlCol="0" anchor="ctr"/>
          <a:lstStyle/>
          <a:p>
            <a:pPr indent="0" marL="0">
              <a:buNone/>
            </a:pPr>
            <a:r>
              <a:rPr lang="en-US" sz="1150" b="1" spc="200" kern="0" dirty="0">
                <a:solidFill>
                  <a:srgbClr val="3B60E4"/>
                </a:solidFill>
              </a:rPr>
              <a:t>PREPARATION</a:t>
            </a:r>
            <a:endParaRPr lang="en-US" sz="1150" dirty="0"/>
          </a:p>
        </p:txBody>
      </p:sp>
      <p:sp>
        <p:nvSpPr>
          <p:cNvPr id="3" name="Text 1"/>
          <p:cNvSpPr/>
          <p:nvPr/>
        </p:nvSpPr>
        <p:spPr>
          <a:xfrm>
            <a:off x="457200" y="512064"/>
            <a:ext cx="11247120" cy="548640"/>
          </a:xfrm>
          <a:prstGeom prst="rect">
            <a:avLst/>
          </a:prstGeom>
          <a:noFill/>
          <a:ln/>
        </p:spPr>
        <p:txBody>
          <a:bodyPr wrap="square" rtlCol="0" anchor="ctr"/>
          <a:lstStyle/>
          <a:p>
            <a:pPr indent="0" marL="0">
              <a:buNone/>
            </a:pPr>
            <a:r>
              <a:rPr lang="en-US" sz="2400" b="1" dirty="0">
                <a:solidFill>
                  <a:srgbClr val="0B1F3A"/>
                </a:solidFill>
              </a:rPr>
              <a:t>Data Wrangling Methodology</a:t>
            </a:r>
            <a:endParaRPr lang="en-US" sz="2400" dirty="0"/>
          </a:p>
        </p:txBody>
      </p:sp>
      <p:sp>
        <p:nvSpPr>
          <p:cNvPr id="4" name="Text 2"/>
          <p:cNvSpPr/>
          <p:nvPr/>
        </p:nvSpPr>
        <p:spPr>
          <a:xfrm>
            <a:off x="457200" y="1371600"/>
            <a:ext cx="6583680" cy="2743200"/>
          </a:xfrm>
          <a:prstGeom prst="rect">
            <a:avLst/>
          </a:prstGeom>
          <a:noFill/>
          <a:ln/>
        </p:spPr>
        <p:txBody>
          <a:bodyPr wrap="square" rtlCol="0" anchor="ctr"/>
          <a:lstStyle/>
          <a:p>
            <a:pPr indent="0" marL="0">
              <a:lnSpc>
                <a:spcPts val="2100"/>
              </a:lnSpc>
              <a:buNone/>
            </a:pPr>
            <a:r>
              <a:rPr lang="en-US" sz="1350" b="1" dirty="0">
                <a:solidFill>
                  <a:srgbClr val="0B1F3A"/>
                </a:solidFill>
              </a:rPr>
              <a:t>Missing values: </a:t>
            </a:r>
            <a:pPr indent="0" marL="0">
              <a:lnSpc>
                <a:spcPts val="2100"/>
              </a:lnSpc>
              <a:buNone/>
            </a:pPr>
            <a:r>
              <a:rPr lang="en-US" sz="1350" dirty="0">
                <a:solidFill>
                  <a:srgbClr val="5B6472"/>
                </a:solidFill>
              </a:rPr>
              <a:t>PayloadMass (5.6% missing) filled with column mean; LandingPad (28.9% missing) kept as-is since a null pad legitimately means "no ground/drone-ship landing occurred."
</a:t>
            </a:r>
            <a:pPr indent="0" marL="0">
              <a:lnSpc>
                <a:spcPts val="2100"/>
              </a:lnSpc>
              <a:buNone/>
            </a:pPr>
            <a:r>
              <a:rPr lang="en-US" sz="1350" b="1" dirty="0">
                <a:solidFill>
                  <a:srgbClr val="0B1F3A"/>
                </a:solidFill>
              </a:rPr>
              <a:t>Label engineering: </a:t>
            </a:r>
            <a:pPr indent="0" marL="0">
              <a:lnSpc>
                <a:spcPts val="2100"/>
              </a:lnSpc>
              <a:buNone/>
            </a:pPr>
            <a:r>
              <a:rPr lang="en-US" sz="1350" dirty="0">
                <a:solidFill>
                  <a:srgbClr val="5B6472"/>
                </a:solidFill>
              </a:rPr>
              <a:t>The raw Outcome field (e.g. "True ASDS", "False Ocean", "None None") was converted into a binary Class label — 1 if the booster landed successfully by any method, 0 otherwise.</a:t>
            </a:r>
            <a:endParaRPr lang="en-US" sz="1350" dirty="0"/>
          </a:p>
        </p:txBody>
      </p:sp>
      <p:sp>
        <p:nvSpPr>
          <p:cNvPr id="5" name="Shape 3"/>
          <p:cNvSpPr/>
          <p:nvPr/>
        </p:nvSpPr>
        <p:spPr>
          <a:xfrm>
            <a:off x="457200" y="4114800"/>
            <a:ext cx="6583680" cy="1280160"/>
          </a:xfrm>
          <a:prstGeom prst="roundRect">
            <a:avLst>
              <a:gd name="adj" fmla="val 5714"/>
            </a:avLst>
          </a:prstGeom>
          <a:solidFill>
            <a:srgbClr val="F4F7FC"/>
          </a:solidFill>
          <a:ln/>
        </p:spPr>
      </p:sp>
      <p:sp>
        <p:nvSpPr>
          <p:cNvPr id="6" name="Text 4"/>
          <p:cNvSpPr/>
          <p:nvPr/>
        </p:nvSpPr>
        <p:spPr>
          <a:xfrm>
            <a:off x="640080" y="4114800"/>
            <a:ext cx="6217920" cy="1280160"/>
          </a:xfrm>
          <a:prstGeom prst="rect">
            <a:avLst/>
          </a:prstGeom>
          <a:noFill/>
          <a:ln/>
        </p:spPr>
        <p:txBody>
          <a:bodyPr wrap="square" rtlCol="0" anchor="ctr"/>
          <a:lstStyle/>
          <a:p>
            <a:pPr indent="0" marL="0">
              <a:buNone/>
            </a:pPr>
            <a:r>
              <a:rPr lang="en-US" sz="1300" b="1" dirty="0">
                <a:solidFill>
                  <a:srgbClr val="0B1F3A"/>
                </a:solidFill>
              </a:rPr>
              <a:t>Result: 90 launches → 60 successful landings (66.7%), 30 unsuccessful (33.3%)</a:t>
            </a:r>
            <a:endParaRPr lang="en-US" sz="1300" dirty="0"/>
          </a:p>
        </p:txBody>
      </p:sp>
      <p:pic>
        <p:nvPicPr>
          <p:cNvPr id="7" name="Image 0" descr="/home/claude/capstone/images/eda_orbit_success.png">    </p:cNvPr>
          <p:cNvPicPr>
            <a:picLocks noChangeAspect="1"/>
          </p:cNvPicPr>
          <p:nvPr/>
        </p:nvPicPr>
        <p:blipFill>
          <a:blip r:embed="rId1"/>
          <a:stretch>
            <a:fillRect/>
          </a:stretch>
        </p:blipFill>
        <p:spPr>
          <a:xfrm>
            <a:off x="7315200" y="1371600"/>
            <a:ext cx="4389120" cy="3291840"/>
          </a:xfrm>
          <a:prstGeom prst="rect">
            <a:avLst/>
          </a:prstGeom>
        </p:spPr>
      </p:pic>
      <p:sp>
        <p:nvSpPr>
          <p:cNvPr id="8" name="Text 5"/>
          <p:cNvSpPr/>
          <p:nvPr/>
        </p:nvSpPr>
        <p:spPr>
          <a:xfrm>
            <a:off x="457200" y="6537960"/>
            <a:ext cx="11247120" cy="256032"/>
          </a:xfrm>
          <a:prstGeom prst="rect">
            <a:avLst/>
          </a:prstGeom>
          <a:noFill/>
          <a:ln/>
        </p:spPr>
        <p:txBody>
          <a:bodyPr wrap="square" rtlCol="0" anchor="ctr"/>
          <a:lstStyle/>
          <a:p>
            <a:pPr indent="0" marL="0">
              <a:buNone/>
            </a:pPr>
            <a:r>
              <a:rPr lang="en-US" sz="950" b="1" dirty="0">
                <a:solidFill>
                  <a:srgbClr val="5B6472"/>
                </a:solidFill>
              </a:rPr>
              <a:t>GitHub repository: </a:t>
            </a:r>
            <a:pPr indent="0" marL="0">
              <a:buNone/>
            </a:pPr>
            <a:r>
              <a:rPr lang="en-US" sz="950" u="sng" dirty="0">
                <a:solidFill>
                  <a:srgbClr val="3B60E4"/>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https://github.com/razerblade09/spacex-falcon9-capstone/blob/main/notebooks/03_data_wrangling.py</a:t>
            </a:r>
            <a:endParaRPr lang="en-US" sz="950" dirty="0"/>
          </a:p>
        </p:txBody>
      </p:sp>
      <p:sp>
        <p:nvSpPr>
          <p:cNvPr id="9" name="Text 6"/>
          <p:cNvSpPr/>
          <p:nvPr/>
        </p:nvSpPr>
        <p:spPr>
          <a:xfrm>
            <a:off x="11750040" y="6537960"/>
            <a:ext cx="365760" cy="256032"/>
          </a:xfrm>
          <a:prstGeom prst="rect">
            <a:avLst/>
          </a:prstGeom>
          <a:noFill/>
          <a:ln/>
        </p:spPr>
        <p:txBody>
          <a:bodyPr wrap="square" rtlCol="0" anchor="ctr"/>
          <a:lstStyle/>
          <a:p>
            <a:pPr algn="r" indent="0" marL="0">
              <a:buNone/>
            </a:pPr>
            <a:r>
              <a:rPr lang="en-US" sz="950" dirty="0">
                <a:solidFill>
                  <a:srgbClr val="5B6472"/>
                </a:solidFill>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7315200" cy="256032"/>
          </a:xfrm>
          <a:prstGeom prst="rect">
            <a:avLst/>
          </a:prstGeom>
          <a:noFill/>
          <a:ln/>
        </p:spPr>
        <p:txBody>
          <a:bodyPr wrap="square" rtlCol="0" anchor="ctr"/>
          <a:lstStyle/>
          <a:p>
            <a:pPr indent="0" marL="0">
              <a:buNone/>
            </a:pPr>
            <a:r>
              <a:rPr lang="en-US" sz="1150" b="1" spc="200" kern="0" dirty="0">
                <a:solidFill>
                  <a:srgbClr val="3B60E4"/>
                </a:solidFill>
              </a:rPr>
              <a:t>EXPLORATORY ANALYSIS</a:t>
            </a:r>
            <a:endParaRPr lang="en-US" sz="1150" dirty="0"/>
          </a:p>
        </p:txBody>
      </p:sp>
      <p:sp>
        <p:nvSpPr>
          <p:cNvPr id="3" name="Text 1"/>
          <p:cNvSpPr/>
          <p:nvPr/>
        </p:nvSpPr>
        <p:spPr>
          <a:xfrm>
            <a:off x="457200" y="512064"/>
            <a:ext cx="11247120" cy="548640"/>
          </a:xfrm>
          <a:prstGeom prst="rect">
            <a:avLst/>
          </a:prstGeom>
          <a:noFill/>
          <a:ln/>
        </p:spPr>
        <p:txBody>
          <a:bodyPr wrap="square" rtlCol="0" anchor="ctr"/>
          <a:lstStyle/>
          <a:p>
            <a:pPr indent="0" marL="0">
              <a:buNone/>
            </a:pPr>
            <a:r>
              <a:rPr lang="en-US" sz="2400" b="1" dirty="0">
                <a:solidFill>
                  <a:srgbClr val="0B1F3A"/>
                </a:solidFill>
              </a:rPr>
              <a:t>EDA with Data Visualization</a:t>
            </a:r>
            <a:endParaRPr lang="en-US" sz="2400" dirty="0"/>
          </a:p>
        </p:txBody>
      </p:sp>
      <p:sp>
        <p:nvSpPr>
          <p:cNvPr id="4" name="Text 2"/>
          <p:cNvSpPr/>
          <p:nvPr/>
        </p:nvSpPr>
        <p:spPr>
          <a:xfrm>
            <a:off x="457200" y="1280160"/>
            <a:ext cx="11247120" cy="320040"/>
          </a:xfrm>
          <a:prstGeom prst="rect">
            <a:avLst/>
          </a:prstGeom>
          <a:noFill/>
          <a:ln/>
        </p:spPr>
        <p:txBody>
          <a:bodyPr wrap="square" rtlCol="0" anchor="ctr"/>
          <a:lstStyle/>
          <a:p>
            <a:pPr indent="0" marL="0">
              <a:buNone/>
            </a:pPr>
            <a:r>
              <a:rPr lang="en-US" sz="1200" dirty="0">
                <a:solidFill>
                  <a:srgbClr val="5B6472"/>
                </a:solidFill>
              </a:rPr>
              <a:t>We plotted flight number, payload mass, orbit type, and launch year against landing outcome to surface which factors correlate with success.</a:t>
            </a:r>
            <a:endParaRPr lang="en-US" sz="1200" dirty="0"/>
          </a:p>
        </p:txBody>
      </p:sp>
      <p:pic>
        <p:nvPicPr>
          <p:cNvPr id="5" name="Image 0" descr="/home/claude/capstone/images/eda_flightnum_site.png">    </p:cNvPr>
          <p:cNvPicPr>
            <a:picLocks noChangeAspect="1"/>
          </p:cNvPicPr>
          <p:nvPr/>
        </p:nvPicPr>
        <p:blipFill>
          <a:blip r:embed="rId1"/>
          <a:stretch>
            <a:fillRect/>
          </a:stretch>
        </p:blipFill>
        <p:spPr>
          <a:xfrm>
            <a:off x="457200" y="1691640"/>
            <a:ext cx="3657600" cy="1737360"/>
          </a:xfrm>
          <a:prstGeom prst="rect">
            <a:avLst/>
          </a:prstGeom>
        </p:spPr>
      </p:pic>
      <p:sp>
        <p:nvSpPr>
          <p:cNvPr id="6" name="Text 3"/>
          <p:cNvSpPr/>
          <p:nvPr/>
        </p:nvSpPr>
        <p:spPr>
          <a:xfrm>
            <a:off x="457200" y="3429000"/>
            <a:ext cx="3657600" cy="256032"/>
          </a:xfrm>
          <a:prstGeom prst="rect">
            <a:avLst/>
          </a:prstGeom>
          <a:noFill/>
          <a:ln/>
        </p:spPr>
        <p:txBody>
          <a:bodyPr wrap="square" rtlCol="0" anchor="ctr"/>
          <a:lstStyle/>
          <a:p>
            <a:pPr algn="ctr" indent="0" marL="0">
              <a:buNone/>
            </a:pPr>
            <a:r>
              <a:rPr lang="en-US" sz="1000" b="1" dirty="0">
                <a:solidFill>
                  <a:srgbClr val="0B1F3A"/>
                </a:solidFill>
              </a:rPr>
              <a:t>Flight # vs Site</a:t>
            </a:r>
            <a:endParaRPr lang="en-US" sz="1000" dirty="0"/>
          </a:p>
        </p:txBody>
      </p:sp>
      <p:pic>
        <p:nvPicPr>
          <p:cNvPr id="7" name="Image 1" descr="/home/claude/capstone/images/eda_payload_site.png">    </p:cNvPr>
          <p:cNvPicPr>
            <a:picLocks noChangeAspect="1"/>
          </p:cNvPicPr>
          <p:nvPr/>
        </p:nvPicPr>
        <p:blipFill>
          <a:blip r:embed="rId2"/>
          <a:stretch>
            <a:fillRect/>
          </a:stretch>
        </p:blipFill>
        <p:spPr>
          <a:xfrm>
            <a:off x="4343400" y="1691640"/>
            <a:ext cx="3657600" cy="1737360"/>
          </a:xfrm>
          <a:prstGeom prst="rect">
            <a:avLst/>
          </a:prstGeom>
        </p:spPr>
      </p:pic>
      <p:sp>
        <p:nvSpPr>
          <p:cNvPr id="8" name="Text 4"/>
          <p:cNvSpPr/>
          <p:nvPr/>
        </p:nvSpPr>
        <p:spPr>
          <a:xfrm>
            <a:off x="4343400" y="3429000"/>
            <a:ext cx="3657600" cy="256032"/>
          </a:xfrm>
          <a:prstGeom prst="rect">
            <a:avLst/>
          </a:prstGeom>
          <a:noFill/>
          <a:ln/>
        </p:spPr>
        <p:txBody>
          <a:bodyPr wrap="square" rtlCol="0" anchor="ctr"/>
          <a:lstStyle/>
          <a:p>
            <a:pPr algn="ctr" indent="0" marL="0">
              <a:buNone/>
            </a:pPr>
            <a:r>
              <a:rPr lang="en-US" sz="1000" b="1" dirty="0">
                <a:solidFill>
                  <a:srgbClr val="0B1F3A"/>
                </a:solidFill>
              </a:rPr>
              <a:t>Payload vs Site</a:t>
            </a:r>
            <a:endParaRPr lang="en-US" sz="1000" dirty="0"/>
          </a:p>
        </p:txBody>
      </p:sp>
      <p:pic>
        <p:nvPicPr>
          <p:cNvPr id="9" name="Image 2" descr="/home/claude/capstone/images/eda_orbit_success.png">    </p:cNvPr>
          <p:cNvPicPr>
            <a:picLocks noChangeAspect="1"/>
          </p:cNvPicPr>
          <p:nvPr/>
        </p:nvPicPr>
        <p:blipFill>
          <a:blip r:embed="rId3"/>
          <a:stretch>
            <a:fillRect/>
          </a:stretch>
        </p:blipFill>
        <p:spPr>
          <a:xfrm>
            <a:off x="8229600" y="1691640"/>
            <a:ext cx="3657600" cy="1737360"/>
          </a:xfrm>
          <a:prstGeom prst="rect">
            <a:avLst/>
          </a:prstGeom>
        </p:spPr>
      </p:pic>
      <p:sp>
        <p:nvSpPr>
          <p:cNvPr id="10" name="Text 5"/>
          <p:cNvSpPr/>
          <p:nvPr/>
        </p:nvSpPr>
        <p:spPr>
          <a:xfrm>
            <a:off x="8229600" y="3429000"/>
            <a:ext cx="3657600" cy="256032"/>
          </a:xfrm>
          <a:prstGeom prst="rect">
            <a:avLst/>
          </a:prstGeom>
          <a:noFill/>
          <a:ln/>
        </p:spPr>
        <p:txBody>
          <a:bodyPr wrap="square" rtlCol="0" anchor="ctr"/>
          <a:lstStyle/>
          <a:p>
            <a:pPr algn="ctr" indent="0" marL="0">
              <a:buNone/>
            </a:pPr>
            <a:r>
              <a:rPr lang="en-US" sz="1000" b="1" dirty="0">
                <a:solidFill>
                  <a:srgbClr val="0B1F3A"/>
                </a:solidFill>
              </a:rPr>
              <a:t>Success Rate by Orbit</a:t>
            </a:r>
            <a:endParaRPr lang="en-US" sz="1000" dirty="0"/>
          </a:p>
        </p:txBody>
      </p:sp>
      <p:pic>
        <p:nvPicPr>
          <p:cNvPr id="11" name="Image 3" descr="/home/claude/capstone/images/eda_flightnum_orbit.png">    </p:cNvPr>
          <p:cNvPicPr>
            <a:picLocks noChangeAspect="1"/>
          </p:cNvPicPr>
          <p:nvPr/>
        </p:nvPicPr>
        <p:blipFill>
          <a:blip r:embed="rId4"/>
          <a:stretch>
            <a:fillRect/>
          </a:stretch>
        </p:blipFill>
        <p:spPr>
          <a:xfrm>
            <a:off x="457200" y="3794760"/>
            <a:ext cx="3657600" cy="1737360"/>
          </a:xfrm>
          <a:prstGeom prst="rect">
            <a:avLst/>
          </a:prstGeom>
        </p:spPr>
      </p:pic>
      <p:sp>
        <p:nvSpPr>
          <p:cNvPr id="12" name="Text 6"/>
          <p:cNvSpPr/>
          <p:nvPr/>
        </p:nvSpPr>
        <p:spPr>
          <a:xfrm>
            <a:off x="457200" y="5532120"/>
            <a:ext cx="3657600" cy="256032"/>
          </a:xfrm>
          <a:prstGeom prst="rect">
            <a:avLst/>
          </a:prstGeom>
          <a:noFill/>
          <a:ln/>
        </p:spPr>
        <p:txBody>
          <a:bodyPr wrap="square" rtlCol="0" anchor="ctr"/>
          <a:lstStyle/>
          <a:p>
            <a:pPr algn="ctr" indent="0" marL="0">
              <a:buNone/>
            </a:pPr>
            <a:r>
              <a:rPr lang="en-US" sz="1000" b="1" dirty="0">
                <a:solidFill>
                  <a:srgbClr val="0B1F3A"/>
                </a:solidFill>
              </a:rPr>
              <a:t>Flight # vs Orbit</a:t>
            </a:r>
            <a:endParaRPr lang="en-US" sz="1000" dirty="0"/>
          </a:p>
        </p:txBody>
      </p:sp>
      <p:pic>
        <p:nvPicPr>
          <p:cNvPr id="13" name="Image 4" descr="/home/claude/capstone/images/eda_payload_orbit.png">    </p:cNvPr>
          <p:cNvPicPr>
            <a:picLocks noChangeAspect="1"/>
          </p:cNvPicPr>
          <p:nvPr/>
        </p:nvPicPr>
        <p:blipFill>
          <a:blip r:embed="rId5"/>
          <a:stretch>
            <a:fillRect/>
          </a:stretch>
        </p:blipFill>
        <p:spPr>
          <a:xfrm>
            <a:off x="4343400" y="3794760"/>
            <a:ext cx="3657600" cy="1737360"/>
          </a:xfrm>
          <a:prstGeom prst="rect">
            <a:avLst/>
          </a:prstGeom>
        </p:spPr>
      </p:pic>
      <p:sp>
        <p:nvSpPr>
          <p:cNvPr id="14" name="Text 7"/>
          <p:cNvSpPr/>
          <p:nvPr/>
        </p:nvSpPr>
        <p:spPr>
          <a:xfrm>
            <a:off x="4343400" y="5532120"/>
            <a:ext cx="3657600" cy="256032"/>
          </a:xfrm>
          <a:prstGeom prst="rect">
            <a:avLst/>
          </a:prstGeom>
          <a:noFill/>
          <a:ln/>
        </p:spPr>
        <p:txBody>
          <a:bodyPr wrap="square" rtlCol="0" anchor="ctr"/>
          <a:lstStyle/>
          <a:p>
            <a:pPr algn="ctr" indent="0" marL="0">
              <a:buNone/>
            </a:pPr>
            <a:r>
              <a:rPr lang="en-US" sz="1000" b="1" dirty="0">
                <a:solidFill>
                  <a:srgbClr val="0B1F3A"/>
                </a:solidFill>
              </a:rPr>
              <a:t>Payload vs Orbit</a:t>
            </a:r>
            <a:endParaRPr lang="en-US" sz="1000" dirty="0"/>
          </a:p>
        </p:txBody>
      </p:sp>
      <p:pic>
        <p:nvPicPr>
          <p:cNvPr id="15" name="Image 5" descr="/home/claude/capstone/images/eda_yearly_trend.png">    </p:cNvPr>
          <p:cNvPicPr>
            <a:picLocks noChangeAspect="1"/>
          </p:cNvPicPr>
          <p:nvPr/>
        </p:nvPicPr>
        <p:blipFill>
          <a:blip r:embed="rId6"/>
          <a:stretch>
            <a:fillRect/>
          </a:stretch>
        </p:blipFill>
        <p:spPr>
          <a:xfrm>
            <a:off x="8229600" y="3794760"/>
            <a:ext cx="3657600" cy="1737360"/>
          </a:xfrm>
          <a:prstGeom prst="rect">
            <a:avLst/>
          </a:prstGeom>
        </p:spPr>
      </p:pic>
      <p:sp>
        <p:nvSpPr>
          <p:cNvPr id="16" name="Text 8"/>
          <p:cNvSpPr/>
          <p:nvPr/>
        </p:nvSpPr>
        <p:spPr>
          <a:xfrm>
            <a:off x="8229600" y="5532120"/>
            <a:ext cx="3657600" cy="256032"/>
          </a:xfrm>
          <a:prstGeom prst="rect">
            <a:avLst/>
          </a:prstGeom>
          <a:noFill/>
          <a:ln/>
        </p:spPr>
        <p:txBody>
          <a:bodyPr wrap="square" rtlCol="0" anchor="ctr"/>
          <a:lstStyle/>
          <a:p>
            <a:pPr algn="ctr" indent="0" marL="0">
              <a:buNone/>
            </a:pPr>
            <a:r>
              <a:rPr lang="en-US" sz="1000" b="1" dirty="0">
                <a:solidFill>
                  <a:srgbClr val="0B1F3A"/>
                </a:solidFill>
              </a:rPr>
              <a:t>Success Rate by Year</a:t>
            </a:r>
            <a:endParaRPr lang="en-US" sz="1000" dirty="0"/>
          </a:p>
        </p:txBody>
      </p:sp>
      <p:sp>
        <p:nvSpPr>
          <p:cNvPr id="17" name="Text 9"/>
          <p:cNvSpPr/>
          <p:nvPr/>
        </p:nvSpPr>
        <p:spPr>
          <a:xfrm>
            <a:off x="457200" y="6035040"/>
            <a:ext cx="11247120" cy="365760"/>
          </a:xfrm>
          <a:prstGeom prst="rect">
            <a:avLst/>
          </a:prstGeom>
          <a:noFill/>
          <a:ln/>
        </p:spPr>
        <p:txBody>
          <a:bodyPr wrap="square" rtlCol="0" anchor="ctr"/>
          <a:lstStyle/>
          <a:p>
            <a:pPr indent="0" marL="0">
              <a:buNone/>
            </a:pPr>
            <a:r>
              <a:rPr lang="en-US" sz="1000" i="1" dirty="0">
                <a:solidFill>
                  <a:srgbClr val="0B1F3A"/>
                </a:solidFill>
              </a:rPr>
              <a:t>Takeaway: GTO/ISS-orbit missions (heavier, higher-energy) show lower success rates; success climbed year-over-year, from ~0% in 2010–2013 to near 100% by 2019–2020. Chart types used: scatter plots and bar/line charts.</a:t>
            </a:r>
            <a:endParaRPr lang="en-US" sz="1000" dirty="0"/>
          </a:p>
        </p:txBody>
      </p:sp>
      <p:sp>
        <p:nvSpPr>
          <p:cNvPr id="18" name="Text 10"/>
          <p:cNvSpPr/>
          <p:nvPr/>
        </p:nvSpPr>
        <p:spPr>
          <a:xfrm>
            <a:off x="457200" y="6537960"/>
            <a:ext cx="11247120" cy="256032"/>
          </a:xfrm>
          <a:prstGeom prst="rect">
            <a:avLst/>
          </a:prstGeom>
          <a:noFill/>
          <a:ln/>
        </p:spPr>
        <p:txBody>
          <a:bodyPr wrap="square" rtlCol="0" anchor="ctr"/>
          <a:lstStyle/>
          <a:p>
            <a:pPr indent="0" marL="0">
              <a:buNone/>
            </a:pPr>
            <a:r>
              <a:rPr lang="en-US" sz="950" b="1" dirty="0">
                <a:solidFill>
                  <a:srgbClr val="5B6472"/>
                </a:solidFill>
              </a:rPr>
              <a:t>GitHub repository: </a:t>
            </a:r>
            <a:pPr indent="0" marL="0">
              <a:buNone/>
            </a:pPr>
            <a:r>
              <a:rPr lang="en-US" sz="950" u="sng" dirty="0">
                <a:solidFill>
                  <a:srgbClr val="3B60E4"/>
                </a:solidFill>
                <a:hlinkClick r:id="rId7"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https://github.com/razerblade09/spacex-falcon9-capstone/blob/main/notebooks/04_07_eda_sql_ml.py</a:t>
            </a:r>
            <a:endParaRPr lang="en-US" sz="950" dirty="0"/>
          </a:p>
        </p:txBody>
      </p:sp>
      <p:sp>
        <p:nvSpPr>
          <p:cNvPr id="19" name="Text 11"/>
          <p:cNvSpPr/>
          <p:nvPr/>
        </p:nvSpPr>
        <p:spPr>
          <a:xfrm>
            <a:off x="11750040" y="6537960"/>
            <a:ext cx="365760" cy="256032"/>
          </a:xfrm>
          <a:prstGeom prst="rect">
            <a:avLst/>
          </a:prstGeom>
          <a:noFill/>
          <a:ln/>
        </p:spPr>
        <p:txBody>
          <a:bodyPr wrap="square" rtlCol="0" anchor="ctr"/>
          <a:lstStyle/>
          <a:p>
            <a:pPr algn="r" indent="0" marL="0">
              <a:buNone/>
            </a:pPr>
            <a:r>
              <a:rPr lang="en-US" sz="950" dirty="0">
                <a:solidFill>
                  <a:srgbClr val="5B6472"/>
                </a:solidFill>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7315200" cy="256032"/>
          </a:xfrm>
          <a:prstGeom prst="rect">
            <a:avLst/>
          </a:prstGeom>
          <a:noFill/>
          <a:ln/>
        </p:spPr>
        <p:txBody>
          <a:bodyPr wrap="square" rtlCol="0" anchor="ctr"/>
          <a:lstStyle/>
          <a:p>
            <a:pPr indent="0" marL="0">
              <a:buNone/>
            </a:pPr>
            <a:r>
              <a:rPr lang="en-US" sz="1150" b="1" spc="200" kern="0" dirty="0">
                <a:solidFill>
                  <a:srgbClr val="3B60E4"/>
                </a:solidFill>
              </a:rPr>
              <a:t>EXPLORATORY ANALYSIS</a:t>
            </a:r>
            <a:endParaRPr lang="en-US" sz="1150" dirty="0"/>
          </a:p>
        </p:txBody>
      </p:sp>
      <p:sp>
        <p:nvSpPr>
          <p:cNvPr id="3" name="Text 1"/>
          <p:cNvSpPr/>
          <p:nvPr/>
        </p:nvSpPr>
        <p:spPr>
          <a:xfrm>
            <a:off x="457200" y="512064"/>
            <a:ext cx="11247120" cy="548640"/>
          </a:xfrm>
          <a:prstGeom prst="rect">
            <a:avLst/>
          </a:prstGeom>
          <a:noFill/>
          <a:ln/>
        </p:spPr>
        <p:txBody>
          <a:bodyPr wrap="square" rtlCol="0" anchor="ctr"/>
          <a:lstStyle/>
          <a:p>
            <a:pPr indent="0" marL="0">
              <a:buNone/>
            </a:pPr>
            <a:r>
              <a:rPr lang="en-US" sz="2400" b="1" dirty="0">
                <a:solidFill>
                  <a:srgbClr val="0B1F3A"/>
                </a:solidFill>
              </a:rPr>
              <a:t>EDA with SQL</a:t>
            </a:r>
            <a:endParaRPr lang="en-US" sz="2400" dirty="0"/>
          </a:p>
        </p:txBody>
      </p:sp>
      <p:sp>
        <p:nvSpPr>
          <p:cNvPr id="4" name="Text 2"/>
          <p:cNvSpPr/>
          <p:nvPr/>
        </p:nvSpPr>
        <p:spPr>
          <a:xfrm>
            <a:off x="457200" y="1280160"/>
            <a:ext cx="11247120" cy="411480"/>
          </a:xfrm>
          <a:prstGeom prst="rect">
            <a:avLst/>
          </a:prstGeom>
          <a:noFill/>
          <a:ln/>
        </p:spPr>
        <p:txBody>
          <a:bodyPr wrap="square" rtlCol="0" anchor="ctr"/>
          <a:lstStyle/>
          <a:p>
            <a:pPr indent="0" marL="0">
              <a:buNone/>
            </a:pPr>
            <a:r>
              <a:rPr lang="en-US" sz="1200" dirty="0">
                <a:solidFill>
                  <a:srgbClr val="5B6472"/>
                </a:solidFill>
              </a:rPr>
              <a:t>The scraped launch table was loaded into a SQL database (SQLite / IBM Db2) as SPACEXTABLE and queried to answer specific business questions:</a:t>
            </a:r>
            <a:endParaRPr lang="en-US" sz="1200" dirty="0"/>
          </a:p>
        </p:txBody>
      </p:sp>
      <p:sp>
        <p:nvSpPr>
          <p:cNvPr id="5" name="Text 3"/>
          <p:cNvSpPr/>
          <p:nvPr/>
        </p:nvSpPr>
        <p:spPr>
          <a:xfrm>
            <a:off x="457200" y="1783080"/>
            <a:ext cx="5394960" cy="292608"/>
          </a:xfrm>
          <a:prstGeom prst="rect">
            <a:avLst/>
          </a:prstGeom>
          <a:noFill/>
          <a:ln/>
        </p:spPr>
        <p:txBody>
          <a:bodyPr wrap="square" rtlCol="0" anchor="ctr"/>
          <a:lstStyle/>
          <a:p>
            <a:pPr marL="342900" indent="-342900">
              <a:buSzPct val="100000"/>
              <a:buChar char="✓"/>
            </a:pPr>
            <a:r>
              <a:rPr lang="en-US" sz="1050" dirty="0">
                <a:solidFill>
                  <a:srgbClr val="0B1F3A"/>
                </a:solidFill>
              </a:rPr>
              <a:t>Distinct launch sites used</a:t>
            </a:r>
            <a:endParaRPr lang="en-US" sz="1050" dirty="0"/>
          </a:p>
        </p:txBody>
      </p:sp>
      <p:sp>
        <p:nvSpPr>
          <p:cNvPr id="6" name="Text 4"/>
          <p:cNvSpPr/>
          <p:nvPr/>
        </p:nvSpPr>
        <p:spPr>
          <a:xfrm>
            <a:off x="457200" y="2093976"/>
            <a:ext cx="5394960" cy="292608"/>
          </a:xfrm>
          <a:prstGeom prst="rect">
            <a:avLst/>
          </a:prstGeom>
          <a:noFill/>
          <a:ln/>
        </p:spPr>
        <p:txBody>
          <a:bodyPr wrap="square" rtlCol="0" anchor="ctr"/>
          <a:lstStyle/>
          <a:p>
            <a:pPr marL="342900" indent="-342900">
              <a:buSzPct val="100000"/>
              <a:buChar char="✓"/>
            </a:pPr>
            <a:r>
              <a:rPr lang="en-US" sz="1050" dirty="0">
                <a:solidFill>
                  <a:srgbClr val="0B1F3A"/>
                </a:solidFill>
              </a:rPr>
              <a:t>Total payload mass for NASA (CRS)</a:t>
            </a:r>
            <a:endParaRPr lang="en-US" sz="1050" dirty="0"/>
          </a:p>
        </p:txBody>
      </p:sp>
      <p:sp>
        <p:nvSpPr>
          <p:cNvPr id="7" name="Text 5"/>
          <p:cNvSpPr/>
          <p:nvPr/>
        </p:nvSpPr>
        <p:spPr>
          <a:xfrm>
            <a:off x="457200" y="2404872"/>
            <a:ext cx="5394960" cy="292608"/>
          </a:xfrm>
          <a:prstGeom prst="rect">
            <a:avLst/>
          </a:prstGeom>
          <a:noFill/>
          <a:ln/>
        </p:spPr>
        <p:txBody>
          <a:bodyPr wrap="square" rtlCol="0" anchor="ctr"/>
          <a:lstStyle/>
          <a:p>
            <a:pPr marL="342900" indent="-342900">
              <a:buSzPct val="100000"/>
              <a:buChar char="✓"/>
            </a:pPr>
            <a:r>
              <a:rPr lang="en-US" sz="1050" dirty="0">
                <a:solidFill>
                  <a:srgbClr val="0B1F3A"/>
                </a:solidFill>
              </a:rPr>
              <a:t>Avg. payload mass, F9 v1.1 boosters</a:t>
            </a:r>
            <a:endParaRPr lang="en-US" sz="1050" dirty="0"/>
          </a:p>
        </p:txBody>
      </p:sp>
      <p:sp>
        <p:nvSpPr>
          <p:cNvPr id="8" name="Text 6"/>
          <p:cNvSpPr/>
          <p:nvPr/>
        </p:nvSpPr>
        <p:spPr>
          <a:xfrm>
            <a:off x="457200" y="2715768"/>
            <a:ext cx="5394960" cy="292608"/>
          </a:xfrm>
          <a:prstGeom prst="rect">
            <a:avLst/>
          </a:prstGeom>
          <a:noFill/>
          <a:ln/>
        </p:spPr>
        <p:txBody>
          <a:bodyPr wrap="square" rtlCol="0" anchor="ctr"/>
          <a:lstStyle/>
          <a:p>
            <a:pPr marL="342900" indent="-342900">
              <a:buSzPct val="100000"/>
              <a:buChar char="✓"/>
            </a:pPr>
            <a:r>
              <a:rPr lang="en-US" sz="1050" dirty="0">
                <a:solidFill>
                  <a:srgbClr val="0B1F3A"/>
                </a:solidFill>
              </a:rPr>
              <a:t>Date of first successful ground-pad landing</a:t>
            </a:r>
            <a:endParaRPr lang="en-US" sz="1050" dirty="0"/>
          </a:p>
        </p:txBody>
      </p:sp>
      <p:sp>
        <p:nvSpPr>
          <p:cNvPr id="9" name="Text 7"/>
          <p:cNvSpPr/>
          <p:nvPr/>
        </p:nvSpPr>
        <p:spPr>
          <a:xfrm>
            <a:off x="457200" y="3026664"/>
            <a:ext cx="5394960" cy="292608"/>
          </a:xfrm>
          <a:prstGeom prst="rect">
            <a:avLst/>
          </a:prstGeom>
          <a:noFill/>
          <a:ln/>
        </p:spPr>
        <p:txBody>
          <a:bodyPr wrap="square" rtlCol="0" anchor="ctr"/>
          <a:lstStyle/>
          <a:p>
            <a:pPr marL="342900" indent="-342900">
              <a:buSzPct val="100000"/>
              <a:buChar char="✓"/>
            </a:pPr>
            <a:r>
              <a:rPr lang="en-US" sz="1050" dirty="0">
                <a:solidFill>
                  <a:srgbClr val="0B1F3A"/>
                </a:solidFill>
              </a:rPr>
              <a:t>Boosters landing on drone ship, 4–6t payload</a:t>
            </a:r>
            <a:endParaRPr lang="en-US" sz="1050" dirty="0"/>
          </a:p>
        </p:txBody>
      </p:sp>
      <p:sp>
        <p:nvSpPr>
          <p:cNvPr id="10" name="Text 8"/>
          <p:cNvSpPr/>
          <p:nvPr/>
        </p:nvSpPr>
        <p:spPr>
          <a:xfrm>
            <a:off x="5943600" y="1783080"/>
            <a:ext cx="5394960" cy="292608"/>
          </a:xfrm>
          <a:prstGeom prst="rect">
            <a:avLst/>
          </a:prstGeom>
          <a:noFill/>
          <a:ln/>
        </p:spPr>
        <p:txBody>
          <a:bodyPr wrap="square" rtlCol="0" anchor="ctr"/>
          <a:lstStyle/>
          <a:p>
            <a:pPr marL="342900" indent="-342900">
              <a:buSzPct val="100000"/>
              <a:buChar char="✓"/>
            </a:pPr>
            <a:r>
              <a:rPr lang="en-US" sz="1050" dirty="0">
                <a:solidFill>
                  <a:srgbClr val="0B1F3A"/>
                </a:solidFill>
              </a:rPr>
              <a:t>Count of each mission outcome</a:t>
            </a:r>
            <a:endParaRPr lang="en-US" sz="1050" dirty="0"/>
          </a:p>
        </p:txBody>
      </p:sp>
      <p:sp>
        <p:nvSpPr>
          <p:cNvPr id="11" name="Text 9"/>
          <p:cNvSpPr/>
          <p:nvPr/>
        </p:nvSpPr>
        <p:spPr>
          <a:xfrm>
            <a:off x="5943600" y="2093976"/>
            <a:ext cx="5394960" cy="292608"/>
          </a:xfrm>
          <a:prstGeom prst="rect">
            <a:avLst/>
          </a:prstGeom>
          <a:noFill/>
          <a:ln/>
        </p:spPr>
        <p:txBody>
          <a:bodyPr wrap="square" rtlCol="0" anchor="ctr"/>
          <a:lstStyle/>
          <a:p>
            <a:pPr marL="342900" indent="-342900">
              <a:buSzPct val="100000"/>
              <a:buChar char="✓"/>
            </a:pPr>
            <a:r>
              <a:rPr lang="en-US" sz="1050" dirty="0">
                <a:solidFill>
                  <a:srgbClr val="0B1F3A"/>
                </a:solidFill>
              </a:rPr>
              <a:t>Booster(s) carrying max payload mass</a:t>
            </a:r>
            <a:endParaRPr lang="en-US" sz="1050" dirty="0"/>
          </a:p>
        </p:txBody>
      </p:sp>
      <p:sp>
        <p:nvSpPr>
          <p:cNvPr id="12" name="Text 10"/>
          <p:cNvSpPr/>
          <p:nvPr/>
        </p:nvSpPr>
        <p:spPr>
          <a:xfrm>
            <a:off x="5943600" y="2404872"/>
            <a:ext cx="5394960" cy="292608"/>
          </a:xfrm>
          <a:prstGeom prst="rect">
            <a:avLst/>
          </a:prstGeom>
          <a:noFill/>
          <a:ln/>
        </p:spPr>
        <p:txBody>
          <a:bodyPr wrap="square" rtlCol="0" anchor="ctr"/>
          <a:lstStyle/>
          <a:p>
            <a:pPr marL="342900" indent="-342900">
              <a:buSzPct val="100000"/>
              <a:buChar char="✓"/>
            </a:pPr>
            <a:r>
              <a:rPr lang="en-US" sz="1050" dirty="0">
                <a:solidFill>
                  <a:srgbClr val="0B1F3A"/>
                </a:solidFill>
              </a:rPr>
              <a:t>Failed drone-ship landings in 2015</a:t>
            </a:r>
            <a:endParaRPr lang="en-US" sz="1050" dirty="0"/>
          </a:p>
        </p:txBody>
      </p:sp>
      <p:sp>
        <p:nvSpPr>
          <p:cNvPr id="13" name="Text 11"/>
          <p:cNvSpPr/>
          <p:nvPr/>
        </p:nvSpPr>
        <p:spPr>
          <a:xfrm>
            <a:off x="5943600" y="2715768"/>
            <a:ext cx="5394960" cy="292608"/>
          </a:xfrm>
          <a:prstGeom prst="rect">
            <a:avLst/>
          </a:prstGeom>
          <a:noFill/>
          <a:ln/>
        </p:spPr>
        <p:txBody>
          <a:bodyPr wrap="square" rtlCol="0" anchor="ctr"/>
          <a:lstStyle/>
          <a:p>
            <a:pPr marL="342900" indent="-342900">
              <a:buSzPct val="100000"/>
              <a:buChar char="✓"/>
            </a:pPr>
            <a:r>
              <a:rPr lang="en-US" sz="1050" dirty="0">
                <a:solidFill>
                  <a:srgbClr val="0B1F3A"/>
                </a:solidFill>
              </a:rPr>
              <a:t>Ranking of landing outcomes 2010–2017</a:t>
            </a:r>
            <a:endParaRPr lang="en-US" sz="1050" dirty="0"/>
          </a:p>
        </p:txBody>
      </p:sp>
      <p:sp>
        <p:nvSpPr>
          <p:cNvPr id="14" name="Shape 12"/>
          <p:cNvSpPr/>
          <p:nvPr/>
        </p:nvSpPr>
        <p:spPr>
          <a:xfrm>
            <a:off x="457200" y="3520440"/>
            <a:ext cx="5394960" cy="2743200"/>
          </a:xfrm>
          <a:prstGeom prst="roundRect">
            <a:avLst>
              <a:gd name="adj" fmla="val 2667"/>
            </a:avLst>
          </a:prstGeom>
          <a:solidFill>
            <a:srgbClr val="F4F7FC"/>
          </a:solidFill>
          <a:ln/>
        </p:spPr>
      </p:sp>
      <p:sp>
        <p:nvSpPr>
          <p:cNvPr id="15" name="Text 13"/>
          <p:cNvSpPr/>
          <p:nvPr/>
        </p:nvSpPr>
        <p:spPr>
          <a:xfrm>
            <a:off x="640080" y="3611880"/>
            <a:ext cx="5029200" cy="292608"/>
          </a:xfrm>
          <a:prstGeom prst="rect">
            <a:avLst/>
          </a:prstGeom>
          <a:noFill/>
          <a:ln/>
        </p:spPr>
        <p:txBody>
          <a:bodyPr wrap="square" rtlCol="0" anchor="ctr"/>
          <a:lstStyle/>
          <a:p>
            <a:pPr indent="0" marL="0">
              <a:buNone/>
            </a:pPr>
            <a:r>
              <a:rPr lang="en-US" sz="1200" b="1" dirty="0">
                <a:solidFill>
                  <a:srgbClr val="0B1F3A"/>
                </a:solidFill>
              </a:rPr>
              <a:t>Query Results</a:t>
            </a:r>
            <a:endParaRPr lang="en-US" sz="1200" dirty="0"/>
          </a:p>
        </p:txBody>
      </p:sp>
      <p:sp>
        <p:nvSpPr>
          <p:cNvPr id="16" name="Text 14"/>
          <p:cNvSpPr/>
          <p:nvPr/>
        </p:nvSpPr>
        <p:spPr>
          <a:xfrm>
            <a:off x="640080" y="3931920"/>
            <a:ext cx="5029200" cy="2240280"/>
          </a:xfrm>
          <a:prstGeom prst="rect">
            <a:avLst/>
          </a:prstGeom>
          <a:noFill/>
          <a:ln/>
        </p:spPr>
        <p:txBody>
          <a:bodyPr wrap="square" rtlCol="0" anchor="ctr"/>
          <a:lstStyle/>
          <a:p>
            <a:pPr indent="0" marL="0">
              <a:lnSpc>
                <a:spcPts val="1400"/>
              </a:lnSpc>
              <a:buNone/>
            </a:pPr>
            <a:r>
              <a:rPr lang="en-US" sz="950" b="1" dirty="0">
                <a:solidFill>
                  <a:srgbClr val="5B6472"/>
                </a:solidFill>
              </a:rPr>
              <a:t>4 launch sites: </a:t>
            </a:r>
            <a:pPr indent="0" marL="0">
              <a:lnSpc>
                <a:spcPts val="1400"/>
              </a:lnSpc>
              <a:buNone/>
            </a:pPr>
            <a:r>
              <a:rPr lang="en-US" sz="950" dirty="0">
                <a:solidFill>
                  <a:srgbClr val="5B6472"/>
                </a:solidFill>
              </a:rPr>
              <a:t>CCAFS LC-40, CCAFS SLC-40, KSC LC-39A, VAFB SLC-4E
</a:t>
            </a:r>
            <a:pPr indent="0" marL="0">
              <a:lnSpc>
                <a:spcPts val="1400"/>
              </a:lnSpc>
              <a:buNone/>
            </a:pPr>
            <a:r>
              <a:rPr lang="en-US" sz="950" b="1" dirty="0">
                <a:solidFill>
                  <a:srgbClr val="5B6472"/>
                </a:solidFill>
              </a:rPr>
              <a:t>NASA (CRS) total payload: </a:t>
            </a:r>
            <a:pPr indent="0" marL="0">
              <a:lnSpc>
                <a:spcPts val="1400"/>
              </a:lnSpc>
              <a:buNone/>
            </a:pPr>
            <a:r>
              <a:rPr lang="en-US" sz="950" dirty="0">
                <a:solidFill>
                  <a:srgbClr val="5B6472"/>
                </a:solidFill>
              </a:rPr>
              <a:t>45,596 kg
</a:t>
            </a:r>
            <a:pPr indent="0" marL="0">
              <a:lnSpc>
                <a:spcPts val="1400"/>
              </a:lnSpc>
              <a:buNone/>
            </a:pPr>
            <a:r>
              <a:rPr lang="en-US" sz="950" b="1" dirty="0">
                <a:solidFill>
                  <a:srgbClr val="5B6472"/>
                </a:solidFill>
              </a:rPr>
              <a:t>Max single payload: </a:t>
            </a:r>
            <a:pPr indent="0" marL="0">
              <a:lnSpc>
                <a:spcPts val="1400"/>
              </a:lnSpc>
              <a:buNone/>
            </a:pPr>
            <a:r>
              <a:rPr lang="en-US" sz="950" dirty="0">
                <a:solidFill>
                  <a:srgbClr val="5B6472"/>
                </a:solidFill>
              </a:rPr>
              <a:t>15,600 kg (F9 B5)
</a:t>
            </a:r>
            <a:pPr indent="0" marL="0">
              <a:lnSpc>
                <a:spcPts val="1400"/>
              </a:lnSpc>
              <a:buNone/>
            </a:pPr>
            <a:r>
              <a:rPr lang="en-US" sz="950" b="1" dirty="0">
                <a:solidFill>
                  <a:srgbClr val="5B6472"/>
                </a:solidFill>
              </a:rPr>
              <a:t>First successful ground-pad landing: </a:t>
            </a:r>
            <a:pPr indent="0" marL="0">
              <a:lnSpc>
                <a:spcPts val="1400"/>
              </a:lnSpc>
              <a:buNone/>
            </a:pPr>
            <a:r>
              <a:rPr lang="en-US" sz="950" dirty="0">
                <a:solidFill>
                  <a:srgbClr val="5B6472"/>
                </a:solidFill>
              </a:rPr>
              <a:t>1 May 2017
</a:t>
            </a:r>
            <a:pPr indent="0" marL="0">
              <a:lnSpc>
                <a:spcPts val="1400"/>
              </a:lnSpc>
              <a:buNone/>
            </a:pPr>
            <a:r>
              <a:rPr lang="en-US" sz="950" b="1" dirty="0">
                <a:solidFill>
                  <a:srgbClr val="5B6472"/>
                </a:solidFill>
              </a:rPr>
              <a:t>Mission outcomes 2010–2020: </a:t>
            </a:r>
            <a:pPr indent="0" marL="0">
              <a:lnSpc>
                <a:spcPts val="1400"/>
              </a:lnSpc>
              <a:buNone/>
            </a:pPr>
            <a:r>
              <a:rPr lang="en-US" sz="950" dirty="0">
                <a:solidFill>
                  <a:srgbClr val="5B6472"/>
                </a:solidFill>
              </a:rPr>
              <a:t>98 of 101 successful (booster-recovery success is the separate, harder metric this model targets)</a:t>
            </a:r>
            <a:endParaRPr lang="en-US" sz="950" dirty="0"/>
          </a:p>
        </p:txBody>
      </p:sp>
      <p:sp>
        <p:nvSpPr>
          <p:cNvPr id="17" name="Shape 15"/>
          <p:cNvSpPr/>
          <p:nvPr/>
        </p:nvSpPr>
        <p:spPr>
          <a:xfrm>
            <a:off x="5943600" y="3520440"/>
            <a:ext cx="5394960" cy="2743200"/>
          </a:xfrm>
          <a:prstGeom prst="roundRect">
            <a:avLst>
              <a:gd name="adj" fmla="val 2667"/>
            </a:avLst>
          </a:prstGeom>
          <a:solidFill>
            <a:srgbClr val="F4F7FC"/>
          </a:solidFill>
          <a:ln/>
        </p:spPr>
      </p:sp>
      <p:sp>
        <p:nvSpPr>
          <p:cNvPr id="18" name="Text 16"/>
          <p:cNvSpPr/>
          <p:nvPr/>
        </p:nvSpPr>
        <p:spPr>
          <a:xfrm>
            <a:off x="6126480" y="3611880"/>
            <a:ext cx="5029200" cy="292608"/>
          </a:xfrm>
          <a:prstGeom prst="rect">
            <a:avLst/>
          </a:prstGeom>
          <a:noFill/>
          <a:ln/>
        </p:spPr>
        <p:txBody>
          <a:bodyPr wrap="square" rtlCol="0" anchor="ctr"/>
          <a:lstStyle/>
          <a:p>
            <a:pPr indent="0" marL="0">
              <a:buNone/>
            </a:pPr>
            <a:r>
              <a:rPr lang="en-US" sz="1200" b="1" dirty="0">
                <a:solidFill>
                  <a:srgbClr val="0B1F3A"/>
                </a:solidFill>
              </a:rPr>
              <a:t>Landing Outcome Ranking (2010–2017, top 5)</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126480" y="3931920"/>
          <a:ext cx="5029200" cy="1920240"/>
        </p:xfrm>
        <a:graphic>
          <a:graphicData uri="http://schemas.openxmlformats.org/drawingml/2006/table">
            <a:tbl>
              <a:tblPr/>
              <a:tblGrid>
                <a:gridCol w="3657600"/>
                <a:gridCol w="1371600"/>
              </a:tblGrid>
              <a:tr h="320040">
                <a:tc>
                  <a:txBody>
                    <a:bodyPr/>
                    <a:lstStyle/>
                    <a:p>
                      <a:pPr indent="0" marL="0">
                        <a:buNone/>
                      </a:pPr>
                      <a:r>
                        <a:rPr lang="en-US" sz="1000" b="1" dirty="0">
                          <a:solidFill>
                            <a:srgbClr val="FFFFFF"/>
                          </a:solidFill>
                        </a:rPr>
                        <a:t>Outcome</a:t>
                      </a:r>
                      <a:endParaRPr lang="en-US" sz="10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3B60E4"/>
                    </a:solidFill>
                  </a:tcPr>
                </a:tc>
                <a:tc>
                  <a:txBody>
                    <a:bodyPr/>
                    <a:lstStyle/>
                    <a:p>
                      <a:pPr indent="0" marL="0">
                        <a:buNone/>
                      </a:pPr>
                      <a:r>
                        <a:rPr lang="en-US" sz="1000" b="1" dirty="0">
                          <a:solidFill>
                            <a:srgbClr val="FFFFFF"/>
                          </a:solidFill>
                        </a:rPr>
                        <a:t>Count</a:t>
                      </a:r>
                      <a:endParaRPr lang="en-US" sz="10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3B60E4"/>
                    </a:solidFill>
                  </a:tcPr>
                </a:tc>
              </a:tr>
              <a:tr h="320040">
                <a:tc>
                  <a:txBody>
                    <a:bodyPr/>
                    <a:lstStyle/>
                    <a:p>
                      <a:pPr indent="0" marL="0">
                        <a:buNone/>
                      </a:pPr>
                      <a:r>
                        <a:rPr lang="en-US" sz="1000" dirty="0">
                          <a:solidFill>
                            <a:srgbClr val="0B1F3A"/>
                          </a:solidFill>
                        </a:rPr>
                        <a:t>Success</a:t>
                      </a:r>
                      <a:endParaRPr lang="en-US" sz="10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000" dirty="0">
                          <a:solidFill>
                            <a:srgbClr val="0B1F3A"/>
                          </a:solidFill>
                        </a:rPr>
                        <a:t>20</a:t>
                      </a:r>
                      <a:endParaRPr lang="en-US" sz="10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20040">
                <a:tc>
                  <a:txBody>
                    <a:bodyPr/>
                    <a:lstStyle/>
                    <a:p>
                      <a:pPr indent="0" marL="0">
                        <a:buNone/>
                      </a:pPr>
                      <a:r>
                        <a:rPr lang="en-US" sz="1000" dirty="0">
                          <a:solidFill>
                            <a:srgbClr val="0B1F3A"/>
                          </a:solidFill>
                        </a:rPr>
                        <a:t>No attempt</a:t>
                      </a:r>
                      <a:endParaRPr lang="en-US" sz="10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000" dirty="0">
                          <a:solidFill>
                            <a:srgbClr val="0B1F3A"/>
                          </a:solidFill>
                        </a:rPr>
                        <a:t>10</a:t>
                      </a:r>
                      <a:endParaRPr lang="en-US" sz="10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20040">
                <a:tc>
                  <a:txBody>
                    <a:bodyPr/>
                    <a:lstStyle/>
                    <a:p>
                      <a:pPr indent="0" marL="0">
                        <a:buNone/>
                      </a:pPr>
                      <a:r>
                        <a:rPr lang="en-US" sz="1000" dirty="0">
                          <a:solidFill>
                            <a:srgbClr val="0B1F3A"/>
                          </a:solidFill>
                        </a:rPr>
                        <a:t>Success (drone ship)</a:t>
                      </a:r>
                      <a:endParaRPr lang="en-US" sz="10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000" dirty="0">
                          <a:solidFill>
                            <a:srgbClr val="0B1F3A"/>
                          </a:solidFill>
                        </a:rPr>
                        <a:t>8</a:t>
                      </a:r>
                      <a:endParaRPr lang="en-US" sz="10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20040">
                <a:tc>
                  <a:txBody>
                    <a:bodyPr/>
                    <a:lstStyle/>
                    <a:p>
                      <a:pPr indent="0" marL="0">
                        <a:buNone/>
                      </a:pPr>
                      <a:r>
                        <a:rPr lang="en-US" sz="1000" dirty="0">
                          <a:solidFill>
                            <a:srgbClr val="0B1F3A"/>
                          </a:solidFill>
                        </a:rPr>
                        <a:t>Success (ground pad)</a:t>
                      </a:r>
                      <a:endParaRPr lang="en-US" sz="10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000" dirty="0">
                          <a:solidFill>
                            <a:srgbClr val="0B1F3A"/>
                          </a:solidFill>
                        </a:rPr>
                        <a:t>6</a:t>
                      </a:r>
                      <a:endParaRPr lang="en-US" sz="10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20040">
                <a:tc>
                  <a:txBody>
                    <a:bodyPr/>
                    <a:lstStyle/>
                    <a:p>
                      <a:pPr indent="0" marL="0">
                        <a:buNone/>
                      </a:pPr>
                      <a:r>
                        <a:rPr lang="en-US" sz="1000" dirty="0">
                          <a:solidFill>
                            <a:srgbClr val="0B1F3A"/>
                          </a:solidFill>
                        </a:rPr>
                        <a:t>Failure (drone ship)</a:t>
                      </a:r>
                      <a:endParaRPr lang="en-US" sz="10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000" dirty="0">
                          <a:solidFill>
                            <a:srgbClr val="0B1F3A"/>
                          </a:solidFill>
                        </a:rPr>
                        <a:t>4</a:t>
                      </a:r>
                      <a:endParaRPr lang="en-US" sz="10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bl>
          </a:graphicData>
        </a:graphic>
      </p:graphicFrame>
      <p:sp>
        <p:nvSpPr>
          <p:cNvPr id="20" name="Text 17"/>
          <p:cNvSpPr/>
          <p:nvPr/>
        </p:nvSpPr>
        <p:spPr>
          <a:xfrm>
            <a:off x="457200" y="6537960"/>
            <a:ext cx="11247120" cy="256032"/>
          </a:xfrm>
          <a:prstGeom prst="rect">
            <a:avLst/>
          </a:prstGeom>
          <a:noFill/>
          <a:ln/>
        </p:spPr>
        <p:txBody>
          <a:bodyPr wrap="square" rtlCol="0" anchor="ctr"/>
          <a:lstStyle/>
          <a:p>
            <a:pPr indent="0" marL="0">
              <a:buNone/>
            </a:pPr>
            <a:r>
              <a:rPr lang="en-US" sz="950" b="1" dirty="0">
                <a:solidFill>
                  <a:srgbClr val="5B6472"/>
                </a:solidFill>
              </a:rPr>
              <a:t>GitHub repository: </a:t>
            </a:r>
            <a:pPr indent="0" marL="0">
              <a:buNone/>
            </a:pPr>
            <a:r>
              <a:rPr lang="en-US" sz="9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https://github.com/razerblade09/spacex-falcon9-capstone/blob/main/notebooks/04_07_eda_sql_ml.py</a:t>
            </a:r>
            <a:endParaRPr lang="en-US" sz="950" dirty="0"/>
          </a:p>
        </p:txBody>
      </p:sp>
      <p:sp>
        <p:nvSpPr>
          <p:cNvPr id="21" name="Text 18"/>
          <p:cNvSpPr/>
          <p:nvPr/>
        </p:nvSpPr>
        <p:spPr>
          <a:xfrm>
            <a:off x="11750040" y="6537960"/>
            <a:ext cx="365760" cy="256032"/>
          </a:xfrm>
          <a:prstGeom prst="rect">
            <a:avLst/>
          </a:prstGeom>
          <a:noFill/>
          <a:ln/>
        </p:spPr>
        <p:txBody>
          <a:bodyPr wrap="square" rtlCol="0" anchor="ctr"/>
          <a:lstStyle/>
          <a:p>
            <a:pPr algn="r" indent="0" marL="0">
              <a:buNone/>
            </a:pPr>
            <a:r>
              <a:rPr lang="en-US" sz="950" dirty="0">
                <a:solidFill>
                  <a:srgbClr val="5B6472"/>
                </a:solidFill>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7315200" cy="256032"/>
          </a:xfrm>
          <a:prstGeom prst="rect">
            <a:avLst/>
          </a:prstGeom>
          <a:noFill/>
          <a:ln/>
        </p:spPr>
        <p:txBody>
          <a:bodyPr wrap="square" rtlCol="0" anchor="ctr"/>
          <a:lstStyle/>
          <a:p>
            <a:pPr indent="0" marL="0">
              <a:buNone/>
            </a:pPr>
            <a:r>
              <a:rPr lang="en-US" sz="1150" b="1" spc="200" kern="0" dirty="0">
                <a:solidFill>
                  <a:srgbClr val="3B60E4"/>
                </a:solidFill>
              </a:rPr>
              <a:t>INTERACTIVE VISUAL ANALYTICS</a:t>
            </a:r>
            <a:endParaRPr lang="en-US" sz="1150" dirty="0"/>
          </a:p>
        </p:txBody>
      </p:sp>
      <p:sp>
        <p:nvSpPr>
          <p:cNvPr id="3" name="Text 1"/>
          <p:cNvSpPr/>
          <p:nvPr/>
        </p:nvSpPr>
        <p:spPr>
          <a:xfrm>
            <a:off x="457200" y="512064"/>
            <a:ext cx="11247120" cy="548640"/>
          </a:xfrm>
          <a:prstGeom prst="rect">
            <a:avLst/>
          </a:prstGeom>
          <a:noFill/>
          <a:ln/>
        </p:spPr>
        <p:txBody>
          <a:bodyPr wrap="square" rtlCol="0" anchor="ctr"/>
          <a:lstStyle/>
          <a:p>
            <a:pPr indent="0" marL="0">
              <a:buNone/>
            </a:pPr>
            <a:r>
              <a:rPr lang="en-US" sz="2400" b="1" dirty="0">
                <a:solidFill>
                  <a:srgbClr val="0B1F3A"/>
                </a:solidFill>
              </a:rPr>
              <a:t>Folium Map</a:t>
            </a:r>
            <a:endParaRPr lang="en-US" sz="2400" dirty="0"/>
          </a:p>
        </p:txBody>
      </p:sp>
      <p:pic>
        <p:nvPicPr>
          <p:cNvPr id="4" name="Image 0" descr="/home/claude/capstone/images/folium_static_view.png">    </p:cNvPr>
          <p:cNvPicPr>
            <a:picLocks noChangeAspect="1"/>
          </p:cNvPicPr>
          <p:nvPr/>
        </p:nvPicPr>
        <p:blipFill>
          <a:blip r:embed="rId1"/>
          <a:stretch>
            <a:fillRect/>
          </a:stretch>
        </p:blipFill>
        <p:spPr>
          <a:xfrm>
            <a:off x="457200" y="1371600"/>
            <a:ext cx="6583680" cy="4114800"/>
          </a:xfrm>
          <a:prstGeom prst="rect">
            <a:avLst/>
          </a:prstGeom>
        </p:spPr>
      </p:pic>
      <p:sp>
        <p:nvSpPr>
          <p:cNvPr id="5" name="Text 2"/>
          <p:cNvSpPr/>
          <p:nvPr/>
        </p:nvSpPr>
        <p:spPr>
          <a:xfrm>
            <a:off x="7269480" y="1371600"/>
            <a:ext cx="4434840" cy="5029200"/>
          </a:xfrm>
          <a:prstGeom prst="rect">
            <a:avLst/>
          </a:prstGeom>
          <a:noFill/>
          <a:ln/>
        </p:spPr>
        <p:txBody>
          <a:bodyPr wrap="square" rtlCol="0" anchor="ctr"/>
          <a:lstStyle/>
          <a:p>
            <a:pPr indent="0" marL="0">
              <a:lnSpc>
                <a:spcPts val="1600"/>
              </a:lnSpc>
              <a:buNone/>
            </a:pPr>
            <a:r>
              <a:rPr lang="en-US" sz="1100" b="1" dirty="0">
                <a:solidFill>
                  <a:srgbClr val="0B1F3A"/>
                </a:solidFill>
              </a:rPr>
              <a:t>All 4 launch sites plotted with markers. </a:t>
            </a:r>
            <a:pPr indent="0" marL="0">
              <a:lnSpc>
                <a:spcPts val="1600"/>
              </a:lnSpc>
              <a:buNone/>
            </a:pPr>
            <a:r>
              <a:rPr lang="en-US" sz="1100" dirty="0">
                <a:solidFill>
                  <a:srgbClr val="5B6472"/>
                </a:solidFill>
              </a:rPr>
              <a:t>Every individual launch (55 records) is a marker, colored green for a successful landing and red for a failed/no-attempt landing — showing which sites cluster more successes.
</a:t>
            </a:r>
            <a:pPr indent="0" marL="0">
              <a:lnSpc>
                <a:spcPts val="1600"/>
              </a:lnSpc>
              <a:buNone/>
            </a:pPr>
            <a:r>
              <a:rPr lang="en-US" sz="1100" b="1" dirty="0">
                <a:solidFill>
                  <a:srgbClr val="0B1F3A"/>
                </a:solidFill>
              </a:rPr>
              <a:t>Observation: </a:t>
            </a:r>
            <a:pPr indent="0" marL="0">
              <a:lnSpc>
                <a:spcPts val="1600"/>
              </a:lnSpc>
              <a:buNone/>
            </a:pPr>
            <a:r>
              <a:rPr lang="en-US" sz="1100" dirty="0">
                <a:solidFill>
                  <a:srgbClr val="5B6472"/>
                </a:solidFill>
              </a:rPr>
              <a:t>KSC LC-39A and CCAFS SLC-40 show visibly denser green clusters than VAFB SLC-4E, consistent with higher launch cadence and a more refined recovery process.
</a:t>
            </a:r>
            <a:pPr indent="0" marL="0">
              <a:lnSpc>
                <a:spcPts val="1600"/>
              </a:lnSpc>
              <a:buNone/>
            </a:pPr>
            <a:r>
              <a:rPr lang="en-US" sz="1100" b="1" dirty="0">
                <a:solidFill>
                  <a:srgbClr val="0B1F3A"/>
                </a:solidFill>
              </a:rPr>
              <a:t>Proximity analysis (haversine distance from KSC LC-39A): </a:t>
            </a:r>
            <a:pPr indent="0" marL="0">
              <a:lnSpc>
                <a:spcPts val="1600"/>
              </a:lnSpc>
              <a:buNone/>
            </a:pPr>
            <a:r>
              <a:rPr lang="en-US" sz="1100" dirty="0">
                <a:solidFill>
                  <a:srgbClr val="5B6472"/>
                </a:solidFill>
              </a:rPr>
              <a:t>nearest coastline point 7.43 km; nearest city (Titusville area) 20.50 km. Sites are deliberately close to coastlines for downrange safety but a safe distance from population centers — a siting constraint any competing provider must replicate.</a:t>
            </a:r>
            <a:endParaRPr lang="en-US" sz="1100" dirty="0"/>
          </a:p>
        </p:txBody>
      </p:sp>
      <p:sp>
        <p:nvSpPr>
          <p:cNvPr id="6" name="Text 3"/>
          <p:cNvSpPr/>
          <p:nvPr/>
        </p:nvSpPr>
        <p:spPr>
          <a:xfrm>
            <a:off x="457200" y="6537960"/>
            <a:ext cx="11247120" cy="256032"/>
          </a:xfrm>
          <a:prstGeom prst="rect">
            <a:avLst/>
          </a:prstGeom>
          <a:noFill/>
          <a:ln/>
        </p:spPr>
        <p:txBody>
          <a:bodyPr wrap="square" rtlCol="0" anchor="ctr"/>
          <a:lstStyle/>
          <a:p>
            <a:pPr indent="0" marL="0">
              <a:buNone/>
            </a:pPr>
            <a:r>
              <a:rPr lang="en-US" sz="950" b="1" dirty="0">
                <a:solidFill>
                  <a:srgbClr val="5B6472"/>
                </a:solidFill>
              </a:rPr>
              <a:t>GitHub repository: </a:t>
            </a:r>
            <a:pPr indent="0" marL="0">
              <a:buNone/>
            </a:pPr>
            <a:r>
              <a:rPr lang="en-US" sz="950" u="sng" dirty="0">
                <a:solidFill>
                  <a:srgbClr val="3B60E4"/>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https://github.com/razerblade09/spacex-falcon9-capstone/blob/main/notebooks/06_folium_map.py</a:t>
            </a:r>
            <a:endParaRPr lang="en-US" sz="950" dirty="0"/>
          </a:p>
        </p:txBody>
      </p:sp>
      <p:sp>
        <p:nvSpPr>
          <p:cNvPr id="7" name="Text 4"/>
          <p:cNvSpPr/>
          <p:nvPr/>
        </p:nvSpPr>
        <p:spPr>
          <a:xfrm>
            <a:off x="11750040" y="6537960"/>
            <a:ext cx="365760" cy="256032"/>
          </a:xfrm>
          <a:prstGeom prst="rect">
            <a:avLst/>
          </a:prstGeom>
          <a:noFill/>
          <a:ln/>
        </p:spPr>
        <p:txBody>
          <a:bodyPr wrap="square" rtlCol="0" anchor="ctr"/>
          <a:lstStyle/>
          <a:p>
            <a:pPr algn="r" indent="0" marL="0">
              <a:buNone/>
            </a:pPr>
            <a:r>
              <a:rPr lang="en-US" sz="950" dirty="0">
                <a:solidFill>
                  <a:srgbClr val="5B6472"/>
                </a:solidFill>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7315200" cy="256032"/>
          </a:xfrm>
          <a:prstGeom prst="rect">
            <a:avLst/>
          </a:prstGeom>
          <a:noFill/>
          <a:ln/>
        </p:spPr>
        <p:txBody>
          <a:bodyPr wrap="square" rtlCol="0" anchor="ctr"/>
          <a:lstStyle/>
          <a:p>
            <a:pPr indent="0" marL="0">
              <a:buNone/>
            </a:pPr>
            <a:r>
              <a:rPr lang="en-US" sz="1150" b="1" spc="200" kern="0" dirty="0">
                <a:solidFill>
                  <a:srgbClr val="3B60E4"/>
                </a:solidFill>
              </a:rPr>
              <a:t>INTERACTIVE VISUAL ANALYTICS</a:t>
            </a:r>
            <a:endParaRPr lang="en-US" sz="1150" dirty="0"/>
          </a:p>
        </p:txBody>
      </p:sp>
      <p:sp>
        <p:nvSpPr>
          <p:cNvPr id="3" name="Text 1"/>
          <p:cNvSpPr/>
          <p:nvPr/>
        </p:nvSpPr>
        <p:spPr>
          <a:xfrm>
            <a:off x="457200" y="512064"/>
            <a:ext cx="11247120" cy="548640"/>
          </a:xfrm>
          <a:prstGeom prst="rect">
            <a:avLst/>
          </a:prstGeom>
          <a:noFill/>
          <a:ln/>
        </p:spPr>
        <p:txBody>
          <a:bodyPr wrap="square" rtlCol="0" anchor="ctr"/>
          <a:lstStyle/>
          <a:p>
            <a:pPr indent="0" marL="0">
              <a:buNone/>
            </a:pPr>
            <a:r>
              <a:rPr lang="en-US" sz="2400" b="1" dirty="0">
                <a:solidFill>
                  <a:srgbClr val="0B1F3A"/>
                </a:solidFill>
              </a:rPr>
              <a:t>Plotly Dash App</a:t>
            </a:r>
            <a:endParaRPr lang="en-US" sz="2400" dirty="0"/>
          </a:p>
        </p:txBody>
      </p:sp>
      <p:pic>
        <p:nvPicPr>
          <p:cNvPr id="4" name="Image 0" descr="/home/claude/capstone/images/dash_pie_all_sites.png">    </p:cNvPr>
          <p:cNvPicPr>
            <a:picLocks noChangeAspect="1"/>
          </p:cNvPicPr>
          <p:nvPr/>
        </p:nvPicPr>
        <p:blipFill>
          <a:blip r:embed="rId1"/>
          <a:stretch>
            <a:fillRect/>
          </a:stretch>
        </p:blipFill>
        <p:spPr>
          <a:xfrm>
            <a:off x="365760" y="1371600"/>
            <a:ext cx="3749040" cy="3017520"/>
          </a:xfrm>
          <a:prstGeom prst="rect">
            <a:avLst/>
          </a:prstGeom>
        </p:spPr>
      </p:pic>
      <p:pic>
        <p:nvPicPr>
          <p:cNvPr id="5" name="Image 1" descr="/home/claude/capstone/images/dash_pie_top_site.png">    </p:cNvPr>
          <p:cNvPicPr>
            <a:picLocks noChangeAspect="1"/>
          </p:cNvPicPr>
          <p:nvPr/>
        </p:nvPicPr>
        <p:blipFill>
          <a:blip r:embed="rId2"/>
          <a:stretch>
            <a:fillRect/>
          </a:stretch>
        </p:blipFill>
        <p:spPr>
          <a:xfrm>
            <a:off x="4206240" y="1554480"/>
            <a:ext cx="3474720" cy="2743200"/>
          </a:xfrm>
          <a:prstGeom prst="rect">
            <a:avLst/>
          </a:prstGeom>
        </p:spPr>
      </p:pic>
      <p:pic>
        <p:nvPicPr>
          <p:cNvPr id="6" name="Image 2" descr="/home/claude/capstone/images/dash_payload_scatter.png">    </p:cNvPr>
          <p:cNvPicPr>
            <a:picLocks noChangeAspect="1"/>
          </p:cNvPicPr>
          <p:nvPr/>
        </p:nvPicPr>
        <p:blipFill>
          <a:blip r:embed="rId3"/>
          <a:stretch>
            <a:fillRect/>
          </a:stretch>
        </p:blipFill>
        <p:spPr>
          <a:xfrm>
            <a:off x="7772400" y="1417320"/>
            <a:ext cx="3931920" cy="3017520"/>
          </a:xfrm>
          <a:prstGeom prst="rect">
            <a:avLst/>
          </a:prstGeom>
        </p:spPr>
      </p:pic>
      <p:sp>
        <p:nvSpPr>
          <p:cNvPr id="7" name="Text 2"/>
          <p:cNvSpPr/>
          <p:nvPr/>
        </p:nvSpPr>
        <p:spPr>
          <a:xfrm>
            <a:off x="457200" y="4572000"/>
            <a:ext cx="11247120" cy="1828800"/>
          </a:xfrm>
          <a:prstGeom prst="rect">
            <a:avLst/>
          </a:prstGeom>
          <a:noFill/>
          <a:ln/>
        </p:spPr>
        <p:txBody>
          <a:bodyPr wrap="square" rtlCol="0" anchor="ctr"/>
          <a:lstStyle/>
          <a:p>
            <a:pPr indent="0" marL="0">
              <a:lnSpc>
                <a:spcPts val="1700"/>
              </a:lnSpc>
              <a:buNone/>
            </a:pPr>
            <a:r>
              <a:rPr lang="en-US" sz="1150" b="1" dirty="0">
                <a:solidFill>
                  <a:srgbClr val="0B1F3A"/>
                </a:solidFill>
              </a:rPr>
              <a:t>Dropdown to filter by launch site </a:t>
            </a:r>
            <a:pPr indent="0" marL="0">
              <a:lnSpc>
                <a:spcPts val="1700"/>
              </a:lnSpc>
              <a:buNone/>
            </a:pPr>
            <a:r>
              <a:rPr lang="en-US" sz="1150" dirty="0">
                <a:solidFill>
                  <a:srgbClr val="5B6472"/>
                </a:solidFill>
              </a:rPr>
              <a:t>drives a live-updating success-rate pie chart (left: share of successful landings per site; center: success/failure split at the top-volume site, CCAFS LC-40) and a </a:t>
            </a:r>
            <a:pPr indent="0" marL="0">
              <a:lnSpc>
                <a:spcPts val="1700"/>
              </a:lnSpc>
              <a:buNone/>
            </a:pPr>
            <a:r>
              <a:rPr lang="en-US" sz="1150" b="1" dirty="0">
                <a:solidFill>
                  <a:srgbClr val="0B1F3A"/>
                </a:solidFill>
              </a:rPr>
              <a:t>RangeSlider (0–10,000 kg) </a:t>
            </a:r>
            <a:pPr indent="0" marL="0">
              <a:lnSpc>
                <a:spcPts val="1700"/>
              </a:lnSpc>
              <a:buNone/>
            </a:pPr>
            <a:r>
              <a:rPr lang="en-US" sz="1150" dirty="0">
                <a:solidFill>
                  <a:srgbClr val="5B6472"/>
                </a:solidFill>
              </a:rPr>
              <a:t>narrows the payload window on the scatter plot (right), which recolors by booster version (v1.0/v1.1/FT/B4/B5).
</a:t>
            </a:r>
            <a:pPr indent="0" marL="0">
              <a:lnSpc>
                <a:spcPts val="1700"/>
              </a:lnSpc>
              <a:buNone/>
            </a:pPr>
            <a:r>
              <a:rPr lang="en-US" sz="1150" b="1" dirty="0">
                <a:solidFill>
                  <a:srgbClr val="0B1F3A"/>
                </a:solidFill>
              </a:rPr>
              <a:t>Insight: </a:t>
            </a:r>
            <a:pPr indent="0" marL="0">
              <a:lnSpc>
                <a:spcPts val="1700"/>
              </a:lnSpc>
              <a:buNone/>
            </a:pPr>
            <a:r>
              <a:rPr lang="en-US" sz="1150" dirty="0">
                <a:solidFill>
                  <a:srgbClr val="5B6472"/>
                </a:solidFill>
              </a:rPr>
              <a:t>newer booster generations succeed reliably across a much wider payload range than early versions — reusability maturity, not just payload size, drives success.</a:t>
            </a:r>
            <a:endParaRPr lang="en-US" sz="1150" dirty="0"/>
          </a:p>
        </p:txBody>
      </p:sp>
      <p:sp>
        <p:nvSpPr>
          <p:cNvPr id="8" name="Text 3"/>
          <p:cNvSpPr/>
          <p:nvPr/>
        </p:nvSpPr>
        <p:spPr>
          <a:xfrm>
            <a:off x="457200" y="6537960"/>
            <a:ext cx="11247120" cy="256032"/>
          </a:xfrm>
          <a:prstGeom prst="rect">
            <a:avLst/>
          </a:prstGeom>
          <a:noFill/>
          <a:ln/>
        </p:spPr>
        <p:txBody>
          <a:bodyPr wrap="square" rtlCol="0" anchor="ctr"/>
          <a:lstStyle/>
          <a:p>
            <a:pPr indent="0" marL="0">
              <a:buNone/>
            </a:pPr>
            <a:r>
              <a:rPr lang="en-US" sz="950" b="1" dirty="0">
                <a:solidFill>
                  <a:srgbClr val="5B6472"/>
                </a:solidFill>
              </a:rPr>
              <a:t>GitHub repository: </a:t>
            </a:r>
            <a:pPr indent="0" marL="0">
              <a:buNone/>
            </a:pPr>
            <a:r>
              <a:rPr lang="en-US" sz="950" u="sng" dirty="0">
                <a:solidFill>
                  <a:srgbClr val="3B60E4"/>
                </a:solidFill>
                <a:hlinkClick r:id="rId4"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https://github.com/razerblade09/spacex-falcon9-capstone/blob/main/dashboard/app.py</a:t>
            </a:r>
            <a:endParaRPr lang="en-US" sz="950" dirty="0"/>
          </a:p>
        </p:txBody>
      </p:sp>
      <p:sp>
        <p:nvSpPr>
          <p:cNvPr id="9" name="Text 4"/>
          <p:cNvSpPr/>
          <p:nvPr/>
        </p:nvSpPr>
        <p:spPr>
          <a:xfrm>
            <a:off x="11750040" y="6537960"/>
            <a:ext cx="365760" cy="256032"/>
          </a:xfrm>
          <a:prstGeom prst="rect">
            <a:avLst/>
          </a:prstGeom>
          <a:noFill/>
          <a:ln/>
        </p:spPr>
        <p:txBody>
          <a:bodyPr wrap="square" rtlCol="0" anchor="ctr"/>
          <a:lstStyle/>
          <a:p>
            <a:pPr algn="r" indent="0" marL="0">
              <a:buNone/>
            </a:pPr>
            <a:r>
              <a:rPr lang="en-US" sz="950" dirty="0">
                <a:solidFill>
                  <a:srgbClr val="5B6472"/>
                </a:solidFill>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7315200" cy="256032"/>
          </a:xfrm>
          <a:prstGeom prst="rect">
            <a:avLst/>
          </a:prstGeom>
          <a:noFill/>
          <a:ln/>
        </p:spPr>
        <p:txBody>
          <a:bodyPr wrap="square" rtlCol="0" anchor="ctr"/>
          <a:lstStyle/>
          <a:p>
            <a:pPr indent="0" marL="0">
              <a:buNone/>
            </a:pPr>
            <a:r>
              <a:rPr lang="en-US" sz="1150" b="1" spc="200" kern="0" dirty="0">
                <a:solidFill>
                  <a:srgbClr val="3B60E4"/>
                </a:solidFill>
              </a:rPr>
              <a:t>PREDICTIVE ANALYSIS</a:t>
            </a:r>
            <a:endParaRPr lang="en-US" sz="1150" dirty="0"/>
          </a:p>
        </p:txBody>
      </p:sp>
      <p:sp>
        <p:nvSpPr>
          <p:cNvPr id="3" name="Text 1"/>
          <p:cNvSpPr/>
          <p:nvPr/>
        </p:nvSpPr>
        <p:spPr>
          <a:xfrm>
            <a:off x="457200" y="512064"/>
            <a:ext cx="11247120" cy="548640"/>
          </a:xfrm>
          <a:prstGeom prst="rect">
            <a:avLst/>
          </a:prstGeom>
          <a:noFill/>
          <a:ln/>
        </p:spPr>
        <p:txBody>
          <a:bodyPr wrap="square" rtlCol="0" anchor="ctr"/>
          <a:lstStyle/>
          <a:p>
            <a:pPr indent="0" marL="0">
              <a:buNone/>
            </a:pPr>
            <a:r>
              <a:rPr lang="en-US" sz="2400" b="1" dirty="0">
                <a:solidFill>
                  <a:srgbClr val="0B1F3A"/>
                </a:solidFill>
              </a:rPr>
              <a:t>Methodology, Results &amp; Best Model</a:t>
            </a:r>
            <a:endParaRPr lang="en-US" sz="2400" dirty="0"/>
          </a:p>
        </p:txBody>
      </p:sp>
      <p:sp>
        <p:nvSpPr>
          <p:cNvPr id="4" name="Text 2"/>
          <p:cNvSpPr/>
          <p:nvPr/>
        </p:nvSpPr>
        <p:spPr>
          <a:xfrm>
            <a:off x="457200" y="1371600"/>
            <a:ext cx="3566160" cy="2286000"/>
          </a:xfrm>
          <a:prstGeom prst="rect">
            <a:avLst/>
          </a:prstGeom>
          <a:noFill/>
          <a:ln/>
        </p:spPr>
        <p:txBody>
          <a:bodyPr wrap="square" rtlCol="0" anchor="ctr"/>
          <a:lstStyle/>
          <a:p>
            <a:pPr indent="0" marL="0">
              <a:lnSpc>
                <a:spcPts val="1500"/>
              </a:lnSpc>
              <a:buNone/>
            </a:pPr>
            <a:r>
              <a:rPr lang="en-US" sz="1050" b="1" dirty="0">
                <a:solidFill>
                  <a:srgbClr val="0B1F3A"/>
                </a:solidFill>
              </a:rPr>
              <a:t>Features: </a:t>
            </a:r>
            <a:pPr indent="0" marL="0">
              <a:lnSpc>
                <a:spcPts val="1500"/>
              </a:lnSpc>
              <a:buNone/>
            </a:pPr>
            <a:r>
              <a:rPr lang="en-US" sz="1050" dirty="0">
                <a:solidFill>
                  <a:srgbClr val="5B6472"/>
                </a:solidFill>
              </a:rPr>
              <a:t>80 one-hot-encoded columns (orbit, site, landing pad, booster serial) + flight #, payload mass, flights, grid fins, reused, legs, block — standardized.
</a:t>
            </a:r>
            <a:pPr indent="0" marL="0">
              <a:lnSpc>
                <a:spcPts val="1500"/>
              </a:lnSpc>
              <a:buNone/>
            </a:pPr>
            <a:r>
              <a:rPr lang="en-US" sz="1050" b="1" dirty="0">
                <a:solidFill>
                  <a:srgbClr val="0B1F3A"/>
                </a:solidFill>
              </a:rPr>
              <a:t>Split: </a:t>
            </a:r>
            <a:pPr indent="0" marL="0">
              <a:lnSpc>
                <a:spcPts val="1500"/>
              </a:lnSpc>
              <a:buNone/>
            </a:pPr>
            <a:r>
              <a:rPr lang="en-US" sz="1050" dirty="0">
                <a:solidFill>
                  <a:srgbClr val="5B6472"/>
                </a:solidFill>
              </a:rPr>
              <a:t>80/20 train-test (72/18), stratified.
</a:t>
            </a:r>
            <a:pPr indent="0" marL="0">
              <a:lnSpc>
                <a:spcPts val="1500"/>
              </a:lnSpc>
              <a:buNone/>
            </a:pPr>
            <a:r>
              <a:rPr lang="en-US" sz="1050" b="1" dirty="0">
                <a:solidFill>
                  <a:srgbClr val="0B1F3A"/>
                </a:solidFill>
              </a:rPr>
              <a:t>Models (10-fold GridSearchCV each):</a:t>
            </a:r>
            <a:endParaRPr lang="en-US" sz="1050" dirty="0"/>
          </a:p>
        </p:txBody>
      </p:sp>
      <p:sp>
        <p:nvSpPr>
          <p:cNvPr id="5" name="Text 3"/>
          <p:cNvSpPr/>
          <p:nvPr/>
        </p:nvSpPr>
        <p:spPr>
          <a:xfrm>
            <a:off x="640080" y="3611880"/>
            <a:ext cx="3291840" cy="274320"/>
          </a:xfrm>
          <a:prstGeom prst="rect">
            <a:avLst/>
          </a:prstGeom>
          <a:noFill/>
          <a:ln/>
        </p:spPr>
        <p:txBody>
          <a:bodyPr wrap="square" rtlCol="0" anchor="ctr"/>
          <a:lstStyle/>
          <a:p>
            <a:pPr marL="342900" indent="-342900">
              <a:buSzPct val="100000"/>
              <a:buChar char="•"/>
            </a:pPr>
            <a:r>
              <a:rPr lang="en-US" sz="1000" dirty="0">
                <a:solidFill>
                  <a:srgbClr val="0B1F3A"/>
                </a:solidFill>
              </a:rPr>
              <a:t>Logistic Regression</a:t>
            </a:r>
            <a:endParaRPr lang="en-US" sz="1000" dirty="0"/>
          </a:p>
        </p:txBody>
      </p:sp>
      <p:sp>
        <p:nvSpPr>
          <p:cNvPr id="6" name="Text 4"/>
          <p:cNvSpPr/>
          <p:nvPr/>
        </p:nvSpPr>
        <p:spPr>
          <a:xfrm>
            <a:off x="640080" y="3904488"/>
            <a:ext cx="3291840" cy="274320"/>
          </a:xfrm>
          <a:prstGeom prst="rect">
            <a:avLst/>
          </a:prstGeom>
          <a:noFill/>
          <a:ln/>
        </p:spPr>
        <p:txBody>
          <a:bodyPr wrap="square" rtlCol="0" anchor="ctr"/>
          <a:lstStyle/>
          <a:p>
            <a:pPr marL="342900" indent="-342900">
              <a:buSzPct val="100000"/>
              <a:buChar char="•"/>
            </a:pPr>
            <a:r>
              <a:rPr lang="en-US" sz="1000" dirty="0">
                <a:solidFill>
                  <a:srgbClr val="0B1F3A"/>
                </a:solidFill>
              </a:rPr>
              <a:t>Support Vector Machine</a:t>
            </a:r>
            <a:endParaRPr lang="en-US" sz="1000" dirty="0"/>
          </a:p>
        </p:txBody>
      </p:sp>
      <p:sp>
        <p:nvSpPr>
          <p:cNvPr id="7" name="Text 5"/>
          <p:cNvSpPr/>
          <p:nvPr/>
        </p:nvSpPr>
        <p:spPr>
          <a:xfrm>
            <a:off x="640080" y="4197096"/>
            <a:ext cx="3291840" cy="274320"/>
          </a:xfrm>
          <a:prstGeom prst="rect">
            <a:avLst/>
          </a:prstGeom>
          <a:noFill/>
          <a:ln/>
        </p:spPr>
        <p:txBody>
          <a:bodyPr wrap="square" rtlCol="0" anchor="ctr"/>
          <a:lstStyle/>
          <a:p>
            <a:pPr marL="342900" indent="-342900">
              <a:buSzPct val="100000"/>
              <a:buChar char="•"/>
            </a:pPr>
            <a:r>
              <a:rPr lang="en-US" sz="1000" dirty="0">
                <a:solidFill>
                  <a:srgbClr val="0B1F3A"/>
                </a:solidFill>
              </a:rPr>
              <a:t>Decision Tree</a:t>
            </a:r>
            <a:endParaRPr lang="en-US" sz="1000" dirty="0"/>
          </a:p>
        </p:txBody>
      </p:sp>
      <p:sp>
        <p:nvSpPr>
          <p:cNvPr id="8" name="Text 6"/>
          <p:cNvSpPr/>
          <p:nvPr/>
        </p:nvSpPr>
        <p:spPr>
          <a:xfrm>
            <a:off x="640080" y="4489704"/>
            <a:ext cx="3291840" cy="274320"/>
          </a:xfrm>
          <a:prstGeom prst="rect">
            <a:avLst/>
          </a:prstGeom>
          <a:noFill/>
          <a:ln/>
        </p:spPr>
        <p:txBody>
          <a:bodyPr wrap="square" rtlCol="0" anchor="ctr"/>
          <a:lstStyle/>
          <a:p>
            <a:pPr marL="342900" indent="-342900">
              <a:buSzPct val="100000"/>
              <a:buChar char="•"/>
            </a:pPr>
            <a:r>
              <a:rPr lang="en-US" sz="1000" dirty="0">
                <a:solidFill>
                  <a:srgbClr val="0B1F3A"/>
                </a:solidFill>
              </a:rPr>
              <a:t>K-Nearest Neighbors</a:t>
            </a:r>
            <a:endParaRPr lang="en-US" sz="1000" dirty="0"/>
          </a:p>
        </p:txBody>
      </p:sp>
      <p:sp>
        <p:nvSpPr>
          <p:cNvPr id="9" name="Text 7"/>
          <p:cNvSpPr/>
          <p:nvPr/>
        </p:nvSpPr>
        <p:spPr>
          <a:xfrm>
            <a:off x="457200" y="4937760"/>
            <a:ext cx="3566160" cy="1371600"/>
          </a:xfrm>
          <a:prstGeom prst="rect">
            <a:avLst/>
          </a:prstGeom>
          <a:noFill/>
          <a:ln/>
        </p:spPr>
        <p:txBody>
          <a:bodyPr wrap="square" rtlCol="0" anchor="ctr"/>
          <a:lstStyle/>
          <a:p>
            <a:pPr indent="0" marL="0">
              <a:lnSpc>
                <a:spcPts val="1300"/>
              </a:lnSpc>
              <a:buNone/>
            </a:pPr>
            <a:r>
              <a:rPr lang="en-US" sz="950" i="1" dirty="0">
                <a:solidFill>
                  <a:srgbClr val="5B6472"/>
                </a:solidFill>
              </a:rPr>
              <a:t>All four converged near 83% test accuracy — feature quality matters more than model choice.</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251960" y="1371600"/>
          <a:ext cx="3566160" cy="1417320"/>
        </p:xfrm>
        <a:graphic>
          <a:graphicData uri="http://schemas.openxmlformats.org/drawingml/2006/table">
            <a:tbl>
              <a:tblPr/>
              <a:tblGrid>
                <a:gridCol w="1737360"/>
                <a:gridCol w="914400"/>
                <a:gridCol w="914400"/>
              </a:tblGrid>
              <a:tr h="283464">
                <a:tc>
                  <a:txBody>
                    <a:bodyPr/>
                    <a:lstStyle/>
                    <a:p>
                      <a:pPr indent="0" marL="0">
                        <a:buNone/>
                      </a:pPr>
                      <a:r>
                        <a:rPr lang="en-US" sz="950" b="1" dirty="0">
                          <a:solidFill>
                            <a:srgbClr val="FFFFFF"/>
                          </a:solidFill>
                        </a:rPr>
                        <a:t>Model</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3B60E4"/>
                    </a:solidFill>
                  </a:tcPr>
                </a:tc>
                <a:tc>
                  <a:txBody>
                    <a:bodyPr/>
                    <a:lstStyle/>
                    <a:p>
                      <a:pPr indent="0" marL="0">
                        <a:buNone/>
                      </a:pPr>
                      <a:r>
                        <a:rPr lang="en-US" sz="950" b="1" dirty="0">
                          <a:solidFill>
                            <a:srgbClr val="FFFFFF"/>
                          </a:solidFill>
                        </a:rPr>
                        <a:t>CV</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3B60E4"/>
                    </a:solidFill>
                  </a:tcPr>
                </a:tc>
                <a:tc>
                  <a:txBody>
                    <a:bodyPr/>
                    <a:lstStyle/>
                    <a:p>
                      <a:pPr indent="0" marL="0">
                        <a:buNone/>
                      </a:pPr>
                      <a:r>
                        <a:rPr lang="en-US" sz="950" b="1" dirty="0">
                          <a:solidFill>
                            <a:srgbClr val="FFFFFF"/>
                          </a:solidFill>
                        </a:rPr>
                        <a:t>Test Acc.</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3B60E4"/>
                    </a:solidFill>
                  </a:tcPr>
                </a:tc>
              </a:tr>
              <a:tr h="283464">
                <a:tc>
                  <a:txBody>
                    <a:bodyPr/>
                    <a:lstStyle/>
                    <a:p>
                      <a:pPr indent="0" marL="0">
                        <a:buNone/>
                      </a:pPr>
                      <a:r>
                        <a:rPr lang="en-US" sz="950" b="1" dirty="0">
                          <a:solidFill>
                            <a:srgbClr val="0B1F3A"/>
                          </a:solidFill>
                        </a:rPr>
                        <a:t>Log. Regression</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950" dirty="0">
                          <a:solidFill>
                            <a:srgbClr val="0B1F3A"/>
                          </a:solidFill>
                        </a:rPr>
                        <a:t>0.821</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950" dirty="0">
                          <a:solidFill>
                            <a:srgbClr val="0B1F3A"/>
                          </a:solidFill>
                        </a:rPr>
                        <a:t>0.833</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283464">
                <a:tc>
                  <a:txBody>
                    <a:bodyPr/>
                    <a:lstStyle/>
                    <a:p>
                      <a:pPr indent="0" marL="0">
                        <a:buNone/>
                      </a:pPr>
                      <a:r>
                        <a:rPr lang="en-US" sz="950" dirty="0">
                          <a:solidFill>
                            <a:srgbClr val="0B1F3A"/>
                          </a:solidFill>
                        </a:rPr>
                        <a:t>SVM</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950" dirty="0">
                          <a:solidFill>
                            <a:srgbClr val="0B1F3A"/>
                          </a:solidFill>
                        </a:rPr>
                        <a:t>0.834</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950" dirty="0">
                          <a:solidFill>
                            <a:srgbClr val="0B1F3A"/>
                          </a:solidFill>
                        </a:rPr>
                        <a:t>0.833</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283464">
                <a:tc>
                  <a:txBody>
                    <a:bodyPr/>
                    <a:lstStyle/>
                    <a:p>
                      <a:pPr indent="0" marL="0">
                        <a:buNone/>
                      </a:pPr>
                      <a:r>
                        <a:rPr lang="en-US" sz="950" dirty="0">
                          <a:solidFill>
                            <a:srgbClr val="0B1F3A"/>
                          </a:solidFill>
                        </a:rPr>
                        <a:t>KNN</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950" dirty="0">
                          <a:solidFill>
                            <a:srgbClr val="0B1F3A"/>
                          </a:solidFill>
                        </a:rPr>
                        <a:t>0.834</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950" dirty="0">
                          <a:solidFill>
                            <a:srgbClr val="0B1F3A"/>
                          </a:solidFill>
                        </a:rPr>
                        <a:t>0.833</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283464">
                <a:tc>
                  <a:txBody>
                    <a:bodyPr/>
                    <a:lstStyle/>
                    <a:p>
                      <a:pPr indent="0" marL="0">
                        <a:buNone/>
                      </a:pPr>
                      <a:r>
                        <a:rPr lang="en-US" sz="950" dirty="0">
                          <a:solidFill>
                            <a:srgbClr val="0B1F3A"/>
                          </a:solidFill>
                        </a:rPr>
                        <a:t>Decision Tree</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950" dirty="0">
                          <a:solidFill>
                            <a:srgbClr val="0B1F3A"/>
                          </a:solidFill>
                        </a:rPr>
                        <a:t>0.804</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950" dirty="0">
                          <a:solidFill>
                            <a:srgbClr val="0B1F3A"/>
                          </a:solidFill>
                        </a:rPr>
                        <a:t>0.778</a:t>
                      </a:r>
                      <a:endParaRPr lang="en-US" sz="9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bl>
          </a:graphicData>
        </a:graphic>
      </p:graphicFrame>
      <p:pic>
        <p:nvPicPr>
          <p:cNvPr id="11" name="Image 0" descr="/home/claude/capstone/images/confusion_matrix_best.png">    </p:cNvPr>
          <p:cNvPicPr>
            <a:picLocks noChangeAspect="1"/>
          </p:cNvPicPr>
          <p:nvPr/>
        </p:nvPicPr>
        <p:blipFill>
          <a:blip r:embed="rId1"/>
          <a:stretch>
            <a:fillRect/>
          </a:stretch>
        </p:blipFill>
        <p:spPr>
          <a:xfrm>
            <a:off x="4251960" y="2926080"/>
            <a:ext cx="3566160" cy="3429000"/>
          </a:xfrm>
          <a:prstGeom prst="rect">
            <a:avLst/>
          </a:prstGeom>
        </p:spPr>
      </p:pic>
      <p:sp>
        <p:nvSpPr>
          <p:cNvPr id="12" name="Text 8"/>
          <p:cNvSpPr/>
          <p:nvPr/>
        </p:nvSpPr>
        <p:spPr>
          <a:xfrm>
            <a:off x="8138160" y="1371600"/>
            <a:ext cx="3566160" cy="5074920"/>
          </a:xfrm>
          <a:prstGeom prst="rect">
            <a:avLst/>
          </a:prstGeom>
          <a:noFill/>
          <a:ln/>
        </p:spPr>
        <p:txBody>
          <a:bodyPr wrap="square" rtlCol="0" anchor="ctr"/>
          <a:lstStyle/>
          <a:p>
            <a:pPr indent="0" marL="0">
              <a:lnSpc>
                <a:spcPts val="1500"/>
              </a:lnSpc>
              <a:buNone/>
            </a:pPr>
            <a:r>
              <a:rPr lang="en-US" sz="1000" b="1" dirty="0">
                <a:solidFill>
                  <a:srgbClr val="0B1F3A"/>
                </a:solidFill>
              </a:rPr>
              <a:t>Confusion matrix (18 test launches): </a:t>
            </a:r>
            <a:pPr indent="0" marL="0">
              <a:lnSpc>
                <a:spcPts val="1500"/>
              </a:lnSpc>
              <a:buNone/>
            </a:pPr>
            <a:r>
              <a:rPr lang="en-US" sz="1000" dirty="0">
                <a:solidFill>
                  <a:srgbClr val="5B6472"/>
                </a:solidFill>
              </a:rPr>
              <a:t>12 successful landings correctly predicted, 3 unsuccessful correctly predicted, 3 misclassified as successful, 0 successful landings missed — conservative in the safer direction for cost bidding.
</a:t>
            </a:r>
            <a:pPr indent="0" marL="0">
              <a:lnSpc>
                <a:spcPts val="1500"/>
              </a:lnSpc>
              <a:buNone/>
            </a:pPr>
            <a:r>
              <a:rPr lang="en-US" sz="1000" b="1" dirty="0">
                <a:solidFill>
                  <a:srgbClr val="3B60E4"/>
                </a:solidFill>
              </a:rPr>
              <a:t>Best Model: Logistic Regression </a:t>
            </a:r>
            <a:pPr indent="0" marL="0">
              <a:lnSpc>
                <a:spcPts val="1500"/>
              </a:lnSpc>
              <a:buNone/>
            </a:pPr>
            <a:r>
              <a:rPr lang="en-US" sz="1000" dirty="0">
                <a:solidFill>
                  <a:srgbClr val="5B6472"/>
                </a:solidFill>
              </a:rPr>
              <a:t>(C=1, L2, lbfgs). Ties SVM/KNN on accuracy (83.3%) but is far more interpretable — coefficients directly show each feature's effect on landing-success odds, useful for explaining a cost bid to stakeholders, and it's cheapest to retrain as new launches arrive.</a:t>
            </a:r>
            <a:endParaRPr lang="en-US" sz="1000" dirty="0"/>
          </a:p>
        </p:txBody>
      </p:sp>
      <p:sp>
        <p:nvSpPr>
          <p:cNvPr id="13" name="Text 9"/>
          <p:cNvSpPr/>
          <p:nvPr/>
        </p:nvSpPr>
        <p:spPr>
          <a:xfrm>
            <a:off x="457200" y="6537960"/>
            <a:ext cx="11247120" cy="256032"/>
          </a:xfrm>
          <a:prstGeom prst="rect">
            <a:avLst/>
          </a:prstGeom>
          <a:noFill/>
          <a:ln/>
        </p:spPr>
        <p:txBody>
          <a:bodyPr wrap="square" rtlCol="0" anchor="ctr"/>
          <a:lstStyle/>
          <a:p>
            <a:pPr indent="0" marL="0">
              <a:buNone/>
            </a:pPr>
            <a:r>
              <a:rPr lang="en-US" sz="950" b="1" dirty="0">
                <a:solidFill>
                  <a:srgbClr val="5B6472"/>
                </a:solidFill>
              </a:rPr>
              <a:t>GitHub repository: </a:t>
            </a:r>
            <a:pPr indent="0" marL="0">
              <a:buNone/>
            </a:pPr>
            <a:r>
              <a:rPr lang="en-US" sz="950" u="sng" dirty="0">
                <a:solidFill>
                  <a:srgbClr val="3B60E4"/>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https://github.com/razerblade09/spacex-falcon9-capstone/blob/main/notebooks/04_07_eda_sql_ml.py</a:t>
            </a:r>
            <a:endParaRPr lang="en-US" sz="950" dirty="0"/>
          </a:p>
        </p:txBody>
      </p:sp>
      <p:sp>
        <p:nvSpPr>
          <p:cNvPr id="14" name="Text 10"/>
          <p:cNvSpPr/>
          <p:nvPr/>
        </p:nvSpPr>
        <p:spPr>
          <a:xfrm>
            <a:off x="11750040" y="6537960"/>
            <a:ext cx="365760" cy="256032"/>
          </a:xfrm>
          <a:prstGeom prst="rect">
            <a:avLst/>
          </a:prstGeom>
          <a:noFill/>
          <a:ln/>
        </p:spPr>
        <p:txBody>
          <a:bodyPr wrap="square" rtlCol="0" anchor="ctr"/>
          <a:lstStyle/>
          <a:p>
            <a:pPr algn="r" indent="0" marL="0">
              <a:buNone/>
            </a:pPr>
            <a:r>
              <a:rPr lang="en-US" sz="950" dirty="0">
                <a:solidFill>
                  <a:srgbClr val="5B6472"/>
                </a:solidFill>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7315200" cy="256032"/>
          </a:xfrm>
          <a:prstGeom prst="rect">
            <a:avLst/>
          </a:prstGeom>
          <a:noFill/>
          <a:ln/>
        </p:spPr>
        <p:txBody>
          <a:bodyPr wrap="square" rtlCol="0" anchor="ctr"/>
          <a:lstStyle/>
          <a:p>
            <a:pPr indent="0" marL="0">
              <a:buNone/>
            </a:pPr>
            <a:r>
              <a:rPr lang="en-US" sz="1150" b="1" spc="200" kern="0" dirty="0">
                <a:solidFill>
                  <a:srgbClr val="3B60E4"/>
                </a:solidFill>
              </a:rPr>
              <a:t>WRAP-UP</a:t>
            </a:r>
            <a:endParaRPr lang="en-US" sz="1150" dirty="0"/>
          </a:p>
        </p:txBody>
      </p:sp>
      <p:sp>
        <p:nvSpPr>
          <p:cNvPr id="3" name="Text 1"/>
          <p:cNvSpPr/>
          <p:nvPr/>
        </p:nvSpPr>
        <p:spPr>
          <a:xfrm>
            <a:off x="457200" y="512064"/>
            <a:ext cx="11247120" cy="548640"/>
          </a:xfrm>
          <a:prstGeom prst="rect">
            <a:avLst/>
          </a:prstGeom>
          <a:noFill/>
          <a:ln/>
        </p:spPr>
        <p:txBody>
          <a:bodyPr wrap="square" rtlCol="0" anchor="ctr"/>
          <a:lstStyle/>
          <a:p>
            <a:pPr indent="0" marL="0">
              <a:buNone/>
            </a:pPr>
            <a:r>
              <a:rPr lang="en-US" sz="2400" b="1" dirty="0">
                <a:solidFill>
                  <a:srgbClr val="0B1F3A"/>
                </a:solidFill>
              </a:rPr>
              <a:t>Conclusion &amp; Insights</a:t>
            </a:r>
            <a:endParaRPr lang="en-US" sz="2400" dirty="0"/>
          </a:p>
        </p:txBody>
      </p:sp>
      <p:sp>
        <p:nvSpPr>
          <p:cNvPr id="4" name="Shape 2"/>
          <p:cNvSpPr/>
          <p:nvPr/>
        </p:nvSpPr>
        <p:spPr>
          <a:xfrm>
            <a:off x="457200" y="1417320"/>
            <a:ext cx="320040" cy="320040"/>
          </a:xfrm>
          <a:prstGeom prst="roundRect">
            <a:avLst>
              <a:gd name="adj" fmla="val 142857"/>
            </a:avLst>
          </a:prstGeom>
          <a:solidFill>
            <a:srgbClr val="3B60E4"/>
          </a:solidFill>
          <a:ln/>
        </p:spPr>
      </p:sp>
      <p:sp>
        <p:nvSpPr>
          <p:cNvPr id="5" name="Text 3"/>
          <p:cNvSpPr/>
          <p:nvPr/>
        </p:nvSpPr>
        <p:spPr>
          <a:xfrm>
            <a:off x="457200" y="1417320"/>
            <a:ext cx="320040" cy="320040"/>
          </a:xfrm>
          <a:prstGeom prst="rect">
            <a:avLst/>
          </a:prstGeom>
          <a:noFill/>
          <a:ln/>
        </p:spPr>
        <p:txBody>
          <a:bodyPr wrap="square" rtlCol="0" anchor="ctr"/>
          <a:lstStyle/>
          <a:p>
            <a:pPr algn="ctr" indent="0" marL="0">
              <a:buNone/>
            </a:pPr>
            <a:r>
              <a:rPr lang="en-US" sz="1200" b="1" dirty="0">
                <a:solidFill>
                  <a:srgbClr val="FFFFFF"/>
                </a:solidFill>
              </a:rPr>
              <a:t>1</a:t>
            </a:r>
            <a:endParaRPr lang="en-US" sz="1200" dirty="0"/>
          </a:p>
        </p:txBody>
      </p:sp>
      <p:sp>
        <p:nvSpPr>
          <p:cNvPr id="6" name="Text 4"/>
          <p:cNvSpPr/>
          <p:nvPr/>
        </p:nvSpPr>
        <p:spPr>
          <a:xfrm>
            <a:off x="960120" y="1371600"/>
            <a:ext cx="10698480" cy="822960"/>
          </a:xfrm>
          <a:prstGeom prst="rect">
            <a:avLst/>
          </a:prstGeom>
          <a:noFill/>
          <a:ln/>
        </p:spPr>
        <p:txBody>
          <a:bodyPr wrap="square" rtlCol="0" anchor="ctr"/>
          <a:lstStyle/>
          <a:p>
            <a:pPr indent="0" marL="0">
              <a:lnSpc>
                <a:spcPts val="1700"/>
              </a:lnSpc>
              <a:buNone/>
            </a:pPr>
            <a:r>
              <a:rPr lang="en-US" sz="1250" dirty="0">
                <a:solidFill>
                  <a:srgbClr val="0B1F3A"/>
                </a:solidFill>
              </a:rPr>
              <a:t>Landing success is highly learnable from launch parameters — 83% test accuracy from a simple, interpretable model (Logistic Regression).</a:t>
            </a:r>
            <a:endParaRPr lang="en-US" sz="1250" dirty="0"/>
          </a:p>
        </p:txBody>
      </p:sp>
      <p:sp>
        <p:nvSpPr>
          <p:cNvPr id="7" name="Shape 5"/>
          <p:cNvSpPr/>
          <p:nvPr/>
        </p:nvSpPr>
        <p:spPr>
          <a:xfrm>
            <a:off x="457200" y="2331720"/>
            <a:ext cx="320040" cy="320040"/>
          </a:xfrm>
          <a:prstGeom prst="roundRect">
            <a:avLst>
              <a:gd name="adj" fmla="val 142857"/>
            </a:avLst>
          </a:prstGeom>
          <a:solidFill>
            <a:srgbClr val="3B60E4"/>
          </a:solidFill>
          <a:ln/>
        </p:spPr>
      </p:sp>
      <p:sp>
        <p:nvSpPr>
          <p:cNvPr id="8" name="Text 6"/>
          <p:cNvSpPr/>
          <p:nvPr/>
        </p:nvSpPr>
        <p:spPr>
          <a:xfrm>
            <a:off x="457200" y="2331720"/>
            <a:ext cx="320040" cy="320040"/>
          </a:xfrm>
          <a:prstGeom prst="rect">
            <a:avLst/>
          </a:prstGeom>
          <a:noFill/>
          <a:ln/>
        </p:spPr>
        <p:txBody>
          <a:bodyPr wrap="square" rtlCol="0" anchor="ctr"/>
          <a:lstStyle/>
          <a:p>
            <a:pPr algn="ctr" indent="0" marL="0">
              <a:buNone/>
            </a:pPr>
            <a:r>
              <a:rPr lang="en-US" sz="1200" b="1" dirty="0">
                <a:solidFill>
                  <a:srgbClr val="FFFFFF"/>
                </a:solidFill>
              </a:rPr>
              <a:t>2</a:t>
            </a:r>
            <a:endParaRPr lang="en-US" sz="1200" dirty="0"/>
          </a:p>
        </p:txBody>
      </p:sp>
      <p:sp>
        <p:nvSpPr>
          <p:cNvPr id="9" name="Text 7"/>
          <p:cNvSpPr/>
          <p:nvPr/>
        </p:nvSpPr>
        <p:spPr>
          <a:xfrm>
            <a:off x="960120" y="2286000"/>
            <a:ext cx="10698480" cy="822960"/>
          </a:xfrm>
          <a:prstGeom prst="rect">
            <a:avLst/>
          </a:prstGeom>
          <a:noFill/>
          <a:ln/>
        </p:spPr>
        <p:txBody>
          <a:bodyPr wrap="square" rtlCol="0" anchor="ctr"/>
          <a:lstStyle/>
          <a:p>
            <a:pPr indent="0" marL="0">
              <a:lnSpc>
                <a:spcPts val="1700"/>
              </a:lnSpc>
              <a:buNone/>
            </a:pPr>
            <a:r>
              <a:rPr lang="en-US" sz="1250" dirty="0">
                <a:solidFill>
                  <a:srgbClr val="0B1F3A"/>
                </a:solidFill>
              </a:rPr>
              <a:t>Orbit type and payload mass are the strongest predictors; heavier GTO missions land less reliably than light LEO/ISS missions.</a:t>
            </a:r>
            <a:endParaRPr lang="en-US" sz="1250" dirty="0"/>
          </a:p>
        </p:txBody>
      </p:sp>
      <p:sp>
        <p:nvSpPr>
          <p:cNvPr id="10" name="Shape 8"/>
          <p:cNvSpPr/>
          <p:nvPr/>
        </p:nvSpPr>
        <p:spPr>
          <a:xfrm>
            <a:off x="457200" y="3246120"/>
            <a:ext cx="320040" cy="320040"/>
          </a:xfrm>
          <a:prstGeom prst="roundRect">
            <a:avLst>
              <a:gd name="adj" fmla="val 142857"/>
            </a:avLst>
          </a:prstGeom>
          <a:solidFill>
            <a:srgbClr val="3B60E4"/>
          </a:solidFill>
          <a:ln/>
        </p:spPr>
      </p:sp>
      <p:sp>
        <p:nvSpPr>
          <p:cNvPr id="11" name="Text 9"/>
          <p:cNvSpPr/>
          <p:nvPr/>
        </p:nvSpPr>
        <p:spPr>
          <a:xfrm>
            <a:off x="457200" y="3246120"/>
            <a:ext cx="320040" cy="320040"/>
          </a:xfrm>
          <a:prstGeom prst="rect">
            <a:avLst/>
          </a:prstGeom>
          <a:noFill/>
          <a:ln/>
        </p:spPr>
        <p:txBody>
          <a:bodyPr wrap="square" rtlCol="0" anchor="ctr"/>
          <a:lstStyle/>
          <a:p>
            <a:pPr algn="ctr" indent="0" marL="0">
              <a:buNone/>
            </a:pPr>
            <a:r>
              <a:rPr lang="en-US" sz="1200" b="1" dirty="0">
                <a:solidFill>
                  <a:srgbClr val="FFFFFF"/>
                </a:solidFill>
              </a:rPr>
              <a:t>3</a:t>
            </a:r>
            <a:endParaRPr lang="en-US" sz="1200" dirty="0"/>
          </a:p>
        </p:txBody>
      </p:sp>
      <p:sp>
        <p:nvSpPr>
          <p:cNvPr id="12" name="Text 10"/>
          <p:cNvSpPr/>
          <p:nvPr/>
        </p:nvSpPr>
        <p:spPr>
          <a:xfrm>
            <a:off x="960120" y="3200400"/>
            <a:ext cx="10698480" cy="822960"/>
          </a:xfrm>
          <a:prstGeom prst="rect">
            <a:avLst/>
          </a:prstGeom>
          <a:noFill/>
          <a:ln/>
        </p:spPr>
        <p:txBody>
          <a:bodyPr wrap="square" rtlCol="0" anchor="ctr"/>
          <a:lstStyle/>
          <a:p>
            <a:pPr indent="0" marL="0">
              <a:lnSpc>
                <a:spcPts val="1700"/>
              </a:lnSpc>
              <a:buNone/>
            </a:pPr>
            <a:r>
              <a:rPr lang="en-US" sz="1250" dirty="0">
                <a:solidFill>
                  <a:srgbClr val="0B1F3A"/>
                </a:solidFill>
              </a:rPr>
              <a:t>Success rate improved dramatically over time (2013 → 2020), reflecting SpaceX's iterative process improvements — not a static property of the hardware.</a:t>
            </a:r>
            <a:endParaRPr lang="en-US" sz="1250" dirty="0"/>
          </a:p>
        </p:txBody>
      </p:sp>
      <p:sp>
        <p:nvSpPr>
          <p:cNvPr id="13" name="Shape 11"/>
          <p:cNvSpPr/>
          <p:nvPr/>
        </p:nvSpPr>
        <p:spPr>
          <a:xfrm>
            <a:off x="457200" y="4160520"/>
            <a:ext cx="320040" cy="320040"/>
          </a:xfrm>
          <a:prstGeom prst="roundRect">
            <a:avLst>
              <a:gd name="adj" fmla="val 142857"/>
            </a:avLst>
          </a:prstGeom>
          <a:solidFill>
            <a:srgbClr val="3B60E4"/>
          </a:solidFill>
          <a:ln/>
        </p:spPr>
      </p:sp>
      <p:sp>
        <p:nvSpPr>
          <p:cNvPr id="14" name="Text 12"/>
          <p:cNvSpPr/>
          <p:nvPr/>
        </p:nvSpPr>
        <p:spPr>
          <a:xfrm>
            <a:off x="457200" y="4160520"/>
            <a:ext cx="320040" cy="320040"/>
          </a:xfrm>
          <a:prstGeom prst="rect">
            <a:avLst/>
          </a:prstGeom>
          <a:noFill/>
          <a:ln/>
        </p:spPr>
        <p:txBody>
          <a:bodyPr wrap="square" rtlCol="0" anchor="ctr"/>
          <a:lstStyle/>
          <a:p>
            <a:pPr algn="ctr" indent="0" marL="0">
              <a:buNone/>
            </a:pPr>
            <a:r>
              <a:rPr lang="en-US" sz="1200" b="1" dirty="0">
                <a:solidFill>
                  <a:srgbClr val="FFFFFF"/>
                </a:solidFill>
              </a:rPr>
              <a:t>4</a:t>
            </a:r>
            <a:endParaRPr lang="en-US" sz="1200" dirty="0"/>
          </a:p>
        </p:txBody>
      </p:sp>
      <p:sp>
        <p:nvSpPr>
          <p:cNvPr id="15" name="Text 13"/>
          <p:cNvSpPr/>
          <p:nvPr/>
        </p:nvSpPr>
        <p:spPr>
          <a:xfrm>
            <a:off x="960120" y="4114800"/>
            <a:ext cx="10698480" cy="822960"/>
          </a:xfrm>
          <a:prstGeom prst="rect">
            <a:avLst/>
          </a:prstGeom>
          <a:noFill/>
          <a:ln/>
        </p:spPr>
        <p:txBody>
          <a:bodyPr wrap="square" rtlCol="0" anchor="ctr"/>
          <a:lstStyle/>
          <a:p>
            <a:pPr indent="0" marL="0">
              <a:lnSpc>
                <a:spcPts val="1700"/>
              </a:lnSpc>
              <a:buNone/>
            </a:pPr>
            <a:r>
              <a:rPr lang="en-US" sz="1250" dirty="0">
                <a:solidFill>
                  <a:srgbClr val="0B1F3A"/>
                </a:solidFill>
              </a:rPr>
              <a:t>Interactive tools (Folium map, Plotly Dash) let stakeholders verify these patterns themselves rather than trusting static charts alone.</a:t>
            </a:r>
            <a:endParaRPr lang="en-US" sz="1250" dirty="0"/>
          </a:p>
        </p:txBody>
      </p:sp>
      <p:sp>
        <p:nvSpPr>
          <p:cNvPr id="16" name="Shape 14"/>
          <p:cNvSpPr/>
          <p:nvPr/>
        </p:nvSpPr>
        <p:spPr>
          <a:xfrm>
            <a:off x="457200" y="5074920"/>
            <a:ext cx="320040" cy="320040"/>
          </a:xfrm>
          <a:prstGeom prst="roundRect">
            <a:avLst>
              <a:gd name="adj" fmla="val 142857"/>
            </a:avLst>
          </a:prstGeom>
          <a:solidFill>
            <a:srgbClr val="3B60E4"/>
          </a:solidFill>
          <a:ln/>
        </p:spPr>
      </p:sp>
      <p:sp>
        <p:nvSpPr>
          <p:cNvPr id="17" name="Text 15"/>
          <p:cNvSpPr/>
          <p:nvPr/>
        </p:nvSpPr>
        <p:spPr>
          <a:xfrm>
            <a:off x="457200" y="5074920"/>
            <a:ext cx="320040" cy="320040"/>
          </a:xfrm>
          <a:prstGeom prst="rect">
            <a:avLst/>
          </a:prstGeom>
          <a:noFill/>
          <a:ln/>
        </p:spPr>
        <p:txBody>
          <a:bodyPr wrap="square" rtlCol="0" anchor="ctr"/>
          <a:lstStyle/>
          <a:p>
            <a:pPr algn="ctr" indent="0" marL="0">
              <a:buNone/>
            </a:pPr>
            <a:r>
              <a:rPr lang="en-US" sz="1200" b="1" dirty="0">
                <a:solidFill>
                  <a:srgbClr val="FFFFFF"/>
                </a:solidFill>
              </a:rPr>
              <a:t>5</a:t>
            </a:r>
            <a:endParaRPr lang="en-US" sz="1200" dirty="0"/>
          </a:p>
        </p:txBody>
      </p:sp>
      <p:sp>
        <p:nvSpPr>
          <p:cNvPr id="18" name="Text 16"/>
          <p:cNvSpPr/>
          <p:nvPr/>
        </p:nvSpPr>
        <p:spPr>
          <a:xfrm>
            <a:off x="960120" y="5029200"/>
            <a:ext cx="10698480" cy="822960"/>
          </a:xfrm>
          <a:prstGeom prst="rect">
            <a:avLst/>
          </a:prstGeom>
          <a:noFill/>
          <a:ln/>
        </p:spPr>
        <p:txBody>
          <a:bodyPr wrap="square" rtlCol="0" anchor="ctr"/>
          <a:lstStyle/>
          <a:p>
            <a:pPr indent="0" marL="0">
              <a:lnSpc>
                <a:spcPts val="1700"/>
              </a:lnSpc>
              <a:buNone/>
            </a:pPr>
            <a:r>
              <a:rPr lang="en-US" sz="1250" dirty="0">
                <a:solidFill>
                  <a:srgbClr val="0B1F3A"/>
                </a:solidFill>
              </a:rPr>
              <a:t>Recommendation: a competing bidder can use this model as a first-pass cost-risk estimator, refining it further with more recent launches and continuous re-training.</a:t>
            </a:r>
            <a:endParaRPr lang="en-US" sz="1250" dirty="0"/>
          </a:p>
        </p:txBody>
      </p:sp>
      <p:sp>
        <p:nvSpPr>
          <p:cNvPr id="19" name="Text 17"/>
          <p:cNvSpPr/>
          <p:nvPr/>
        </p:nvSpPr>
        <p:spPr>
          <a:xfrm>
            <a:off x="457200" y="6263640"/>
            <a:ext cx="11247120" cy="320040"/>
          </a:xfrm>
          <a:prstGeom prst="rect">
            <a:avLst/>
          </a:prstGeom>
          <a:noFill/>
          <a:ln/>
        </p:spPr>
        <p:txBody>
          <a:bodyPr wrap="square" rtlCol="0" anchor="ctr"/>
          <a:lstStyle/>
          <a:p>
            <a:pPr indent="0" marL="0">
              <a:buNone/>
            </a:pPr>
            <a:r>
              <a:rPr lang="en-US" sz="1100" dirty="0">
                <a:solidFill>
                  <a:srgbClr val="5B6472"/>
                </a:solidFill>
              </a:rPr>
              <a:t>Full code, notebooks, and dashboard app: </a:t>
            </a:r>
            <a:pPr indent="0" marL="0">
              <a:buNone/>
            </a:pPr>
            <a:r>
              <a:rPr lang="en-US" sz="110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a:t>
            </a:r>
            <a:endParaRPr lang="en-US" sz="1100" dirty="0"/>
          </a:p>
        </p:txBody>
      </p:sp>
      <p:sp>
        <p:nvSpPr>
          <p:cNvPr id="20" name="Text 18"/>
          <p:cNvSpPr/>
          <p:nvPr/>
        </p:nvSpPr>
        <p:spPr>
          <a:xfrm>
            <a:off x="11750040" y="6537960"/>
            <a:ext cx="365760" cy="256032"/>
          </a:xfrm>
          <a:prstGeom prst="rect">
            <a:avLst/>
          </a:prstGeom>
          <a:noFill/>
          <a:ln/>
        </p:spPr>
        <p:txBody>
          <a:bodyPr wrap="square" rtlCol="0" anchor="ctr"/>
          <a:lstStyle/>
          <a:p>
            <a:pPr algn="r" indent="0" marL="0">
              <a:buNone/>
            </a:pPr>
            <a:r>
              <a:rPr lang="en-US" sz="950" dirty="0">
                <a:solidFill>
                  <a:srgbClr val="5B6472"/>
                </a:solidFill>
              </a:rPr>
              <a:t>12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2026-08-03T00:23:42Z</dcterms:created>
  <dcterms:modified xsi:type="dcterms:W3CDTF">2026-08-03T00:23:42Z</dcterms:modified>
</cp:coreProperties>
</file>