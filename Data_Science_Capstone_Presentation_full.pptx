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razerblade09/spacex-falcon9-capstone"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hyperlink" Target="https://github.com/razerblade09/spacex-falcon9-capstone" TargetMode="Externa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822960" y="1463040"/>
            <a:ext cx="10515600" cy="1645920"/>
          </a:xfrm>
          <a:prstGeom prst="rect">
            <a:avLst/>
          </a:prstGeom>
          <a:noFill/>
          <a:ln/>
        </p:spPr>
        <p:txBody>
          <a:bodyPr wrap="square" rtlCol="0" anchor="ctr"/>
          <a:lstStyle/>
          <a:p>
            <a:pPr indent="0" marL="0">
              <a:buNone/>
            </a:pPr>
            <a:r>
              <a:rPr lang="en-US" sz="4000" b="1" dirty="0">
                <a:solidFill>
                  <a:srgbClr val="FFFFFF"/>
                </a:solidFill>
              </a:rPr>
              <a:t>SpaceX Falcon 9</a:t>
            </a:r>
            <a:endParaRPr lang="en-US" sz="4000" dirty="0"/>
          </a:p>
          <a:p>
            <a:pPr indent="0" marL="0">
              <a:buNone/>
            </a:pPr>
            <a:r>
              <a:rPr lang="en-US" sz="4000" b="1" dirty="0">
                <a:solidFill>
                  <a:srgbClr val="FFFFFF"/>
                </a:solidFill>
              </a:rPr>
              <a:t>First-Stage Landing Prediction</a:t>
            </a:r>
            <a:endParaRPr lang="en-US" sz="4000" dirty="0"/>
          </a:p>
        </p:txBody>
      </p:sp>
      <p:sp>
        <p:nvSpPr>
          <p:cNvPr id="3" name="Text 1"/>
          <p:cNvSpPr/>
          <p:nvPr/>
        </p:nvSpPr>
        <p:spPr>
          <a:xfrm>
            <a:off x="822960" y="3200400"/>
            <a:ext cx="10058400" cy="457200"/>
          </a:xfrm>
          <a:prstGeom prst="rect">
            <a:avLst/>
          </a:prstGeom>
          <a:noFill/>
          <a:ln/>
        </p:spPr>
        <p:txBody>
          <a:bodyPr wrap="square" rtlCol="0" anchor="ctr"/>
          <a:lstStyle/>
          <a:p>
            <a:pPr indent="0" marL="0">
              <a:buNone/>
            </a:pPr>
            <a:r>
              <a:rPr lang="en-US" sz="2000" dirty="0">
                <a:solidFill>
                  <a:srgbClr val="17BEBB"/>
                </a:solidFill>
              </a:rPr>
              <a:t>Data Science Capstone Project Report</a:t>
            </a:r>
            <a:endParaRPr lang="en-US" sz="2000" dirty="0"/>
          </a:p>
        </p:txBody>
      </p:sp>
      <p:sp>
        <p:nvSpPr>
          <p:cNvPr id="4" name="Shape 2"/>
          <p:cNvSpPr/>
          <p:nvPr/>
        </p:nvSpPr>
        <p:spPr>
          <a:xfrm>
            <a:off x="822960" y="3794760"/>
            <a:ext cx="2011680" cy="54864"/>
          </a:xfrm>
          <a:prstGeom prst="rect">
            <a:avLst/>
          </a:prstGeom>
          <a:solidFill>
            <a:srgbClr val="3B60E4"/>
          </a:solidFill>
          <a:ln/>
        </p:spPr>
      </p:sp>
      <p:sp>
        <p:nvSpPr>
          <p:cNvPr id="5" name="Text 3"/>
          <p:cNvSpPr/>
          <p:nvPr/>
        </p:nvSpPr>
        <p:spPr>
          <a:xfrm>
            <a:off x="822960" y="4114800"/>
            <a:ext cx="10058400" cy="365760"/>
          </a:xfrm>
          <a:prstGeom prst="rect">
            <a:avLst/>
          </a:prstGeom>
          <a:noFill/>
          <a:ln/>
        </p:spPr>
        <p:txBody>
          <a:bodyPr wrap="square" rtlCol="0" anchor="ctr"/>
          <a:lstStyle/>
          <a:p>
            <a:pPr indent="0" marL="0">
              <a:buNone/>
            </a:pPr>
            <a:r>
              <a:rPr lang="en-US" sz="1400" dirty="0">
                <a:solidFill>
                  <a:srgbClr val="AAB4C8"/>
                </a:solidFill>
              </a:rPr>
              <a:t>Aaron Vargas   |   IBM Applied Data Science Capstone   |   2026-08-19</a:t>
            </a:r>
            <a:endParaRPr lang="en-US" sz="1400" dirty="0"/>
          </a:p>
        </p:txBody>
      </p:sp>
      <p:sp>
        <p:nvSpPr>
          <p:cNvPr id="6" name="Text 4"/>
          <p:cNvSpPr/>
          <p:nvPr/>
        </p:nvSpPr>
        <p:spPr>
          <a:xfrm>
            <a:off x="822960" y="4709160"/>
            <a:ext cx="10515600" cy="365760"/>
          </a:xfrm>
          <a:prstGeom prst="rect">
            <a:avLst/>
          </a:prstGeom>
          <a:noFill/>
          <a:ln/>
        </p:spPr>
        <p:txBody>
          <a:bodyPr wrap="square" rtlCol="0" anchor="ctr"/>
          <a:lstStyle/>
          <a:p>
            <a:pPr indent="0" marL="0">
              <a:buNone/>
            </a:pPr>
            <a:r>
              <a:rPr lang="en-US" sz="1300" dirty="0">
                <a:solidFill>
                  <a:srgbClr val="AAB4C8"/>
                </a:solidFill>
              </a:rPr>
              <a:t>All completed notebooks and Python files: </a:t>
            </a:r>
            <a:pPr indent="0" marL="0">
              <a:buNone/>
            </a:pPr>
            <a:r>
              <a:rPr lang="en-US" sz="1300" u="sng" dirty="0">
                <a:solidFill>
                  <a:srgbClr val="17BEBB"/>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CONTENTS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Outline</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2</a:t>
            </a:r>
            <a:endParaRPr lang="en-US" sz="1000" dirty="0"/>
          </a:p>
        </p:txBody>
      </p:sp>
      <p:sp>
        <p:nvSpPr>
          <p:cNvPr id="5" name="Text 3"/>
          <p:cNvSpPr/>
          <p:nvPr/>
        </p:nvSpPr>
        <p:spPr>
          <a:xfrm>
            <a:off x="822960" y="1554480"/>
            <a:ext cx="5120640" cy="457200"/>
          </a:xfrm>
          <a:prstGeom prst="rect">
            <a:avLst/>
          </a:prstGeom>
          <a:noFill/>
          <a:ln/>
        </p:spPr>
        <p:txBody>
          <a:bodyPr wrap="square" rtlCol="0" anchor="ctr"/>
          <a:lstStyle/>
          <a:p>
            <a:pPr marL="342900" indent="-342900">
              <a:buSzPct val="100000"/>
              <a:buChar char="•"/>
            </a:pPr>
            <a:r>
              <a:rPr lang="en-US" sz="1500" dirty="0">
                <a:solidFill>
                  <a:srgbClr val="0B1F3A"/>
                </a:solidFill>
              </a:rPr>
              <a:t>Executive Summary</a:t>
            </a:r>
            <a:endParaRPr lang="en-US" sz="1500" dirty="0"/>
          </a:p>
        </p:txBody>
      </p:sp>
      <p:sp>
        <p:nvSpPr>
          <p:cNvPr id="6" name="Text 4"/>
          <p:cNvSpPr/>
          <p:nvPr/>
        </p:nvSpPr>
        <p:spPr>
          <a:xfrm>
            <a:off x="822960" y="2121408"/>
            <a:ext cx="5120640" cy="457200"/>
          </a:xfrm>
          <a:prstGeom prst="rect">
            <a:avLst/>
          </a:prstGeom>
          <a:noFill/>
          <a:ln/>
        </p:spPr>
        <p:txBody>
          <a:bodyPr wrap="square" rtlCol="0" anchor="ctr"/>
          <a:lstStyle/>
          <a:p>
            <a:pPr marL="342900" indent="-342900">
              <a:buSzPct val="100000"/>
              <a:buChar char="•"/>
            </a:pPr>
            <a:r>
              <a:rPr lang="en-US" sz="1500" dirty="0">
                <a:solidFill>
                  <a:srgbClr val="0B1F3A"/>
                </a:solidFill>
              </a:rPr>
              <a:t>Introduction</a:t>
            </a:r>
            <a:endParaRPr lang="en-US" sz="1500" dirty="0"/>
          </a:p>
        </p:txBody>
      </p:sp>
      <p:sp>
        <p:nvSpPr>
          <p:cNvPr id="7" name="Text 5"/>
          <p:cNvSpPr/>
          <p:nvPr/>
        </p:nvSpPr>
        <p:spPr>
          <a:xfrm>
            <a:off x="822960" y="2688336"/>
            <a:ext cx="5120640" cy="457200"/>
          </a:xfrm>
          <a:prstGeom prst="rect">
            <a:avLst/>
          </a:prstGeom>
          <a:noFill/>
          <a:ln/>
        </p:spPr>
        <p:txBody>
          <a:bodyPr wrap="square" rtlCol="0" anchor="ctr"/>
          <a:lstStyle/>
          <a:p>
            <a:pPr marL="342900" indent="-342900">
              <a:buSzPct val="100000"/>
              <a:buChar char="•"/>
            </a:pPr>
            <a:r>
              <a:rPr lang="en-US" sz="1500" dirty="0">
                <a:solidFill>
                  <a:srgbClr val="0B1F3A"/>
                </a:solidFill>
              </a:rPr>
              <a:t>Methodology — data collection</a:t>
            </a:r>
            <a:endParaRPr lang="en-US" sz="1500" dirty="0"/>
          </a:p>
        </p:txBody>
      </p:sp>
      <p:sp>
        <p:nvSpPr>
          <p:cNvPr id="8" name="Text 6"/>
          <p:cNvSpPr/>
          <p:nvPr/>
        </p:nvSpPr>
        <p:spPr>
          <a:xfrm>
            <a:off x="822960" y="3255264"/>
            <a:ext cx="5120640" cy="457200"/>
          </a:xfrm>
          <a:prstGeom prst="rect">
            <a:avLst/>
          </a:prstGeom>
          <a:noFill/>
          <a:ln/>
        </p:spPr>
        <p:txBody>
          <a:bodyPr wrap="square" rtlCol="0" anchor="ctr"/>
          <a:lstStyle/>
          <a:p>
            <a:pPr marL="342900" indent="-342900">
              <a:buSzPct val="100000"/>
              <a:buChar char="•"/>
            </a:pPr>
            <a:r>
              <a:rPr lang="en-US" sz="1500" dirty="0">
                <a:solidFill>
                  <a:srgbClr val="0B1F3A"/>
                </a:solidFill>
              </a:rPr>
              <a:t>Methodology — data wrangling</a:t>
            </a:r>
            <a:endParaRPr lang="en-US" sz="1500" dirty="0"/>
          </a:p>
        </p:txBody>
      </p:sp>
      <p:sp>
        <p:nvSpPr>
          <p:cNvPr id="9" name="Text 7"/>
          <p:cNvSpPr/>
          <p:nvPr/>
        </p:nvSpPr>
        <p:spPr>
          <a:xfrm>
            <a:off x="822960" y="3822192"/>
            <a:ext cx="5120640" cy="457200"/>
          </a:xfrm>
          <a:prstGeom prst="rect">
            <a:avLst/>
          </a:prstGeom>
          <a:noFill/>
          <a:ln/>
        </p:spPr>
        <p:txBody>
          <a:bodyPr wrap="square" rtlCol="0" anchor="ctr"/>
          <a:lstStyle/>
          <a:p>
            <a:pPr marL="342900" indent="-342900">
              <a:buSzPct val="100000"/>
              <a:buChar char="•"/>
            </a:pPr>
            <a:r>
              <a:rPr lang="en-US" sz="1500" dirty="0">
                <a:solidFill>
                  <a:srgbClr val="0B1F3A"/>
                </a:solidFill>
              </a:rPr>
              <a:t>Methodology — EDA with visualization</a:t>
            </a:r>
            <a:endParaRPr lang="en-US" sz="1500" dirty="0"/>
          </a:p>
        </p:txBody>
      </p:sp>
      <p:sp>
        <p:nvSpPr>
          <p:cNvPr id="10" name="Text 8"/>
          <p:cNvSpPr/>
          <p:nvPr/>
        </p:nvSpPr>
        <p:spPr>
          <a:xfrm>
            <a:off x="822960" y="4389120"/>
            <a:ext cx="5120640" cy="457200"/>
          </a:xfrm>
          <a:prstGeom prst="rect">
            <a:avLst/>
          </a:prstGeom>
          <a:noFill/>
          <a:ln/>
        </p:spPr>
        <p:txBody>
          <a:bodyPr wrap="square" rtlCol="0" anchor="ctr"/>
          <a:lstStyle/>
          <a:p>
            <a:pPr marL="342900" indent="-342900">
              <a:buSzPct val="100000"/>
              <a:buChar char="•"/>
            </a:pPr>
            <a:r>
              <a:rPr lang="en-US" sz="1500" dirty="0">
                <a:solidFill>
                  <a:srgbClr val="0B1F3A"/>
                </a:solidFill>
              </a:rPr>
              <a:t>Methodology — EDA with SQL</a:t>
            </a:r>
            <a:endParaRPr lang="en-US" sz="1500" dirty="0"/>
          </a:p>
        </p:txBody>
      </p:sp>
      <p:sp>
        <p:nvSpPr>
          <p:cNvPr id="11" name="Text 9"/>
          <p:cNvSpPr/>
          <p:nvPr/>
        </p:nvSpPr>
        <p:spPr>
          <a:xfrm>
            <a:off x="822960" y="4956048"/>
            <a:ext cx="5120640" cy="457200"/>
          </a:xfrm>
          <a:prstGeom prst="rect">
            <a:avLst/>
          </a:prstGeom>
          <a:noFill/>
          <a:ln/>
        </p:spPr>
        <p:txBody>
          <a:bodyPr wrap="square" rtlCol="0" anchor="ctr"/>
          <a:lstStyle/>
          <a:p>
            <a:pPr marL="342900" indent="-342900">
              <a:buSzPct val="100000"/>
              <a:buChar char="•"/>
            </a:pPr>
            <a:r>
              <a:rPr lang="en-US" sz="1500" dirty="0">
                <a:solidFill>
                  <a:srgbClr val="0B1F3A"/>
                </a:solidFill>
              </a:rPr>
              <a:t>Methodology — interactive maps and dashboard</a:t>
            </a:r>
            <a:endParaRPr lang="en-US" sz="1500" dirty="0"/>
          </a:p>
        </p:txBody>
      </p:sp>
      <p:sp>
        <p:nvSpPr>
          <p:cNvPr id="12" name="Text 10"/>
          <p:cNvSpPr/>
          <p:nvPr/>
        </p:nvSpPr>
        <p:spPr>
          <a:xfrm>
            <a:off x="6309360" y="1554480"/>
            <a:ext cx="5394960" cy="457200"/>
          </a:xfrm>
          <a:prstGeom prst="rect">
            <a:avLst/>
          </a:prstGeom>
          <a:noFill/>
          <a:ln/>
        </p:spPr>
        <p:txBody>
          <a:bodyPr wrap="square" rtlCol="0" anchor="ctr"/>
          <a:lstStyle/>
          <a:p>
            <a:pPr marL="342900" indent="-342900">
              <a:buSzPct val="100000"/>
              <a:buChar char="•"/>
            </a:pPr>
            <a:r>
              <a:rPr lang="en-US" sz="1500" dirty="0">
                <a:solidFill>
                  <a:srgbClr val="0B1F3A"/>
                </a:solidFill>
              </a:rPr>
              <a:t>Methodology — predictive analysis</a:t>
            </a:r>
            <a:endParaRPr lang="en-US" sz="1500" dirty="0"/>
          </a:p>
        </p:txBody>
      </p:sp>
      <p:sp>
        <p:nvSpPr>
          <p:cNvPr id="13" name="Text 11"/>
          <p:cNvSpPr/>
          <p:nvPr/>
        </p:nvSpPr>
        <p:spPr>
          <a:xfrm>
            <a:off x="6309360" y="2121408"/>
            <a:ext cx="5394960" cy="457200"/>
          </a:xfrm>
          <a:prstGeom prst="rect">
            <a:avLst/>
          </a:prstGeom>
          <a:noFill/>
          <a:ln/>
        </p:spPr>
        <p:txBody>
          <a:bodyPr wrap="square" rtlCol="0" anchor="ctr"/>
          <a:lstStyle/>
          <a:p>
            <a:pPr marL="342900" indent="-342900">
              <a:buSzPct val="100000"/>
              <a:buChar char="•"/>
            </a:pPr>
            <a:r>
              <a:rPr lang="en-US" sz="1500" dirty="0">
                <a:solidFill>
                  <a:srgbClr val="0B1F3A"/>
                </a:solidFill>
              </a:rPr>
              <a:t>Results — EDA with visualization</a:t>
            </a:r>
            <a:endParaRPr lang="en-US" sz="1500" dirty="0"/>
          </a:p>
        </p:txBody>
      </p:sp>
      <p:sp>
        <p:nvSpPr>
          <p:cNvPr id="14" name="Text 12"/>
          <p:cNvSpPr/>
          <p:nvPr/>
        </p:nvSpPr>
        <p:spPr>
          <a:xfrm>
            <a:off x="6309360" y="2688336"/>
            <a:ext cx="5394960" cy="457200"/>
          </a:xfrm>
          <a:prstGeom prst="rect">
            <a:avLst/>
          </a:prstGeom>
          <a:noFill/>
          <a:ln/>
        </p:spPr>
        <p:txBody>
          <a:bodyPr wrap="square" rtlCol="0" anchor="ctr"/>
          <a:lstStyle/>
          <a:p>
            <a:pPr marL="342900" indent="-342900">
              <a:buSzPct val="100000"/>
              <a:buChar char="•"/>
            </a:pPr>
            <a:r>
              <a:rPr lang="en-US" sz="1500" dirty="0">
                <a:solidFill>
                  <a:srgbClr val="0B1F3A"/>
                </a:solidFill>
              </a:rPr>
              <a:t>Results — EDA with SQL</a:t>
            </a:r>
            <a:endParaRPr lang="en-US" sz="1500" dirty="0"/>
          </a:p>
        </p:txBody>
      </p:sp>
      <p:sp>
        <p:nvSpPr>
          <p:cNvPr id="15" name="Text 13"/>
          <p:cNvSpPr/>
          <p:nvPr/>
        </p:nvSpPr>
        <p:spPr>
          <a:xfrm>
            <a:off x="6309360" y="3255264"/>
            <a:ext cx="5394960" cy="457200"/>
          </a:xfrm>
          <a:prstGeom prst="rect">
            <a:avLst/>
          </a:prstGeom>
          <a:noFill/>
          <a:ln/>
        </p:spPr>
        <p:txBody>
          <a:bodyPr wrap="square" rtlCol="0" anchor="ctr"/>
          <a:lstStyle/>
          <a:p>
            <a:pPr marL="342900" indent="-342900">
              <a:buSzPct val="100000"/>
              <a:buChar char="•"/>
            </a:pPr>
            <a:r>
              <a:rPr lang="en-US" sz="1500" dirty="0">
                <a:solidFill>
                  <a:srgbClr val="0B1F3A"/>
                </a:solidFill>
              </a:rPr>
              <a:t>Results — Folium map</a:t>
            </a:r>
            <a:endParaRPr lang="en-US" sz="1500" dirty="0"/>
          </a:p>
        </p:txBody>
      </p:sp>
      <p:sp>
        <p:nvSpPr>
          <p:cNvPr id="16" name="Text 14"/>
          <p:cNvSpPr/>
          <p:nvPr/>
        </p:nvSpPr>
        <p:spPr>
          <a:xfrm>
            <a:off x="6309360" y="3822192"/>
            <a:ext cx="5394960" cy="457200"/>
          </a:xfrm>
          <a:prstGeom prst="rect">
            <a:avLst/>
          </a:prstGeom>
          <a:noFill/>
          <a:ln/>
        </p:spPr>
        <p:txBody>
          <a:bodyPr wrap="square" rtlCol="0" anchor="ctr"/>
          <a:lstStyle/>
          <a:p>
            <a:pPr marL="342900" indent="-342900">
              <a:buSzPct val="100000"/>
              <a:buChar char="•"/>
            </a:pPr>
            <a:r>
              <a:rPr lang="en-US" sz="1500" dirty="0">
                <a:solidFill>
                  <a:srgbClr val="0B1F3A"/>
                </a:solidFill>
              </a:rPr>
              <a:t>Results — Plotly Dash dashboard</a:t>
            </a:r>
            <a:endParaRPr lang="en-US" sz="1500" dirty="0"/>
          </a:p>
        </p:txBody>
      </p:sp>
      <p:sp>
        <p:nvSpPr>
          <p:cNvPr id="17" name="Text 15"/>
          <p:cNvSpPr/>
          <p:nvPr/>
        </p:nvSpPr>
        <p:spPr>
          <a:xfrm>
            <a:off x="6309360" y="4389120"/>
            <a:ext cx="5394960" cy="457200"/>
          </a:xfrm>
          <a:prstGeom prst="rect">
            <a:avLst/>
          </a:prstGeom>
          <a:noFill/>
          <a:ln/>
        </p:spPr>
        <p:txBody>
          <a:bodyPr wrap="square" rtlCol="0" anchor="ctr"/>
          <a:lstStyle/>
          <a:p>
            <a:pPr marL="342900" indent="-342900">
              <a:buSzPct val="100000"/>
              <a:buChar char="•"/>
            </a:pPr>
            <a:r>
              <a:rPr lang="en-US" sz="1500" dirty="0">
                <a:solidFill>
                  <a:srgbClr val="0B1F3A"/>
                </a:solidFill>
              </a:rPr>
              <a:t>Results — predictive analysis</a:t>
            </a:r>
            <a:endParaRPr lang="en-US" sz="1500" dirty="0"/>
          </a:p>
        </p:txBody>
      </p:sp>
      <p:sp>
        <p:nvSpPr>
          <p:cNvPr id="18" name="Text 16"/>
          <p:cNvSpPr/>
          <p:nvPr/>
        </p:nvSpPr>
        <p:spPr>
          <a:xfrm>
            <a:off x="6309360" y="4956048"/>
            <a:ext cx="5394960" cy="457200"/>
          </a:xfrm>
          <a:prstGeom prst="rect">
            <a:avLst/>
          </a:prstGeom>
          <a:noFill/>
          <a:ln/>
        </p:spPr>
        <p:txBody>
          <a:bodyPr wrap="square" rtlCol="0" anchor="ctr"/>
          <a:lstStyle/>
          <a:p>
            <a:pPr marL="342900" indent="-342900">
              <a:buSzPct val="100000"/>
              <a:buChar char="•"/>
            </a:pPr>
            <a:r>
              <a:rPr lang="en-US" sz="1500" dirty="0">
                <a:solidFill>
                  <a:srgbClr val="0B1F3A"/>
                </a:solidFill>
              </a:rPr>
              <a:t>Conclusion and insights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OVERVIEW</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Executive Summary</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3</a:t>
            </a:r>
            <a:endParaRPr lang="en-US" sz="1000" dirty="0"/>
          </a:p>
        </p:txBody>
      </p:sp>
      <p:sp>
        <p:nvSpPr>
          <p:cNvPr id="5" name="Text 3"/>
          <p:cNvSpPr/>
          <p:nvPr/>
        </p:nvSpPr>
        <p:spPr>
          <a:xfrm>
            <a:off x="457200" y="1371600"/>
            <a:ext cx="5577840" cy="2926080"/>
          </a:xfrm>
          <a:prstGeom prst="rect">
            <a:avLst/>
          </a:prstGeom>
          <a:noFill/>
          <a:ln/>
        </p:spPr>
        <p:txBody>
          <a:bodyPr wrap="square" rtlCol="0" anchor="ctr"/>
          <a:lstStyle/>
          <a:p>
            <a:pPr indent="0" marL="0">
              <a:lnSpc>
                <a:spcPts val="1900"/>
              </a:lnSpc>
              <a:buNone/>
            </a:pPr>
            <a:r>
              <a:rPr lang="en-US" sz="1300" b="1" dirty="0">
                <a:solidFill>
                  <a:srgbClr val="0B1F3A"/>
                </a:solidFill>
              </a:rPr>
              <a:t>Summary of methodologies
</a:t>
            </a:r>
            <a:pPr indent="0" marL="0">
              <a:lnSpc>
                <a:spcPts val="1900"/>
              </a:lnSpc>
              <a:buNone/>
            </a:pPr>
            <a:r>
              <a:rPr lang="en-US" sz="1300" dirty="0">
                <a:solidFill>
                  <a:srgbClr val="5B6472"/>
                </a:solidFill>
              </a:rPr>
              <a:t>Launch data was collected from the SpaceX REST API and by scraping Wikipedia, cross-checked and merged. Records were cleaned, missing payload mass imputed, and a binary landing-success label engineered from the raw outcome text. The data was explored with six charts and with nine SQL queries against SPACEXTABLE, mapped geospatially with Folium, published through a Plotly Dash dashboard, and modelled with four classifiers tuned by 10-fold GridSearchCV.</a:t>
            </a:r>
            <a:endParaRPr lang="en-US" sz="1300" dirty="0"/>
          </a:p>
        </p:txBody>
      </p:sp>
      <p:sp>
        <p:nvSpPr>
          <p:cNvPr id="6" name="Text 4"/>
          <p:cNvSpPr/>
          <p:nvPr/>
        </p:nvSpPr>
        <p:spPr>
          <a:xfrm>
            <a:off x="6217920" y="1371600"/>
            <a:ext cx="5486400" cy="2926080"/>
          </a:xfrm>
          <a:prstGeom prst="rect">
            <a:avLst/>
          </a:prstGeom>
          <a:noFill/>
          <a:ln/>
        </p:spPr>
        <p:txBody>
          <a:bodyPr wrap="square" rtlCol="0" anchor="ctr"/>
          <a:lstStyle/>
          <a:p>
            <a:pPr indent="0" marL="0">
              <a:lnSpc>
                <a:spcPts val="1900"/>
              </a:lnSpc>
              <a:buNone/>
            </a:pPr>
            <a:r>
              <a:rPr lang="en-US" sz="1300" b="1" dirty="0">
                <a:solidFill>
                  <a:srgbClr val="0B1F3A"/>
                </a:solidFill>
              </a:rPr>
              <a:t>Summary of results
</a:t>
            </a:r>
            <a:pPr indent="0" marL="0">
              <a:lnSpc>
                <a:spcPts val="1900"/>
              </a:lnSpc>
              <a:buNone/>
            </a:pPr>
            <a:r>
              <a:rPr lang="en-US" sz="1300" dirty="0">
                <a:solidFill>
                  <a:srgbClr val="5B6472"/>
                </a:solidFill>
              </a:rPr>
              <a:t>Across 90 Falcon 9 launches from 2010 to November 2020 the overall first-stage landing success rate was 66.7%. Logistic Regression, SVM and KNN each reached 83.3% test accuracy and the Decision Tree 77.8%. Success falls as orbit energy rises, and climbs steadily with booster generation and flight number — landing reliability is a maturing process rather than a fixed property of the hardware.</a:t>
            </a:r>
            <a:endParaRPr lang="en-US" sz="1300" dirty="0"/>
          </a:p>
        </p:txBody>
      </p:sp>
      <p:sp>
        <p:nvSpPr>
          <p:cNvPr id="7" name="Shape 5"/>
          <p:cNvSpPr/>
          <p:nvPr/>
        </p:nvSpPr>
        <p:spPr>
          <a:xfrm>
            <a:off x="457200" y="4480560"/>
            <a:ext cx="2606040" cy="1280160"/>
          </a:xfrm>
          <a:prstGeom prst="roundRect">
            <a:avLst>
              <a:gd name="adj" fmla="val 7143"/>
            </a:avLst>
          </a:prstGeom>
          <a:solidFill>
            <a:srgbClr val="F4F7FC"/>
          </a:solidFill>
          <a:ln w="12700">
            <a:solidFill>
              <a:srgbClr val="E2E8F5"/>
            </a:solidFill>
            <a:prstDash val="solid"/>
          </a:ln>
        </p:spPr>
      </p:sp>
      <p:sp>
        <p:nvSpPr>
          <p:cNvPr id="8" name="Text 6"/>
          <p:cNvSpPr/>
          <p:nvPr/>
        </p:nvSpPr>
        <p:spPr>
          <a:xfrm>
            <a:off x="457200" y="4617720"/>
            <a:ext cx="2606040" cy="548640"/>
          </a:xfrm>
          <a:prstGeom prst="rect">
            <a:avLst/>
          </a:prstGeom>
          <a:noFill/>
          <a:ln/>
        </p:spPr>
        <p:txBody>
          <a:bodyPr wrap="square" rtlCol="0" anchor="ctr"/>
          <a:lstStyle/>
          <a:p>
            <a:pPr algn="ctr" indent="0" marL="0">
              <a:buNone/>
            </a:pPr>
            <a:r>
              <a:rPr lang="en-US" sz="2600" b="1" dirty="0">
                <a:solidFill>
                  <a:srgbClr val="3B60E4"/>
                </a:solidFill>
              </a:rPr>
              <a:t>90</a:t>
            </a:r>
            <a:endParaRPr lang="en-US" sz="2600" dirty="0"/>
          </a:p>
        </p:txBody>
      </p:sp>
      <p:sp>
        <p:nvSpPr>
          <p:cNvPr id="9" name="Text 7"/>
          <p:cNvSpPr/>
          <p:nvPr/>
        </p:nvSpPr>
        <p:spPr>
          <a:xfrm>
            <a:off x="457200" y="5166360"/>
            <a:ext cx="2606040" cy="457200"/>
          </a:xfrm>
          <a:prstGeom prst="rect">
            <a:avLst/>
          </a:prstGeom>
          <a:noFill/>
          <a:ln/>
        </p:spPr>
        <p:txBody>
          <a:bodyPr wrap="square" rtlCol="0" anchor="ctr"/>
          <a:lstStyle/>
          <a:p>
            <a:pPr algn="ctr" indent="0" marL="0">
              <a:buNone/>
            </a:pPr>
            <a:r>
              <a:rPr lang="en-US" sz="1100" dirty="0">
                <a:solidFill>
                  <a:srgbClr val="5B6472"/>
                </a:solidFill>
              </a:rPr>
              <a:t>Launches analyzed</a:t>
            </a:r>
            <a:endParaRPr lang="en-US" sz="1100" dirty="0"/>
          </a:p>
        </p:txBody>
      </p:sp>
      <p:sp>
        <p:nvSpPr>
          <p:cNvPr id="10" name="Shape 8"/>
          <p:cNvSpPr/>
          <p:nvPr/>
        </p:nvSpPr>
        <p:spPr>
          <a:xfrm>
            <a:off x="3291840" y="4480560"/>
            <a:ext cx="2606040" cy="1280160"/>
          </a:xfrm>
          <a:prstGeom prst="roundRect">
            <a:avLst>
              <a:gd name="adj" fmla="val 7143"/>
            </a:avLst>
          </a:prstGeom>
          <a:solidFill>
            <a:srgbClr val="F4F7FC"/>
          </a:solidFill>
          <a:ln w="12700">
            <a:solidFill>
              <a:srgbClr val="E2E8F5"/>
            </a:solidFill>
            <a:prstDash val="solid"/>
          </a:ln>
        </p:spPr>
      </p:sp>
      <p:sp>
        <p:nvSpPr>
          <p:cNvPr id="11" name="Text 9"/>
          <p:cNvSpPr/>
          <p:nvPr/>
        </p:nvSpPr>
        <p:spPr>
          <a:xfrm>
            <a:off x="3291840" y="4617720"/>
            <a:ext cx="2606040" cy="548640"/>
          </a:xfrm>
          <a:prstGeom prst="rect">
            <a:avLst/>
          </a:prstGeom>
          <a:noFill/>
          <a:ln/>
        </p:spPr>
        <p:txBody>
          <a:bodyPr wrap="square" rtlCol="0" anchor="ctr"/>
          <a:lstStyle/>
          <a:p>
            <a:pPr algn="ctr" indent="0" marL="0">
              <a:buNone/>
            </a:pPr>
            <a:r>
              <a:rPr lang="en-US" sz="2600" b="1" dirty="0">
                <a:solidFill>
                  <a:srgbClr val="3B60E4"/>
                </a:solidFill>
              </a:rPr>
              <a:t>66.7%</a:t>
            </a:r>
            <a:endParaRPr lang="en-US" sz="2600" dirty="0"/>
          </a:p>
        </p:txBody>
      </p:sp>
      <p:sp>
        <p:nvSpPr>
          <p:cNvPr id="12" name="Text 10"/>
          <p:cNvSpPr/>
          <p:nvPr/>
        </p:nvSpPr>
        <p:spPr>
          <a:xfrm>
            <a:off x="3291840" y="5166360"/>
            <a:ext cx="2606040" cy="457200"/>
          </a:xfrm>
          <a:prstGeom prst="rect">
            <a:avLst/>
          </a:prstGeom>
          <a:noFill/>
          <a:ln/>
        </p:spPr>
        <p:txBody>
          <a:bodyPr wrap="square" rtlCol="0" anchor="ctr"/>
          <a:lstStyle/>
          <a:p>
            <a:pPr algn="ctr" indent="0" marL="0">
              <a:buNone/>
            </a:pPr>
            <a:r>
              <a:rPr lang="en-US" sz="1100" dirty="0">
                <a:solidFill>
                  <a:srgbClr val="5B6472"/>
                </a:solidFill>
              </a:rPr>
              <a:t>Landing success rate</a:t>
            </a:r>
            <a:endParaRPr lang="en-US" sz="1100" dirty="0"/>
          </a:p>
        </p:txBody>
      </p:sp>
      <p:sp>
        <p:nvSpPr>
          <p:cNvPr id="13" name="Shape 11"/>
          <p:cNvSpPr/>
          <p:nvPr/>
        </p:nvSpPr>
        <p:spPr>
          <a:xfrm>
            <a:off x="6126480" y="4480560"/>
            <a:ext cx="2606040" cy="1280160"/>
          </a:xfrm>
          <a:prstGeom prst="roundRect">
            <a:avLst>
              <a:gd name="adj" fmla="val 7143"/>
            </a:avLst>
          </a:prstGeom>
          <a:solidFill>
            <a:srgbClr val="F4F7FC"/>
          </a:solidFill>
          <a:ln w="12700">
            <a:solidFill>
              <a:srgbClr val="E2E8F5"/>
            </a:solidFill>
            <a:prstDash val="solid"/>
          </a:ln>
        </p:spPr>
      </p:sp>
      <p:sp>
        <p:nvSpPr>
          <p:cNvPr id="14" name="Text 12"/>
          <p:cNvSpPr/>
          <p:nvPr/>
        </p:nvSpPr>
        <p:spPr>
          <a:xfrm>
            <a:off x="6126480" y="4617720"/>
            <a:ext cx="2606040" cy="548640"/>
          </a:xfrm>
          <a:prstGeom prst="rect">
            <a:avLst/>
          </a:prstGeom>
          <a:noFill/>
          <a:ln/>
        </p:spPr>
        <p:txBody>
          <a:bodyPr wrap="square" rtlCol="0" anchor="ctr"/>
          <a:lstStyle/>
          <a:p>
            <a:pPr algn="ctr" indent="0" marL="0">
              <a:buNone/>
            </a:pPr>
            <a:r>
              <a:rPr lang="en-US" sz="2600" b="1" dirty="0">
                <a:solidFill>
                  <a:srgbClr val="3B60E4"/>
                </a:solidFill>
              </a:rPr>
              <a:t>83.3%</a:t>
            </a:r>
            <a:endParaRPr lang="en-US" sz="2600" dirty="0"/>
          </a:p>
        </p:txBody>
      </p:sp>
      <p:sp>
        <p:nvSpPr>
          <p:cNvPr id="15" name="Text 13"/>
          <p:cNvSpPr/>
          <p:nvPr/>
        </p:nvSpPr>
        <p:spPr>
          <a:xfrm>
            <a:off x="6126480" y="5166360"/>
            <a:ext cx="2606040" cy="457200"/>
          </a:xfrm>
          <a:prstGeom prst="rect">
            <a:avLst/>
          </a:prstGeom>
          <a:noFill/>
          <a:ln/>
        </p:spPr>
        <p:txBody>
          <a:bodyPr wrap="square" rtlCol="0" anchor="ctr"/>
          <a:lstStyle/>
          <a:p>
            <a:pPr algn="ctr" indent="0" marL="0">
              <a:buNone/>
            </a:pPr>
            <a:r>
              <a:rPr lang="en-US" sz="1100" dirty="0">
                <a:solidFill>
                  <a:srgbClr val="5B6472"/>
                </a:solidFill>
              </a:rPr>
              <a:t>Best model accuracy</a:t>
            </a:r>
            <a:endParaRPr lang="en-US" sz="1100" dirty="0"/>
          </a:p>
        </p:txBody>
      </p:sp>
      <p:sp>
        <p:nvSpPr>
          <p:cNvPr id="16" name="Shape 14"/>
          <p:cNvSpPr/>
          <p:nvPr/>
        </p:nvSpPr>
        <p:spPr>
          <a:xfrm>
            <a:off x="8961120" y="4480560"/>
            <a:ext cx="2606040" cy="1280160"/>
          </a:xfrm>
          <a:prstGeom prst="roundRect">
            <a:avLst>
              <a:gd name="adj" fmla="val 7143"/>
            </a:avLst>
          </a:prstGeom>
          <a:solidFill>
            <a:srgbClr val="F4F7FC"/>
          </a:solidFill>
          <a:ln w="12700">
            <a:solidFill>
              <a:srgbClr val="E2E8F5"/>
            </a:solidFill>
            <a:prstDash val="solid"/>
          </a:ln>
        </p:spPr>
      </p:sp>
      <p:sp>
        <p:nvSpPr>
          <p:cNvPr id="17" name="Text 15"/>
          <p:cNvSpPr/>
          <p:nvPr/>
        </p:nvSpPr>
        <p:spPr>
          <a:xfrm>
            <a:off x="8961120" y="4617720"/>
            <a:ext cx="2606040" cy="548640"/>
          </a:xfrm>
          <a:prstGeom prst="rect">
            <a:avLst/>
          </a:prstGeom>
          <a:noFill/>
          <a:ln/>
        </p:spPr>
        <p:txBody>
          <a:bodyPr wrap="square" rtlCol="0" anchor="ctr"/>
          <a:lstStyle/>
          <a:p>
            <a:pPr algn="ctr" indent="0" marL="0">
              <a:buNone/>
            </a:pPr>
            <a:r>
              <a:rPr lang="en-US" sz="2600" b="1" dirty="0">
                <a:solidFill>
                  <a:srgbClr val="3B60E4"/>
                </a:solidFill>
              </a:rPr>
              <a:t>4</a:t>
            </a:r>
            <a:endParaRPr lang="en-US" sz="2600" dirty="0"/>
          </a:p>
        </p:txBody>
      </p:sp>
      <p:sp>
        <p:nvSpPr>
          <p:cNvPr id="18" name="Text 16"/>
          <p:cNvSpPr/>
          <p:nvPr/>
        </p:nvSpPr>
        <p:spPr>
          <a:xfrm>
            <a:off x="8961120" y="5166360"/>
            <a:ext cx="2606040" cy="457200"/>
          </a:xfrm>
          <a:prstGeom prst="rect">
            <a:avLst/>
          </a:prstGeom>
          <a:noFill/>
          <a:ln/>
        </p:spPr>
        <p:txBody>
          <a:bodyPr wrap="square" rtlCol="0" anchor="ctr"/>
          <a:lstStyle/>
          <a:p>
            <a:pPr algn="ctr" indent="0" marL="0">
              <a:buNone/>
            </a:pPr>
            <a:r>
              <a:rPr lang="en-US" sz="1100" dirty="0">
                <a:solidFill>
                  <a:srgbClr val="5B6472"/>
                </a:solidFill>
              </a:rPr>
              <a:t>Models compared</a:t>
            </a:r>
            <a:endParaRPr lang="en-US" sz="1100" dirty="0"/>
          </a:p>
        </p:txBody>
      </p:sp>
      <p:sp>
        <p:nvSpPr>
          <p:cNvPr id="19" name="Text 17"/>
          <p:cNvSpPr/>
          <p:nvPr/>
        </p:nvSpPr>
        <p:spPr>
          <a:xfrm>
            <a:off x="457200" y="5897880"/>
            <a:ext cx="11247120" cy="457200"/>
          </a:xfrm>
          <a:prstGeom prst="rect">
            <a:avLst/>
          </a:prstGeom>
          <a:noFill/>
          <a:ln/>
        </p:spPr>
        <p:txBody>
          <a:bodyPr wrap="square" rtlCol="0" anchor="ctr"/>
          <a:lstStyle/>
          <a:p>
            <a:pPr indent="0" marL="0">
              <a:buNone/>
            </a:pPr>
            <a:r>
              <a:rPr lang="en-US" sz="1250" i="1" dirty="0">
                <a:solidFill>
                  <a:srgbClr val="0B1F3A"/>
                </a:solidFill>
              </a:rPr>
              <a:t>Conclusion: landing success is highly predictable from public launch parameters, so a competing launch provider can reliably estimate SpaceX's true reusable-launch cost advantage.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BACKGROUND</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Introduction</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4</a:t>
            </a:r>
            <a:endParaRPr lang="en-US" sz="1000" dirty="0"/>
          </a:p>
        </p:txBody>
      </p:sp>
      <p:sp>
        <p:nvSpPr>
          <p:cNvPr id="5" name="Text 3"/>
          <p:cNvSpPr/>
          <p:nvPr/>
        </p:nvSpPr>
        <p:spPr>
          <a:xfrm>
            <a:off x="457200" y="1371600"/>
            <a:ext cx="6766560" cy="3931920"/>
          </a:xfrm>
          <a:prstGeom prst="rect">
            <a:avLst/>
          </a:prstGeom>
          <a:noFill/>
          <a:ln/>
        </p:spPr>
        <p:txBody>
          <a:bodyPr wrap="square" rtlCol="0" anchor="ctr"/>
          <a:lstStyle/>
          <a:p>
            <a:pPr indent="0" marL="0">
              <a:lnSpc>
                <a:spcPts val="2000"/>
              </a:lnSpc>
              <a:buNone/>
            </a:pPr>
            <a:r>
              <a:rPr lang="en-US" sz="1300" b="1" dirty="0">
                <a:solidFill>
                  <a:srgbClr val="0B1F3A"/>
                </a:solidFill>
              </a:rPr>
              <a:t>Project background and context
</a:t>
            </a:r>
            <a:pPr indent="0" marL="0">
              <a:lnSpc>
                <a:spcPts val="2000"/>
              </a:lnSpc>
              <a:buNone/>
            </a:pPr>
            <a:r>
              <a:rPr lang="en-US" sz="1300" dirty="0">
                <a:solidFill>
                  <a:srgbClr val="5B6472"/>
                </a:solidFill>
              </a:rPr>
              <a:t>SpaceX advertises a Falcon 9 launch at $62 million against $165 million or more from other providers. The difference exists because SpaceX recovers and reuses the first stage instead of discarding it after every flight, so the cost of any given launch depends on whether that stage comes back.
</a:t>
            </a:r>
            <a:pPr indent="0" marL="0">
              <a:lnSpc>
                <a:spcPts val="2000"/>
              </a:lnSpc>
              <a:buNone/>
            </a:pPr>
            <a:r>
              <a:rPr lang="en-US" sz="1300" b="1" dirty="0">
                <a:solidFill>
                  <a:srgbClr val="0B1F3A"/>
                </a:solidFill>
              </a:rPr>
              <a:t>Problems you want to find answers to
</a:t>
            </a:r>
            <a:pPr indent="0" marL="0">
              <a:lnSpc>
                <a:spcPts val="2000"/>
              </a:lnSpc>
              <a:buNone/>
            </a:pPr>
            <a:r>
              <a:rPr lang="en-US" sz="1300" dirty="0">
                <a:solidFill>
                  <a:srgbClr val="5B6472"/>
                </a:solidFill>
              </a:rPr>
              <a:t>Acting as a data scientist for a startup competing with SpaceX, this project asks: what launch parameters determine whether the first stage lands successfully? Which orbits, payload masses and launch sites are associated with success? And can the outcome be predicted accurately enough from public data to cost a competing bid?</a:t>
            </a:r>
            <a:endParaRPr lang="en-US" sz="1300" dirty="0"/>
          </a:p>
        </p:txBody>
      </p:sp>
      <p:pic>
        <p:nvPicPr>
          <p:cNvPr id="6" name="Image 0" descr="C:\Users\USER\Documents\Coursera\repo\images\eda_yearly_trend.png">    </p:cNvPr>
          <p:cNvPicPr>
            <a:picLocks noChangeAspect="1"/>
          </p:cNvPicPr>
          <p:nvPr/>
        </p:nvPicPr>
        <p:blipFill>
          <a:blip r:embed="rId1"/>
          <a:stretch>
            <a:fillRect/>
          </a:stretch>
        </p:blipFill>
        <p:spPr>
          <a:xfrm>
            <a:off x="7498080" y="1463040"/>
            <a:ext cx="4206240" cy="2788920"/>
          </a:xfrm>
          <a:prstGeom prst="rect">
            <a:avLst/>
          </a:prstGeom>
        </p:spPr>
      </p:pic>
      <p:sp>
        <p:nvSpPr>
          <p:cNvPr id="7" name="Text 4"/>
          <p:cNvSpPr/>
          <p:nvPr/>
        </p:nvSpPr>
        <p:spPr>
          <a:xfrm>
            <a:off x="7498080" y="4389120"/>
            <a:ext cx="4206240" cy="822960"/>
          </a:xfrm>
          <a:prstGeom prst="rect">
            <a:avLst/>
          </a:prstGeom>
          <a:noFill/>
          <a:ln/>
        </p:spPr>
        <p:txBody>
          <a:bodyPr wrap="square" rtlCol="0" anchor="ctr"/>
          <a:lstStyle/>
          <a:p>
            <a:pPr indent="0" marL="0">
              <a:lnSpc>
                <a:spcPts val="1600"/>
              </a:lnSpc>
              <a:buNone/>
            </a:pPr>
            <a:r>
              <a:rPr lang="en-US" sz="1150" i="1" dirty="0">
                <a:solidFill>
                  <a:srgbClr val="5B6472"/>
                </a:solidFill>
              </a:rPr>
              <a:t>Landing success climbed from roughly 0% across 2010–2013 to close to 100% by 2019–2020.</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914400" y="2377440"/>
            <a:ext cx="10058400" cy="457200"/>
          </a:xfrm>
          <a:prstGeom prst="rect">
            <a:avLst/>
          </a:prstGeom>
          <a:noFill/>
          <a:ln/>
        </p:spPr>
        <p:txBody>
          <a:bodyPr wrap="square" rtlCol="0" anchor="ctr"/>
          <a:lstStyle/>
          <a:p>
            <a:pPr indent="0" marL="0">
              <a:buNone/>
            </a:pPr>
            <a:r>
              <a:rPr lang="en-US" sz="1600" b="1" spc="200" kern="0" dirty="0">
                <a:solidFill>
                  <a:srgbClr val="17BEBB"/>
                </a:solidFill>
              </a:rPr>
              <a:t>Section 1</a:t>
            </a:r>
            <a:endParaRPr lang="en-US" sz="1600" dirty="0"/>
          </a:p>
        </p:txBody>
      </p:sp>
      <p:sp>
        <p:nvSpPr>
          <p:cNvPr id="3" name="Text 1"/>
          <p:cNvSpPr/>
          <p:nvPr/>
        </p:nvSpPr>
        <p:spPr>
          <a:xfrm>
            <a:off x="914400" y="2880360"/>
            <a:ext cx="10058400" cy="914400"/>
          </a:xfrm>
          <a:prstGeom prst="rect">
            <a:avLst/>
          </a:prstGeom>
          <a:noFill/>
          <a:ln/>
        </p:spPr>
        <p:txBody>
          <a:bodyPr wrap="square" rtlCol="0" anchor="ctr"/>
          <a:lstStyle/>
          <a:p>
            <a:pPr indent="0" marL="0">
              <a:buNone/>
            </a:pPr>
            <a:r>
              <a:rPr lang="en-US" sz="3600" b="1" dirty="0">
                <a:solidFill>
                  <a:srgbClr val="FFFFFF"/>
                </a:solidFill>
              </a:rPr>
              <a:t>Methodology</a:t>
            </a:r>
            <a:endParaRPr lang="en-US" sz="3600" dirty="0"/>
          </a:p>
        </p:txBody>
      </p:sp>
      <p:sp>
        <p:nvSpPr>
          <p:cNvPr id="4" name="Text 2"/>
          <p:cNvSpPr/>
          <p:nvPr/>
        </p:nvSpPr>
        <p:spPr>
          <a:xfrm>
            <a:off x="914400" y="3931920"/>
            <a:ext cx="10058400" cy="548640"/>
          </a:xfrm>
          <a:prstGeom prst="rect">
            <a:avLst/>
          </a:prstGeom>
          <a:noFill/>
          <a:ln/>
        </p:spPr>
        <p:txBody>
          <a:bodyPr wrap="square" rtlCol="0" anchor="ctr"/>
          <a:lstStyle/>
          <a:p>
            <a:pPr indent="0" marL="0">
              <a:buNone/>
            </a:pPr>
            <a:r>
              <a:rPr lang="en-US" sz="1400" dirty="0">
                <a:solidFill>
                  <a:srgbClr val="AAB4C8"/>
                </a:solidFill>
              </a:rPr>
              <a:t>How the data was collected, cleaned, explored and modelled</a:t>
            </a:r>
            <a:endParaRPr lang="en-US" sz="1400" dirty="0"/>
          </a:p>
        </p:txBody>
      </p:sp>
      <p:sp>
        <p:nvSpPr>
          <p:cNvPr id="5" name="Text 3"/>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AAB4C8"/>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METHODOLOGY</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Data Collection — SpaceX API</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6</a:t>
            </a:r>
            <a:endParaRPr lang="en-US" sz="1000" dirty="0"/>
          </a:p>
        </p:txBody>
      </p:sp>
      <p:sp>
        <p:nvSpPr>
          <p:cNvPr id="5" name="Shape 3"/>
          <p:cNvSpPr/>
          <p:nvPr/>
        </p:nvSpPr>
        <p:spPr>
          <a:xfrm>
            <a:off x="457200" y="1554480"/>
            <a:ext cx="457200" cy="457200"/>
          </a:xfrm>
          <a:prstGeom prst="roundRect">
            <a:avLst>
              <a:gd name="adj" fmla="val 100000"/>
            </a:avLst>
          </a:prstGeom>
          <a:solidFill>
            <a:srgbClr val="3B60E4"/>
          </a:solidFill>
          <a:ln/>
        </p:spPr>
      </p:sp>
      <p:sp>
        <p:nvSpPr>
          <p:cNvPr id="6" name="Text 4"/>
          <p:cNvSpPr/>
          <p:nvPr/>
        </p:nvSpPr>
        <p:spPr>
          <a:xfrm>
            <a:off x="457200" y="1554480"/>
            <a:ext cx="457200" cy="457200"/>
          </a:xfrm>
          <a:prstGeom prst="rect">
            <a:avLst/>
          </a:prstGeom>
          <a:noFill/>
          <a:ln/>
        </p:spPr>
        <p:txBody>
          <a:bodyPr wrap="square" rtlCol="0" anchor="ctr"/>
          <a:lstStyle/>
          <a:p>
            <a:pPr algn="ctr" indent="0" marL="0">
              <a:buNone/>
            </a:pPr>
            <a:r>
              <a:rPr lang="en-US" sz="1500" b="1" dirty="0">
                <a:solidFill>
                  <a:srgbClr val="FFFFFF"/>
                </a:solidFill>
              </a:rPr>
              <a:t>1</a:t>
            </a:r>
            <a:endParaRPr lang="en-US" sz="1500" dirty="0"/>
          </a:p>
        </p:txBody>
      </p:sp>
      <p:sp>
        <p:nvSpPr>
          <p:cNvPr id="7" name="Text 5"/>
          <p:cNvSpPr/>
          <p:nvPr/>
        </p:nvSpPr>
        <p:spPr>
          <a:xfrm>
            <a:off x="1097280" y="1554480"/>
            <a:ext cx="5120640" cy="548640"/>
          </a:xfrm>
          <a:prstGeom prst="rect">
            <a:avLst/>
          </a:prstGeom>
          <a:noFill/>
          <a:ln/>
        </p:spPr>
        <p:txBody>
          <a:bodyPr wrap="square" rtlCol="0" anchor="ctr"/>
          <a:lstStyle/>
          <a:p>
            <a:pPr indent="0" marL="0">
              <a:buNone/>
            </a:pPr>
            <a:r>
              <a:rPr lang="en-US" sz="1300" dirty="0">
                <a:solidFill>
                  <a:srgbClr val="5B6472"/>
                </a:solidFill>
              </a:rPr>
              <a:t>GET /v4/launches/past returns every historical launch</a:t>
            </a:r>
            <a:endParaRPr lang="en-US" sz="1300" dirty="0"/>
          </a:p>
        </p:txBody>
      </p:sp>
      <p:sp>
        <p:nvSpPr>
          <p:cNvPr id="8" name="Shape 6"/>
          <p:cNvSpPr/>
          <p:nvPr/>
        </p:nvSpPr>
        <p:spPr>
          <a:xfrm>
            <a:off x="667512" y="2057400"/>
            <a:ext cx="36576" cy="411480"/>
          </a:xfrm>
          <a:prstGeom prst="rect">
            <a:avLst/>
          </a:prstGeom>
          <a:solidFill>
            <a:srgbClr val="D8E0F0"/>
          </a:solidFill>
          <a:ln/>
        </p:spPr>
      </p:sp>
      <p:sp>
        <p:nvSpPr>
          <p:cNvPr id="9" name="Shape 7"/>
          <p:cNvSpPr/>
          <p:nvPr/>
        </p:nvSpPr>
        <p:spPr>
          <a:xfrm>
            <a:off x="457200" y="2514600"/>
            <a:ext cx="457200" cy="457200"/>
          </a:xfrm>
          <a:prstGeom prst="roundRect">
            <a:avLst>
              <a:gd name="adj" fmla="val 100000"/>
            </a:avLst>
          </a:prstGeom>
          <a:solidFill>
            <a:srgbClr val="3B60E4"/>
          </a:solidFill>
          <a:ln/>
        </p:spPr>
      </p:sp>
      <p:sp>
        <p:nvSpPr>
          <p:cNvPr id="10" name="Text 8"/>
          <p:cNvSpPr/>
          <p:nvPr/>
        </p:nvSpPr>
        <p:spPr>
          <a:xfrm>
            <a:off x="457200" y="2514600"/>
            <a:ext cx="457200" cy="457200"/>
          </a:xfrm>
          <a:prstGeom prst="rect">
            <a:avLst/>
          </a:prstGeom>
          <a:noFill/>
          <a:ln/>
        </p:spPr>
        <p:txBody>
          <a:bodyPr wrap="square" rtlCol="0" anchor="ctr"/>
          <a:lstStyle/>
          <a:p>
            <a:pPr algn="ctr" indent="0" marL="0">
              <a:buNone/>
            </a:pPr>
            <a:r>
              <a:rPr lang="en-US" sz="1500" b="1" dirty="0">
                <a:solidFill>
                  <a:srgbClr val="FFFFFF"/>
                </a:solidFill>
              </a:rPr>
              <a:t>2</a:t>
            </a:r>
            <a:endParaRPr lang="en-US" sz="1500" dirty="0"/>
          </a:p>
        </p:txBody>
      </p:sp>
      <p:sp>
        <p:nvSpPr>
          <p:cNvPr id="11" name="Text 9"/>
          <p:cNvSpPr/>
          <p:nvPr/>
        </p:nvSpPr>
        <p:spPr>
          <a:xfrm>
            <a:off x="1097280" y="2514600"/>
            <a:ext cx="5120640" cy="548640"/>
          </a:xfrm>
          <a:prstGeom prst="rect">
            <a:avLst/>
          </a:prstGeom>
          <a:noFill/>
          <a:ln/>
        </p:spPr>
        <p:txBody>
          <a:bodyPr wrap="square" rtlCol="0" anchor="ctr"/>
          <a:lstStyle/>
          <a:p>
            <a:pPr indent="0" marL="0">
              <a:buNone/>
            </a:pPr>
            <a:r>
              <a:rPr lang="en-US" sz="1300" dirty="0">
                <a:solidFill>
                  <a:srgbClr val="5B6472"/>
                </a:solidFill>
              </a:rPr>
              <a:t>Filter to single-core, single-payload Falcon 9 flights</a:t>
            </a:r>
            <a:endParaRPr lang="en-US" sz="1300" dirty="0"/>
          </a:p>
        </p:txBody>
      </p:sp>
      <p:sp>
        <p:nvSpPr>
          <p:cNvPr id="12" name="Shape 10"/>
          <p:cNvSpPr/>
          <p:nvPr/>
        </p:nvSpPr>
        <p:spPr>
          <a:xfrm>
            <a:off x="667512" y="3017520"/>
            <a:ext cx="36576" cy="411480"/>
          </a:xfrm>
          <a:prstGeom prst="rect">
            <a:avLst/>
          </a:prstGeom>
          <a:solidFill>
            <a:srgbClr val="D8E0F0"/>
          </a:solidFill>
          <a:ln/>
        </p:spPr>
      </p:sp>
      <p:sp>
        <p:nvSpPr>
          <p:cNvPr id="13" name="Shape 11"/>
          <p:cNvSpPr/>
          <p:nvPr/>
        </p:nvSpPr>
        <p:spPr>
          <a:xfrm>
            <a:off x="457200" y="3474720"/>
            <a:ext cx="457200" cy="457200"/>
          </a:xfrm>
          <a:prstGeom prst="roundRect">
            <a:avLst>
              <a:gd name="adj" fmla="val 100000"/>
            </a:avLst>
          </a:prstGeom>
          <a:solidFill>
            <a:srgbClr val="3B60E4"/>
          </a:solidFill>
          <a:ln/>
        </p:spPr>
      </p:sp>
      <p:sp>
        <p:nvSpPr>
          <p:cNvPr id="14" name="Text 12"/>
          <p:cNvSpPr/>
          <p:nvPr/>
        </p:nvSpPr>
        <p:spPr>
          <a:xfrm>
            <a:off x="457200" y="3474720"/>
            <a:ext cx="457200" cy="457200"/>
          </a:xfrm>
          <a:prstGeom prst="rect">
            <a:avLst/>
          </a:prstGeom>
          <a:noFill/>
          <a:ln/>
        </p:spPr>
        <p:txBody>
          <a:bodyPr wrap="square" rtlCol="0" anchor="ctr"/>
          <a:lstStyle/>
          <a:p>
            <a:pPr algn="ctr" indent="0" marL="0">
              <a:buNone/>
            </a:pPr>
            <a:r>
              <a:rPr lang="en-US" sz="1500" b="1" dirty="0">
                <a:solidFill>
                  <a:srgbClr val="FFFFFF"/>
                </a:solidFill>
              </a:rPr>
              <a:t>3</a:t>
            </a:r>
            <a:endParaRPr lang="en-US" sz="1500" dirty="0"/>
          </a:p>
        </p:txBody>
      </p:sp>
      <p:sp>
        <p:nvSpPr>
          <p:cNvPr id="15" name="Text 13"/>
          <p:cNvSpPr/>
          <p:nvPr/>
        </p:nvSpPr>
        <p:spPr>
          <a:xfrm>
            <a:off x="1097280" y="3474720"/>
            <a:ext cx="5120640" cy="548640"/>
          </a:xfrm>
          <a:prstGeom prst="rect">
            <a:avLst/>
          </a:prstGeom>
          <a:noFill/>
          <a:ln/>
        </p:spPr>
        <p:txBody>
          <a:bodyPr wrap="square" rtlCol="0" anchor="ctr"/>
          <a:lstStyle/>
          <a:p>
            <a:pPr indent="0" marL="0">
              <a:buNone/>
            </a:pPr>
            <a:r>
              <a:rPr lang="en-US" sz="1300" dirty="0">
                <a:solidFill>
                  <a:srgbClr val="5B6472"/>
                </a:solidFill>
              </a:rPr>
              <a:t>Resolve IDs through /rockets, /launchpads, /payloads and /cores</a:t>
            </a:r>
            <a:endParaRPr lang="en-US" sz="1300" dirty="0"/>
          </a:p>
        </p:txBody>
      </p:sp>
      <p:sp>
        <p:nvSpPr>
          <p:cNvPr id="16" name="Shape 14"/>
          <p:cNvSpPr/>
          <p:nvPr/>
        </p:nvSpPr>
        <p:spPr>
          <a:xfrm>
            <a:off x="667512" y="3977640"/>
            <a:ext cx="36576" cy="411480"/>
          </a:xfrm>
          <a:prstGeom prst="rect">
            <a:avLst/>
          </a:prstGeom>
          <a:solidFill>
            <a:srgbClr val="D8E0F0"/>
          </a:solidFill>
          <a:ln/>
        </p:spPr>
      </p:sp>
      <p:sp>
        <p:nvSpPr>
          <p:cNvPr id="17" name="Shape 15"/>
          <p:cNvSpPr/>
          <p:nvPr/>
        </p:nvSpPr>
        <p:spPr>
          <a:xfrm>
            <a:off x="457200" y="4434840"/>
            <a:ext cx="457200" cy="457200"/>
          </a:xfrm>
          <a:prstGeom prst="roundRect">
            <a:avLst>
              <a:gd name="adj" fmla="val 100000"/>
            </a:avLst>
          </a:prstGeom>
          <a:solidFill>
            <a:srgbClr val="3B60E4"/>
          </a:solidFill>
          <a:ln/>
        </p:spPr>
      </p:sp>
      <p:sp>
        <p:nvSpPr>
          <p:cNvPr id="18" name="Text 16"/>
          <p:cNvSpPr/>
          <p:nvPr/>
        </p:nvSpPr>
        <p:spPr>
          <a:xfrm>
            <a:off x="457200" y="4434840"/>
            <a:ext cx="457200" cy="457200"/>
          </a:xfrm>
          <a:prstGeom prst="rect">
            <a:avLst/>
          </a:prstGeom>
          <a:noFill/>
          <a:ln/>
        </p:spPr>
        <p:txBody>
          <a:bodyPr wrap="square" rtlCol="0" anchor="ctr"/>
          <a:lstStyle/>
          <a:p>
            <a:pPr algn="ctr" indent="0" marL="0">
              <a:buNone/>
            </a:pPr>
            <a:r>
              <a:rPr lang="en-US" sz="1500" b="1" dirty="0">
                <a:solidFill>
                  <a:srgbClr val="FFFFFF"/>
                </a:solidFill>
              </a:rPr>
              <a:t>4</a:t>
            </a:r>
            <a:endParaRPr lang="en-US" sz="1500" dirty="0"/>
          </a:p>
        </p:txBody>
      </p:sp>
      <p:sp>
        <p:nvSpPr>
          <p:cNvPr id="19" name="Text 17"/>
          <p:cNvSpPr/>
          <p:nvPr/>
        </p:nvSpPr>
        <p:spPr>
          <a:xfrm>
            <a:off x="1097280" y="4434840"/>
            <a:ext cx="5120640" cy="548640"/>
          </a:xfrm>
          <a:prstGeom prst="rect">
            <a:avLst/>
          </a:prstGeom>
          <a:noFill/>
          <a:ln/>
        </p:spPr>
        <p:txBody>
          <a:bodyPr wrap="square" rtlCol="0" anchor="ctr"/>
          <a:lstStyle/>
          <a:p>
            <a:pPr indent="0" marL="0">
              <a:buNone/>
            </a:pPr>
            <a:r>
              <a:rPr lang="en-US" sz="1300" dirty="0">
                <a:solidFill>
                  <a:srgbClr val="5B6472"/>
                </a:solidFill>
              </a:rPr>
              <a:t>Assemble one row per launch and export to CSV</a:t>
            </a:r>
            <a:endParaRPr lang="en-US" sz="1300" dirty="0"/>
          </a:p>
        </p:txBody>
      </p:sp>
      <p:sp>
        <p:nvSpPr>
          <p:cNvPr id="20" name="Shape 18"/>
          <p:cNvSpPr/>
          <p:nvPr/>
        </p:nvSpPr>
        <p:spPr>
          <a:xfrm>
            <a:off x="6583680" y="1554480"/>
            <a:ext cx="5120640" cy="3840480"/>
          </a:xfrm>
          <a:prstGeom prst="roundRect">
            <a:avLst>
              <a:gd name="adj" fmla="val 1905"/>
            </a:avLst>
          </a:prstGeom>
          <a:solidFill>
            <a:srgbClr val="F4F7FC"/>
          </a:solidFill>
          <a:ln w="12700">
            <a:solidFill>
              <a:srgbClr val="E2E8F5"/>
            </a:solidFill>
            <a:prstDash val="solid"/>
          </a:ln>
        </p:spPr>
      </p:sp>
      <p:sp>
        <p:nvSpPr>
          <p:cNvPr id="21" name="Text 19"/>
          <p:cNvSpPr/>
          <p:nvPr/>
        </p:nvSpPr>
        <p:spPr>
          <a:xfrm>
            <a:off x="6858000" y="1783080"/>
            <a:ext cx="4572000" cy="320040"/>
          </a:xfrm>
          <a:prstGeom prst="rect">
            <a:avLst/>
          </a:prstGeom>
          <a:noFill/>
          <a:ln/>
        </p:spPr>
        <p:txBody>
          <a:bodyPr wrap="square" rtlCol="0" anchor="ctr"/>
          <a:lstStyle/>
          <a:p>
            <a:pPr indent="0" marL="0">
              <a:buNone/>
            </a:pPr>
            <a:r>
              <a:rPr lang="en-US" sz="1200" b="1" dirty="0">
                <a:solidFill>
                  <a:srgbClr val="3B60E4"/>
                </a:solidFill>
                <a:latin typeface="Courier New" pitchFamily="34" charset="0"/>
                <a:ea typeface="Courier New" pitchFamily="34" charset="-122"/>
                <a:cs typeface="Courier New" pitchFamily="34" charset="-120"/>
              </a:rPr>
              <a:t>api.spacexdata.com/v4/launches/past</a:t>
            </a:r>
            <a:endParaRPr lang="en-US" sz="1200" dirty="0"/>
          </a:p>
        </p:txBody>
      </p:sp>
      <p:sp>
        <p:nvSpPr>
          <p:cNvPr id="22" name="Text 20"/>
          <p:cNvSpPr/>
          <p:nvPr/>
        </p:nvSpPr>
        <p:spPr>
          <a:xfrm>
            <a:off x="6858000" y="2240280"/>
            <a:ext cx="4572000" cy="2926080"/>
          </a:xfrm>
          <a:prstGeom prst="rect">
            <a:avLst/>
          </a:prstGeom>
          <a:noFill/>
          <a:ln/>
        </p:spPr>
        <p:txBody>
          <a:bodyPr wrap="square" rtlCol="0" anchor="ctr"/>
          <a:lstStyle/>
          <a:p>
            <a:pPr indent="0" marL="0">
              <a:lnSpc>
                <a:spcPts val="1900"/>
              </a:lnSpc>
              <a:buNone/>
            </a:pPr>
            <a:r>
              <a:rPr lang="en-US" sz="1250" dirty="0">
                <a:solidFill>
                  <a:srgbClr val="0B1F3A"/>
                </a:solidFill>
              </a:rPr>
              <a:t>Result: 90 clean Falcon 9 launch records spanning 2010 to November 2020, each carrying booster version, payload mass, orbit, launch site with coordinates, flight count, grid fins, reused flag, legs, landing pad, booster block and serial, and landing outcome. Falcon 1 flights were excluded.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METHODOLOGY</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Data Collection — Web Scraping</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7</a:t>
            </a:r>
            <a:endParaRPr lang="en-US" sz="1000" dirty="0"/>
          </a:p>
        </p:txBody>
      </p:sp>
      <p:sp>
        <p:nvSpPr>
          <p:cNvPr id="5" name="Shape 3"/>
          <p:cNvSpPr/>
          <p:nvPr/>
        </p:nvSpPr>
        <p:spPr>
          <a:xfrm>
            <a:off x="457200" y="1554480"/>
            <a:ext cx="457200" cy="457200"/>
          </a:xfrm>
          <a:prstGeom prst="roundRect">
            <a:avLst>
              <a:gd name="adj" fmla="val 100000"/>
            </a:avLst>
          </a:prstGeom>
          <a:solidFill>
            <a:srgbClr val="3B60E4"/>
          </a:solidFill>
          <a:ln/>
        </p:spPr>
      </p:sp>
      <p:sp>
        <p:nvSpPr>
          <p:cNvPr id="6" name="Text 4"/>
          <p:cNvSpPr/>
          <p:nvPr/>
        </p:nvSpPr>
        <p:spPr>
          <a:xfrm>
            <a:off x="457200" y="1554480"/>
            <a:ext cx="457200" cy="457200"/>
          </a:xfrm>
          <a:prstGeom prst="rect">
            <a:avLst/>
          </a:prstGeom>
          <a:noFill/>
          <a:ln/>
        </p:spPr>
        <p:txBody>
          <a:bodyPr wrap="square" rtlCol="0" anchor="ctr"/>
          <a:lstStyle/>
          <a:p>
            <a:pPr algn="ctr" indent="0" marL="0">
              <a:buNone/>
            </a:pPr>
            <a:r>
              <a:rPr lang="en-US" sz="1500" b="1" dirty="0">
                <a:solidFill>
                  <a:srgbClr val="FFFFFF"/>
                </a:solidFill>
              </a:rPr>
              <a:t>1</a:t>
            </a:r>
            <a:endParaRPr lang="en-US" sz="1500" dirty="0"/>
          </a:p>
        </p:txBody>
      </p:sp>
      <p:sp>
        <p:nvSpPr>
          <p:cNvPr id="7" name="Text 5"/>
          <p:cNvSpPr/>
          <p:nvPr/>
        </p:nvSpPr>
        <p:spPr>
          <a:xfrm>
            <a:off x="1097280" y="1554480"/>
            <a:ext cx="5120640" cy="548640"/>
          </a:xfrm>
          <a:prstGeom prst="rect">
            <a:avLst/>
          </a:prstGeom>
          <a:noFill/>
          <a:ln/>
        </p:spPr>
        <p:txBody>
          <a:bodyPr wrap="square" rtlCol="0" anchor="ctr"/>
          <a:lstStyle/>
          <a:p>
            <a:pPr indent="0" marL="0">
              <a:buNone/>
            </a:pPr>
            <a:r>
              <a:rPr lang="en-US" sz="1300" dirty="0">
                <a:solidFill>
                  <a:srgbClr val="5B6472"/>
                </a:solidFill>
              </a:rPr>
              <a:t>Request the Wikipedia Falcon 9 launch-history page</a:t>
            </a:r>
            <a:endParaRPr lang="en-US" sz="1300" dirty="0"/>
          </a:p>
        </p:txBody>
      </p:sp>
      <p:sp>
        <p:nvSpPr>
          <p:cNvPr id="8" name="Shape 6"/>
          <p:cNvSpPr/>
          <p:nvPr/>
        </p:nvSpPr>
        <p:spPr>
          <a:xfrm>
            <a:off x="667512" y="2057400"/>
            <a:ext cx="36576" cy="411480"/>
          </a:xfrm>
          <a:prstGeom prst="rect">
            <a:avLst/>
          </a:prstGeom>
          <a:solidFill>
            <a:srgbClr val="D8E0F0"/>
          </a:solidFill>
          <a:ln/>
        </p:spPr>
      </p:sp>
      <p:sp>
        <p:nvSpPr>
          <p:cNvPr id="9" name="Shape 7"/>
          <p:cNvSpPr/>
          <p:nvPr/>
        </p:nvSpPr>
        <p:spPr>
          <a:xfrm>
            <a:off x="457200" y="2514600"/>
            <a:ext cx="457200" cy="457200"/>
          </a:xfrm>
          <a:prstGeom prst="roundRect">
            <a:avLst>
              <a:gd name="adj" fmla="val 100000"/>
            </a:avLst>
          </a:prstGeom>
          <a:solidFill>
            <a:srgbClr val="3B60E4"/>
          </a:solidFill>
          <a:ln/>
        </p:spPr>
      </p:sp>
      <p:sp>
        <p:nvSpPr>
          <p:cNvPr id="10" name="Text 8"/>
          <p:cNvSpPr/>
          <p:nvPr/>
        </p:nvSpPr>
        <p:spPr>
          <a:xfrm>
            <a:off x="457200" y="2514600"/>
            <a:ext cx="457200" cy="457200"/>
          </a:xfrm>
          <a:prstGeom prst="rect">
            <a:avLst/>
          </a:prstGeom>
          <a:noFill/>
          <a:ln/>
        </p:spPr>
        <p:txBody>
          <a:bodyPr wrap="square" rtlCol="0" anchor="ctr"/>
          <a:lstStyle/>
          <a:p>
            <a:pPr algn="ctr" indent="0" marL="0">
              <a:buNone/>
            </a:pPr>
            <a:r>
              <a:rPr lang="en-US" sz="1500" b="1" dirty="0">
                <a:solidFill>
                  <a:srgbClr val="FFFFFF"/>
                </a:solidFill>
              </a:rPr>
              <a:t>2</a:t>
            </a:r>
            <a:endParaRPr lang="en-US" sz="1500" dirty="0"/>
          </a:p>
        </p:txBody>
      </p:sp>
      <p:sp>
        <p:nvSpPr>
          <p:cNvPr id="11" name="Text 9"/>
          <p:cNvSpPr/>
          <p:nvPr/>
        </p:nvSpPr>
        <p:spPr>
          <a:xfrm>
            <a:off x="1097280" y="2514600"/>
            <a:ext cx="5120640" cy="548640"/>
          </a:xfrm>
          <a:prstGeom prst="rect">
            <a:avLst/>
          </a:prstGeom>
          <a:noFill/>
          <a:ln/>
        </p:spPr>
        <p:txBody>
          <a:bodyPr wrap="square" rtlCol="0" anchor="ctr"/>
          <a:lstStyle/>
          <a:p>
            <a:pPr indent="0" marL="0">
              <a:buNone/>
            </a:pPr>
            <a:r>
              <a:rPr lang="en-US" sz="1300" dirty="0">
                <a:solidFill>
                  <a:srgbClr val="5B6472"/>
                </a:solidFill>
              </a:rPr>
              <a:t>Locate the wikitable elements with BeautifulSoup</a:t>
            </a:r>
            <a:endParaRPr lang="en-US" sz="1300" dirty="0"/>
          </a:p>
        </p:txBody>
      </p:sp>
      <p:sp>
        <p:nvSpPr>
          <p:cNvPr id="12" name="Shape 10"/>
          <p:cNvSpPr/>
          <p:nvPr/>
        </p:nvSpPr>
        <p:spPr>
          <a:xfrm>
            <a:off x="667512" y="3017520"/>
            <a:ext cx="36576" cy="411480"/>
          </a:xfrm>
          <a:prstGeom prst="rect">
            <a:avLst/>
          </a:prstGeom>
          <a:solidFill>
            <a:srgbClr val="D8E0F0"/>
          </a:solidFill>
          <a:ln/>
        </p:spPr>
      </p:sp>
      <p:sp>
        <p:nvSpPr>
          <p:cNvPr id="13" name="Shape 11"/>
          <p:cNvSpPr/>
          <p:nvPr/>
        </p:nvSpPr>
        <p:spPr>
          <a:xfrm>
            <a:off x="457200" y="3474720"/>
            <a:ext cx="457200" cy="457200"/>
          </a:xfrm>
          <a:prstGeom prst="roundRect">
            <a:avLst>
              <a:gd name="adj" fmla="val 100000"/>
            </a:avLst>
          </a:prstGeom>
          <a:solidFill>
            <a:srgbClr val="3B60E4"/>
          </a:solidFill>
          <a:ln/>
        </p:spPr>
      </p:sp>
      <p:sp>
        <p:nvSpPr>
          <p:cNvPr id="14" name="Text 12"/>
          <p:cNvSpPr/>
          <p:nvPr/>
        </p:nvSpPr>
        <p:spPr>
          <a:xfrm>
            <a:off x="457200" y="3474720"/>
            <a:ext cx="457200" cy="457200"/>
          </a:xfrm>
          <a:prstGeom prst="rect">
            <a:avLst/>
          </a:prstGeom>
          <a:noFill/>
          <a:ln/>
        </p:spPr>
        <p:txBody>
          <a:bodyPr wrap="square" rtlCol="0" anchor="ctr"/>
          <a:lstStyle/>
          <a:p>
            <a:pPr algn="ctr" indent="0" marL="0">
              <a:buNone/>
            </a:pPr>
            <a:r>
              <a:rPr lang="en-US" sz="1500" b="1" dirty="0">
                <a:solidFill>
                  <a:srgbClr val="FFFFFF"/>
                </a:solidFill>
              </a:rPr>
              <a:t>3</a:t>
            </a:r>
            <a:endParaRPr lang="en-US" sz="1500" dirty="0"/>
          </a:p>
        </p:txBody>
      </p:sp>
      <p:sp>
        <p:nvSpPr>
          <p:cNvPr id="15" name="Text 13"/>
          <p:cNvSpPr/>
          <p:nvPr/>
        </p:nvSpPr>
        <p:spPr>
          <a:xfrm>
            <a:off x="1097280" y="3474720"/>
            <a:ext cx="5120640" cy="548640"/>
          </a:xfrm>
          <a:prstGeom prst="rect">
            <a:avLst/>
          </a:prstGeom>
          <a:noFill/>
          <a:ln/>
        </p:spPr>
        <p:txBody>
          <a:bodyPr wrap="square" rtlCol="0" anchor="ctr"/>
          <a:lstStyle/>
          <a:p>
            <a:pPr indent="0" marL="0">
              <a:buNone/>
            </a:pPr>
            <a:r>
              <a:rPr lang="en-US" sz="1300" dirty="0">
                <a:solidFill>
                  <a:srgbClr val="5B6472"/>
                </a:solidFill>
              </a:rPr>
              <a:t>Extract column headers programmatically</a:t>
            </a:r>
            <a:endParaRPr lang="en-US" sz="1300" dirty="0"/>
          </a:p>
        </p:txBody>
      </p:sp>
      <p:sp>
        <p:nvSpPr>
          <p:cNvPr id="16" name="Shape 14"/>
          <p:cNvSpPr/>
          <p:nvPr/>
        </p:nvSpPr>
        <p:spPr>
          <a:xfrm>
            <a:off x="667512" y="3977640"/>
            <a:ext cx="36576" cy="411480"/>
          </a:xfrm>
          <a:prstGeom prst="rect">
            <a:avLst/>
          </a:prstGeom>
          <a:solidFill>
            <a:srgbClr val="D8E0F0"/>
          </a:solidFill>
          <a:ln/>
        </p:spPr>
      </p:sp>
      <p:sp>
        <p:nvSpPr>
          <p:cNvPr id="17" name="Shape 15"/>
          <p:cNvSpPr/>
          <p:nvPr/>
        </p:nvSpPr>
        <p:spPr>
          <a:xfrm>
            <a:off x="457200" y="4434840"/>
            <a:ext cx="457200" cy="457200"/>
          </a:xfrm>
          <a:prstGeom prst="roundRect">
            <a:avLst>
              <a:gd name="adj" fmla="val 100000"/>
            </a:avLst>
          </a:prstGeom>
          <a:solidFill>
            <a:srgbClr val="3B60E4"/>
          </a:solidFill>
          <a:ln/>
        </p:spPr>
      </p:sp>
      <p:sp>
        <p:nvSpPr>
          <p:cNvPr id="18" name="Text 16"/>
          <p:cNvSpPr/>
          <p:nvPr/>
        </p:nvSpPr>
        <p:spPr>
          <a:xfrm>
            <a:off x="457200" y="4434840"/>
            <a:ext cx="457200" cy="457200"/>
          </a:xfrm>
          <a:prstGeom prst="rect">
            <a:avLst/>
          </a:prstGeom>
          <a:noFill/>
          <a:ln/>
        </p:spPr>
        <p:txBody>
          <a:bodyPr wrap="square" rtlCol="0" anchor="ctr"/>
          <a:lstStyle/>
          <a:p>
            <a:pPr algn="ctr" indent="0" marL="0">
              <a:buNone/>
            </a:pPr>
            <a:r>
              <a:rPr lang="en-US" sz="1500" b="1" dirty="0">
                <a:solidFill>
                  <a:srgbClr val="FFFFFF"/>
                </a:solidFill>
              </a:rPr>
              <a:t>4</a:t>
            </a:r>
            <a:endParaRPr lang="en-US" sz="1500" dirty="0"/>
          </a:p>
        </p:txBody>
      </p:sp>
      <p:sp>
        <p:nvSpPr>
          <p:cNvPr id="19" name="Text 17"/>
          <p:cNvSpPr/>
          <p:nvPr/>
        </p:nvSpPr>
        <p:spPr>
          <a:xfrm>
            <a:off x="1097280" y="4434840"/>
            <a:ext cx="5120640" cy="548640"/>
          </a:xfrm>
          <a:prstGeom prst="rect">
            <a:avLst/>
          </a:prstGeom>
          <a:noFill/>
          <a:ln/>
        </p:spPr>
        <p:txBody>
          <a:bodyPr wrap="square" rtlCol="0" anchor="ctr"/>
          <a:lstStyle/>
          <a:p>
            <a:pPr indent="0" marL="0">
              <a:buNone/>
            </a:pPr>
            <a:r>
              <a:rPr lang="en-US" sz="1300" dirty="0">
                <a:solidFill>
                  <a:srgbClr val="5B6472"/>
                </a:solidFill>
              </a:rPr>
              <a:t>Parse each row and clean it into a dataframe</a:t>
            </a:r>
            <a:endParaRPr lang="en-US" sz="1300" dirty="0"/>
          </a:p>
        </p:txBody>
      </p:sp>
      <p:sp>
        <p:nvSpPr>
          <p:cNvPr id="20" name="Shape 18"/>
          <p:cNvSpPr/>
          <p:nvPr/>
        </p:nvSpPr>
        <p:spPr>
          <a:xfrm>
            <a:off x="6583680" y="1554480"/>
            <a:ext cx="5120640" cy="3840480"/>
          </a:xfrm>
          <a:prstGeom prst="roundRect">
            <a:avLst>
              <a:gd name="adj" fmla="val 1905"/>
            </a:avLst>
          </a:prstGeom>
          <a:solidFill>
            <a:srgbClr val="F4F7FC"/>
          </a:solidFill>
          <a:ln w="12700">
            <a:solidFill>
              <a:srgbClr val="E2E8F5"/>
            </a:solidFill>
            <a:prstDash val="solid"/>
          </a:ln>
        </p:spPr>
      </p:sp>
      <p:sp>
        <p:nvSpPr>
          <p:cNvPr id="21" name="Text 19"/>
          <p:cNvSpPr/>
          <p:nvPr/>
        </p:nvSpPr>
        <p:spPr>
          <a:xfrm>
            <a:off x="6858000" y="1783080"/>
            <a:ext cx="4572000" cy="320040"/>
          </a:xfrm>
          <a:prstGeom prst="rect">
            <a:avLst/>
          </a:prstGeom>
          <a:noFill/>
          <a:ln/>
        </p:spPr>
        <p:txBody>
          <a:bodyPr wrap="square" rtlCol="0" anchor="ctr"/>
          <a:lstStyle/>
          <a:p>
            <a:pPr indent="0" marL="0">
              <a:buNone/>
            </a:pPr>
            <a:r>
              <a:rPr lang="en-US" sz="1200" b="1" dirty="0">
                <a:solidFill>
                  <a:srgbClr val="3B60E4"/>
                </a:solidFill>
                <a:latin typeface="Courier New" pitchFamily="34" charset="0"/>
                <a:ea typeface="Courier New" pitchFamily="34" charset="-122"/>
                <a:cs typeface="Courier New" pitchFamily="34" charset="-120"/>
              </a:rPr>
              <a:t>BeautifulSoup(response.text, 'html.parser')</a:t>
            </a:r>
            <a:endParaRPr lang="en-US" sz="1200" dirty="0"/>
          </a:p>
        </p:txBody>
      </p:sp>
      <p:sp>
        <p:nvSpPr>
          <p:cNvPr id="22" name="Text 20"/>
          <p:cNvSpPr/>
          <p:nvPr/>
        </p:nvSpPr>
        <p:spPr>
          <a:xfrm>
            <a:off x="6858000" y="2240280"/>
            <a:ext cx="4572000" cy="2926080"/>
          </a:xfrm>
          <a:prstGeom prst="rect">
            <a:avLst/>
          </a:prstGeom>
          <a:noFill/>
          <a:ln/>
        </p:spPr>
        <p:txBody>
          <a:bodyPr wrap="square" rtlCol="0" anchor="ctr"/>
          <a:lstStyle/>
          <a:p>
            <a:pPr indent="0" marL="0">
              <a:lnSpc>
                <a:spcPts val="1900"/>
              </a:lnSpc>
              <a:buNone/>
            </a:pPr>
            <a:r>
              <a:rPr lang="en-US" sz="1250" dirty="0">
                <a:solidFill>
                  <a:srgbClr val="0B1F3A"/>
                </a:solidFill>
              </a:rPr>
              <a:t>This second, independent source validates the API dataset and fills in fields the API does not expose, such as payload customer. It is also the table loaded into SQL for the EDA-with-SQL section. Key techniques: regex and Unicode cleanup of payload-mass strings, and helpers that pull booster version and landing status out of merged cells.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METHODOLOGY</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Data Wrangling</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8</a:t>
            </a:r>
            <a:endParaRPr lang="en-US" sz="1000" dirty="0"/>
          </a:p>
        </p:txBody>
      </p:sp>
      <p:sp>
        <p:nvSpPr>
          <p:cNvPr id="5" name="Text 3"/>
          <p:cNvSpPr/>
          <p:nvPr/>
        </p:nvSpPr>
        <p:spPr>
          <a:xfrm>
            <a:off x="457200" y="1371600"/>
            <a:ext cx="7498080" cy="4389120"/>
          </a:xfrm>
          <a:prstGeom prst="rect">
            <a:avLst/>
          </a:prstGeom>
          <a:noFill/>
          <a:ln/>
        </p:spPr>
        <p:txBody>
          <a:bodyPr wrap="square" rtlCol="0" anchor="ctr"/>
          <a:lstStyle/>
          <a:p>
            <a:pPr indent="0" marL="0">
              <a:lnSpc>
                <a:spcPts val="2100"/>
              </a:lnSpc>
              <a:buNone/>
            </a:pPr>
            <a:r>
              <a:rPr lang="en-US" sz="1300" b="1" dirty="0">
                <a:solidFill>
                  <a:srgbClr val="0B1F3A"/>
                </a:solidFill>
              </a:rPr>
              <a:t>Missing values. </a:t>
            </a:r>
            <a:pPr indent="0" marL="0">
              <a:lnSpc>
                <a:spcPts val="2100"/>
              </a:lnSpc>
              <a:buNone/>
            </a:pPr>
            <a:r>
              <a:rPr lang="en-US" sz="1300" dirty="0">
                <a:solidFill>
                  <a:srgbClr val="5B6472"/>
                </a:solidFill>
              </a:rPr>
              <a:t>PayloadMass was missing for 5.6% of records and was filled with the column mean. LandingPad was missing for 28.9% and was deliberately left as-is, since a null pad legitimately means no ground or drone-ship landing was attempted.
</a:t>
            </a:r>
            <a:pPr indent="0" marL="0">
              <a:lnSpc>
                <a:spcPts val="2100"/>
              </a:lnSpc>
              <a:buNone/>
            </a:pPr>
            <a:r>
              <a:rPr lang="en-US" sz="1300" b="1" dirty="0">
                <a:solidFill>
                  <a:srgbClr val="0B1F3A"/>
                </a:solidFill>
              </a:rPr>
              <a:t>Label engineering. </a:t>
            </a:r>
            <a:pPr indent="0" marL="0">
              <a:lnSpc>
                <a:spcPts val="2100"/>
              </a:lnSpc>
              <a:buNone/>
            </a:pPr>
            <a:r>
              <a:rPr lang="en-US" sz="1300" dirty="0">
                <a:solidFill>
                  <a:srgbClr val="5B6472"/>
                </a:solidFill>
              </a:rPr>
              <a:t>The raw Outcome field is free text — "True ASDS", "False Ocean", "None None". Each value was mapped to a binary Class column: 1 where the booster landed successfully by any method (drone ship, ground pad, RTLS return or controlled ocean), 0 where it did not land or no attempt was made.
</a:t>
            </a:r>
            <a:pPr indent="0" marL="0">
              <a:lnSpc>
                <a:spcPts val="2100"/>
              </a:lnSpc>
              <a:buNone/>
            </a:pPr>
            <a:r>
              <a:rPr lang="en-US" sz="1300" b="1" dirty="0">
                <a:solidFill>
                  <a:srgbClr val="0B1F3A"/>
                </a:solidFill>
              </a:rPr>
              <a:t>Result. </a:t>
            </a:r>
            <a:pPr indent="0" marL="0">
              <a:lnSpc>
                <a:spcPts val="2100"/>
              </a:lnSpc>
              <a:buNone/>
            </a:pPr>
            <a:r>
              <a:rPr lang="en-US" sz="1300" dirty="0">
                <a:solidFill>
                  <a:srgbClr val="5B6472"/>
                </a:solidFill>
              </a:rPr>
              <a:t>Of 90 launches, 60 ended in a successful first-stage landing and 30 did not. Class is the target variable for the predictive model.</a:t>
            </a:r>
            <a:endParaRPr lang="en-US" sz="1300" dirty="0"/>
          </a:p>
        </p:txBody>
      </p:sp>
      <p:sp>
        <p:nvSpPr>
          <p:cNvPr id="6" name="Shape 4"/>
          <p:cNvSpPr/>
          <p:nvPr/>
        </p:nvSpPr>
        <p:spPr>
          <a:xfrm>
            <a:off x="8321040" y="1737360"/>
            <a:ext cx="3383280" cy="3108960"/>
          </a:xfrm>
          <a:prstGeom prst="roundRect">
            <a:avLst>
              <a:gd name="adj" fmla="val 2941"/>
            </a:avLst>
          </a:prstGeom>
          <a:solidFill>
            <a:srgbClr val="F4F7FC"/>
          </a:solidFill>
          <a:ln w="12700">
            <a:solidFill>
              <a:srgbClr val="E2E8F5"/>
            </a:solidFill>
            <a:prstDash val="solid"/>
          </a:ln>
        </p:spPr>
      </p:sp>
      <p:sp>
        <p:nvSpPr>
          <p:cNvPr id="7" name="Text 5"/>
          <p:cNvSpPr/>
          <p:nvPr/>
        </p:nvSpPr>
        <p:spPr>
          <a:xfrm>
            <a:off x="8321040" y="2011680"/>
            <a:ext cx="3383280" cy="731520"/>
          </a:xfrm>
          <a:prstGeom prst="rect">
            <a:avLst/>
          </a:prstGeom>
          <a:noFill/>
          <a:ln/>
        </p:spPr>
        <p:txBody>
          <a:bodyPr wrap="square" rtlCol="0" anchor="ctr"/>
          <a:lstStyle/>
          <a:p>
            <a:pPr algn="ctr" indent="0" marL="0">
              <a:buNone/>
            </a:pPr>
            <a:r>
              <a:rPr lang="en-US" sz="4200" b="1" dirty="0">
                <a:solidFill>
                  <a:srgbClr val="17BEBB"/>
                </a:solidFill>
              </a:rPr>
              <a:t>60</a:t>
            </a:r>
            <a:endParaRPr lang="en-US" sz="4200" dirty="0"/>
          </a:p>
        </p:txBody>
      </p:sp>
      <p:sp>
        <p:nvSpPr>
          <p:cNvPr id="8" name="Text 6"/>
          <p:cNvSpPr/>
          <p:nvPr/>
        </p:nvSpPr>
        <p:spPr>
          <a:xfrm>
            <a:off x="8321040" y="2743200"/>
            <a:ext cx="3383280" cy="320040"/>
          </a:xfrm>
          <a:prstGeom prst="rect">
            <a:avLst/>
          </a:prstGeom>
          <a:noFill/>
          <a:ln/>
        </p:spPr>
        <p:txBody>
          <a:bodyPr wrap="square" rtlCol="0" anchor="ctr"/>
          <a:lstStyle/>
          <a:p>
            <a:pPr algn="ctr" indent="0" marL="0">
              <a:buNone/>
            </a:pPr>
            <a:r>
              <a:rPr lang="en-US" sz="1200" dirty="0">
                <a:solidFill>
                  <a:srgbClr val="5B6472"/>
                </a:solidFill>
              </a:rPr>
              <a:t>landed (66.7%)</a:t>
            </a:r>
            <a:endParaRPr lang="en-US" sz="1200" dirty="0"/>
          </a:p>
        </p:txBody>
      </p:sp>
      <p:sp>
        <p:nvSpPr>
          <p:cNvPr id="9" name="Text 7"/>
          <p:cNvSpPr/>
          <p:nvPr/>
        </p:nvSpPr>
        <p:spPr>
          <a:xfrm>
            <a:off x="8321040" y="3200400"/>
            <a:ext cx="3383280" cy="731520"/>
          </a:xfrm>
          <a:prstGeom prst="rect">
            <a:avLst/>
          </a:prstGeom>
          <a:noFill/>
          <a:ln/>
        </p:spPr>
        <p:txBody>
          <a:bodyPr wrap="square" rtlCol="0" anchor="ctr"/>
          <a:lstStyle/>
          <a:p>
            <a:pPr algn="ctr" indent="0" marL="0">
              <a:buNone/>
            </a:pPr>
            <a:r>
              <a:rPr lang="en-US" sz="4200" b="1" dirty="0">
                <a:solidFill>
                  <a:srgbClr val="E4572E"/>
                </a:solidFill>
              </a:rPr>
              <a:t>30</a:t>
            </a:r>
            <a:endParaRPr lang="en-US" sz="4200" dirty="0"/>
          </a:p>
        </p:txBody>
      </p:sp>
      <p:sp>
        <p:nvSpPr>
          <p:cNvPr id="10" name="Text 8"/>
          <p:cNvSpPr/>
          <p:nvPr/>
        </p:nvSpPr>
        <p:spPr>
          <a:xfrm>
            <a:off x="8321040" y="3931920"/>
            <a:ext cx="3383280" cy="320040"/>
          </a:xfrm>
          <a:prstGeom prst="rect">
            <a:avLst/>
          </a:prstGeom>
          <a:noFill/>
          <a:ln/>
        </p:spPr>
        <p:txBody>
          <a:bodyPr wrap="square" rtlCol="0" anchor="ctr"/>
          <a:lstStyle/>
          <a:p>
            <a:pPr algn="ctr" indent="0" marL="0">
              <a:buNone/>
            </a:pPr>
            <a:r>
              <a:rPr lang="en-US" sz="1200" dirty="0">
                <a:solidFill>
                  <a:srgbClr val="5B6472"/>
                </a:solidFill>
              </a:rPr>
              <a:t>did not land (33.3%)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METHODOLOGY</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EDA, Interactive Analytics and Modelling Approach</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9</a:t>
            </a:r>
            <a:endParaRPr lang="en-US" sz="1000" dirty="0"/>
          </a:p>
        </p:txBody>
      </p:sp>
      <p:sp>
        <p:nvSpPr>
          <p:cNvPr id="5" name="Shape 3"/>
          <p:cNvSpPr/>
          <p:nvPr/>
        </p:nvSpPr>
        <p:spPr>
          <a:xfrm>
            <a:off x="457200" y="1463040"/>
            <a:ext cx="5394960" cy="2011680"/>
          </a:xfrm>
          <a:prstGeom prst="roundRect">
            <a:avLst>
              <a:gd name="adj" fmla="val 4545"/>
            </a:avLst>
          </a:prstGeom>
          <a:solidFill>
            <a:srgbClr val="F4F7FC"/>
          </a:solidFill>
          <a:ln w="12700">
            <a:solidFill>
              <a:srgbClr val="E2E8F5"/>
            </a:solidFill>
            <a:prstDash val="solid"/>
          </a:ln>
        </p:spPr>
      </p:sp>
      <p:sp>
        <p:nvSpPr>
          <p:cNvPr id="6" name="Text 4"/>
          <p:cNvSpPr/>
          <p:nvPr/>
        </p:nvSpPr>
        <p:spPr>
          <a:xfrm>
            <a:off x="685800" y="1645920"/>
            <a:ext cx="4937760" cy="365760"/>
          </a:xfrm>
          <a:prstGeom prst="rect">
            <a:avLst/>
          </a:prstGeom>
          <a:noFill/>
          <a:ln/>
        </p:spPr>
        <p:txBody>
          <a:bodyPr wrap="square" rtlCol="0" anchor="ctr"/>
          <a:lstStyle/>
          <a:p>
            <a:pPr indent="0" marL="0">
              <a:buNone/>
            </a:pPr>
            <a:r>
              <a:rPr lang="en-US" sz="1500" b="1" dirty="0">
                <a:solidFill>
                  <a:srgbClr val="3B60E4"/>
                </a:solidFill>
              </a:rPr>
              <a:t>EDA with data visualization</a:t>
            </a:r>
            <a:endParaRPr lang="en-US" sz="1500" dirty="0"/>
          </a:p>
        </p:txBody>
      </p:sp>
      <p:sp>
        <p:nvSpPr>
          <p:cNvPr id="7" name="Text 5"/>
          <p:cNvSpPr/>
          <p:nvPr/>
        </p:nvSpPr>
        <p:spPr>
          <a:xfrm>
            <a:off x="685800" y="2057400"/>
            <a:ext cx="4937760" cy="1280160"/>
          </a:xfrm>
          <a:prstGeom prst="rect">
            <a:avLst/>
          </a:prstGeom>
          <a:noFill/>
          <a:ln/>
        </p:spPr>
        <p:txBody>
          <a:bodyPr wrap="square" rtlCol="0" anchor="ctr"/>
          <a:lstStyle/>
          <a:p>
            <a:pPr indent="0" marL="0">
              <a:lnSpc>
                <a:spcPts val="1700"/>
              </a:lnSpc>
              <a:buNone/>
            </a:pPr>
            <a:r>
              <a:rPr lang="en-US" sz="1200" dirty="0">
                <a:solidFill>
                  <a:srgbClr val="5B6472"/>
                </a:solidFill>
              </a:rPr>
              <a:t>Six charts: flight number against launch site and against orbit, payload mass against launch site and against orbit, success rate by orbit, and success rate by year.</a:t>
            </a:r>
            <a:endParaRPr lang="en-US" sz="1200" dirty="0"/>
          </a:p>
        </p:txBody>
      </p:sp>
      <p:sp>
        <p:nvSpPr>
          <p:cNvPr id="8" name="Shape 6"/>
          <p:cNvSpPr/>
          <p:nvPr/>
        </p:nvSpPr>
        <p:spPr>
          <a:xfrm>
            <a:off x="6309360" y="1463040"/>
            <a:ext cx="5394960" cy="2011680"/>
          </a:xfrm>
          <a:prstGeom prst="roundRect">
            <a:avLst>
              <a:gd name="adj" fmla="val 4545"/>
            </a:avLst>
          </a:prstGeom>
          <a:solidFill>
            <a:srgbClr val="F4F7FC"/>
          </a:solidFill>
          <a:ln w="12700">
            <a:solidFill>
              <a:srgbClr val="E2E8F5"/>
            </a:solidFill>
            <a:prstDash val="solid"/>
          </a:ln>
        </p:spPr>
      </p:sp>
      <p:sp>
        <p:nvSpPr>
          <p:cNvPr id="9" name="Text 7"/>
          <p:cNvSpPr/>
          <p:nvPr/>
        </p:nvSpPr>
        <p:spPr>
          <a:xfrm>
            <a:off x="6537960" y="1645920"/>
            <a:ext cx="4937760" cy="365760"/>
          </a:xfrm>
          <a:prstGeom prst="rect">
            <a:avLst/>
          </a:prstGeom>
          <a:noFill/>
          <a:ln/>
        </p:spPr>
        <p:txBody>
          <a:bodyPr wrap="square" rtlCol="0" anchor="ctr"/>
          <a:lstStyle/>
          <a:p>
            <a:pPr indent="0" marL="0">
              <a:buNone/>
            </a:pPr>
            <a:r>
              <a:rPr lang="en-US" sz="1500" b="1" dirty="0">
                <a:solidFill>
                  <a:srgbClr val="3B60E4"/>
                </a:solidFill>
              </a:rPr>
              <a:t>EDA with SQL</a:t>
            </a:r>
            <a:endParaRPr lang="en-US" sz="1500" dirty="0"/>
          </a:p>
        </p:txBody>
      </p:sp>
      <p:sp>
        <p:nvSpPr>
          <p:cNvPr id="10" name="Text 8"/>
          <p:cNvSpPr/>
          <p:nvPr/>
        </p:nvSpPr>
        <p:spPr>
          <a:xfrm>
            <a:off x="6537960" y="2057400"/>
            <a:ext cx="4937760" cy="1280160"/>
          </a:xfrm>
          <a:prstGeom prst="rect">
            <a:avLst/>
          </a:prstGeom>
          <a:noFill/>
          <a:ln/>
        </p:spPr>
        <p:txBody>
          <a:bodyPr wrap="square" rtlCol="0" anchor="ctr"/>
          <a:lstStyle/>
          <a:p>
            <a:pPr indent="0" marL="0">
              <a:lnSpc>
                <a:spcPts val="1700"/>
              </a:lnSpc>
              <a:buNone/>
            </a:pPr>
            <a:r>
              <a:rPr lang="en-US" sz="1200" dirty="0">
                <a:solidFill>
                  <a:srgbClr val="5B6472"/>
                </a:solidFill>
              </a:rPr>
              <a:t>The scraped table loaded into a SQL database as SPACEXTABLE, then nine queries run against it covering sites, payloads, landing dates, boosters and outcome rankings.</a:t>
            </a:r>
            <a:endParaRPr lang="en-US" sz="1200" dirty="0"/>
          </a:p>
        </p:txBody>
      </p:sp>
      <p:sp>
        <p:nvSpPr>
          <p:cNvPr id="11" name="Shape 9"/>
          <p:cNvSpPr/>
          <p:nvPr/>
        </p:nvSpPr>
        <p:spPr>
          <a:xfrm>
            <a:off x="457200" y="3749040"/>
            <a:ext cx="5394960" cy="2011680"/>
          </a:xfrm>
          <a:prstGeom prst="roundRect">
            <a:avLst>
              <a:gd name="adj" fmla="val 4545"/>
            </a:avLst>
          </a:prstGeom>
          <a:solidFill>
            <a:srgbClr val="F4F7FC"/>
          </a:solidFill>
          <a:ln w="12700">
            <a:solidFill>
              <a:srgbClr val="E2E8F5"/>
            </a:solidFill>
            <a:prstDash val="solid"/>
          </a:ln>
        </p:spPr>
      </p:sp>
      <p:sp>
        <p:nvSpPr>
          <p:cNvPr id="12" name="Text 10"/>
          <p:cNvSpPr/>
          <p:nvPr/>
        </p:nvSpPr>
        <p:spPr>
          <a:xfrm>
            <a:off x="685800" y="3931920"/>
            <a:ext cx="4937760" cy="365760"/>
          </a:xfrm>
          <a:prstGeom prst="rect">
            <a:avLst/>
          </a:prstGeom>
          <a:noFill/>
          <a:ln/>
        </p:spPr>
        <p:txBody>
          <a:bodyPr wrap="square" rtlCol="0" anchor="ctr"/>
          <a:lstStyle/>
          <a:p>
            <a:pPr indent="0" marL="0">
              <a:buNone/>
            </a:pPr>
            <a:r>
              <a:rPr lang="en-US" sz="1500" b="1" dirty="0">
                <a:solidFill>
                  <a:srgbClr val="3B60E4"/>
                </a:solidFill>
              </a:rPr>
              <a:t>Interactive visual analytics</a:t>
            </a:r>
            <a:endParaRPr lang="en-US" sz="1500" dirty="0"/>
          </a:p>
        </p:txBody>
      </p:sp>
      <p:sp>
        <p:nvSpPr>
          <p:cNvPr id="13" name="Text 11"/>
          <p:cNvSpPr/>
          <p:nvPr/>
        </p:nvSpPr>
        <p:spPr>
          <a:xfrm>
            <a:off x="685800" y="4343400"/>
            <a:ext cx="4937760" cy="1280160"/>
          </a:xfrm>
          <a:prstGeom prst="rect">
            <a:avLst/>
          </a:prstGeom>
          <a:noFill/>
          <a:ln/>
        </p:spPr>
        <p:txBody>
          <a:bodyPr wrap="square" rtlCol="0" anchor="ctr"/>
          <a:lstStyle/>
          <a:p>
            <a:pPr indent="0" marL="0">
              <a:lnSpc>
                <a:spcPts val="1700"/>
              </a:lnSpc>
              <a:buNone/>
            </a:pPr>
            <a:r>
              <a:rPr lang="en-US" sz="1200" dirty="0">
                <a:solidFill>
                  <a:srgbClr val="5B6472"/>
                </a:solidFill>
              </a:rPr>
              <a:t>A Folium map with launch-site markers, per-launch outcome markers and haversine proximity lines; a Plotly Dash app with a site dropdown, success-rate pie chart and payload range slider.</a:t>
            </a:r>
            <a:endParaRPr lang="en-US" sz="1200" dirty="0"/>
          </a:p>
        </p:txBody>
      </p:sp>
      <p:sp>
        <p:nvSpPr>
          <p:cNvPr id="14" name="Shape 12"/>
          <p:cNvSpPr/>
          <p:nvPr/>
        </p:nvSpPr>
        <p:spPr>
          <a:xfrm>
            <a:off x="6309360" y="3749040"/>
            <a:ext cx="5394960" cy="2011680"/>
          </a:xfrm>
          <a:prstGeom prst="roundRect">
            <a:avLst>
              <a:gd name="adj" fmla="val 4545"/>
            </a:avLst>
          </a:prstGeom>
          <a:solidFill>
            <a:srgbClr val="F4F7FC"/>
          </a:solidFill>
          <a:ln w="12700">
            <a:solidFill>
              <a:srgbClr val="E2E8F5"/>
            </a:solidFill>
            <a:prstDash val="solid"/>
          </a:ln>
        </p:spPr>
      </p:sp>
      <p:sp>
        <p:nvSpPr>
          <p:cNvPr id="15" name="Text 13"/>
          <p:cNvSpPr/>
          <p:nvPr/>
        </p:nvSpPr>
        <p:spPr>
          <a:xfrm>
            <a:off x="6537960" y="3931920"/>
            <a:ext cx="4937760" cy="365760"/>
          </a:xfrm>
          <a:prstGeom prst="rect">
            <a:avLst/>
          </a:prstGeom>
          <a:noFill/>
          <a:ln/>
        </p:spPr>
        <p:txBody>
          <a:bodyPr wrap="square" rtlCol="0" anchor="ctr"/>
          <a:lstStyle/>
          <a:p>
            <a:pPr indent="0" marL="0">
              <a:buNone/>
            </a:pPr>
            <a:r>
              <a:rPr lang="en-US" sz="1500" b="1" dirty="0">
                <a:solidFill>
                  <a:srgbClr val="3B60E4"/>
                </a:solidFill>
              </a:rPr>
              <a:t>Predictive analysis</a:t>
            </a:r>
            <a:endParaRPr lang="en-US" sz="1500" dirty="0"/>
          </a:p>
        </p:txBody>
      </p:sp>
      <p:sp>
        <p:nvSpPr>
          <p:cNvPr id="16" name="Text 14"/>
          <p:cNvSpPr/>
          <p:nvPr/>
        </p:nvSpPr>
        <p:spPr>
          <a:xfrm>
            <a:off x="6537960" y="4343400"/>
            <a:ext cx="4937760" cy="1280160"/>
          </a:xfrm>
          <a:prstGeom prst="rect">
            <a:avLst/>
          </a:prstGeom>
          <a:noFill/>
          <a:ln/>
        </p:spPr>
        <p:txBody>
          <a:bodyPr wrap="square" rtlCol="0" anchor="ctr"/>
          <a:lstStyle/>
          <a:p>
            <a:pPr indent="0" marL="0">
              <a:lnSpc>
                <a:spcPts val="1700"/>
              </a:lnSpc>
              <a:buNone/>
            </a:pPr>
            <a:r>
              <a:rPr lang="en-US" sz="1200" dirty="0">
                <a:solidFill>
                  <a:srgbClr val="5B6472"/>
                </a:solidFill>
              </a:rPr>
              <a:t>Features standardized, split 80/20, then Logistic Regression, SVM, Decision Tree and KNN each tuned by 10-fold GridSearchCV and compared on test accuracy and confusion matrix.</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914400" y="2377440"/>
            <a:ext cx="10058400" cy="457200"/>
          </a:xfrm>
          <a:prstGeom prst="rect">
            <a:avLst/>
          </a:prstGeom>
          <a:noFill/>
          <a:ln/>
        </p:spPr>
        <p:txBody>
          <a:bodyPr wrap="square" rtlCol="0" anchor="ctr"/>
          <a:lstStyle/>
          <a:p>
            <a:pPr indent="0" marL="0">
              <a:buNone/>
            </a:pPr>
            <a:r>
              <a:rPr lang="en-US" sz="1600" b="1" spc="200" kern="0" dirty="0">
                <a:solidFill>
                  <a:srgbClr val="17BEBB"/>
                </a:solidFill>
              </a:rPr>
              <a:t>Section 2</a:t>
            </a:r>
            <a:endParaRPr lang="en-US" sz="1600" dirty="0"/>
          </a:p>
        </p:txBody>
      </p:sp>
      <p:sp>
        <p:nvSpPr>
          <p:cNvPr id="3" name="Text 1"/>
          <p:cNvSpPr/>
          <p:nvPr/>
        </p:nvSpPr>
        <p:spPr>
          <a:xfrm>
            <a:off x="914400" y="2880360"/>
            <a:ext cx="10058400" cy="914400"/>
          </a:xfrm>
          <a:prstGeom prst="rect">
            <a:avLst/>
          </a:prstGeom>
          <a:noFill/>
          <a:ln/>
        </p:spPr>
        <p:txBody>
          <a:bodyPr wrap="square" rtlCol="0" anchor="ctr"/>
          <a:lstStyle/>
          <a:p>
            <a:pPr indent="0" marL="0">
              <a:buNone/>
            </a:pPr>
            <a:r>
              <a:rPr lang="en-US" sz="3600" b="1" dirty="0">
                <a:solidFill>
                  <a:srgbClr val="FFFFFF"/>
                </a:solidFill>
              </a:rPr>
              <a:t>Results — EDA with Data Visualization</a:t>
            </a:r>
            <a:endParaRPr lang="en-US" sz="3600" dirty="0"/>
          </a:p>
        </p:txBody>
      </p:sp>
      <p:sp>
        <p:nvSpPr>
          <p:cNvPr id="4" name="Text 2"/>
          <p:cNvSpPr/>
          <p:nvPr/>
        </p:nvSpPr>
        <p:spPr>
          <a:xfrm>
            <a:off x="914400" y="3931920"/>
            <a:ext cx="10058400" cy="548640"/>
          </a:xfrm>
          <a:prstGeom prst="rect">
            <a:avLst/>
          </a:prstGeom>
          <a:noFill/>
          <a:ln/>
        </p:spPr>
        <p:txBody>
          <a:bodyPr wrap="square" rtlCol="0" anchor="ctr"/>
          <a:lstStyle/>
          <a:p>
            <a:pPr indent="0" marL="0">
              <a:buNone/>
            </a:pPr>
            <a:r>
              <a:rPr lang="en-US" sz="1400" dirty="0">
                <a:solidFill>
                  <a:srgbClr val="AAB4C8"/>
                </a:solidFill>
              </a:rPr>
              <a:t>Six charts relating flight number, payload, orbit and year to landing outcome</a:t>
            </a:r>
            <a:endParaRPr lang="en-US" sz="1400" dirty="0"/>
          </a:p>
        </p:txBody>
      </p:sp>
      <p:sp>
        <p:nvSpPr>
          <p:cNvPr id="5" name="Text 3"/>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AAB4C8"/>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Flight Number vs. Launch Site</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11</a:t>
            </a:r>
            <a:endParaRPr lang="en-US" sz="1000" dirty="0"/>
          </a:p>
        </p:txBody>
      </p:sp>
      <p:pic>
        <p:nvPicPr>
          <p:cNvPr id="5" name="Image 0" descr="C:\Users\USER\Documents\Coursera\repo\images\eda_flightnum_site.png">    </p:cNvPr>
          <p:cNvPicPr>
            <a:picLocks noChangeAspect="1"/>
          </p:cNvPicPr>
          <p:nvPr/>
        </p:nvPicPr>
        <p:blipFill>
          <a:blip r:embed="rId1"/>
          <a:stretch>
            <a:fillRect/>
          </a:stretch>
        </p:blipFill>
        <p:spPr>
          <a:xfrm>
            <a:off x="457200" y="1371600"/>
            <a:ext cx="6949440" cy="4206240"/>
          </a:xfrm>
          <a:prstGeom prst="rect">
            <a:avLst/>
          </a:prstGeom>
        </p:spPr>
      </p:pic>
      <p:sp>
        <p:nvSpPr>
          <p:cNvPr id="6" name="Text 3"/>
          <p:cNvSpPr/>
          <p:nvPr/>
        </p:nvSpPr>
        <p:spPr>
          <a:xfrm>
            <a:off x="7680960" y="1463040"/>
            <a:ext cx="4023360" cy="4206240"/>
          </a:xfrm>
          <a:prstGeom prst="rect">
            <a:avLst/>
          </a:prstGeom>
          <a:noFill/>
          <a:ln/>
        </p:spPr>
        <p:txBody>
          <a:bodyPr wrap="square" rtlCol="0" anchor="ctr"/>
          <a:lstStyle/>
          <a:p>
            <a:pPr indent="0" marL="0">
              <a:lnSpc>
                <a:spcPts val="2000"/>
              </a:lnSpc>
              <a:buNone/>
            </a:pPr>
            <a:r>
              <a:rPr lang="en-US" sz="1300" b="1" dirty="0">
                <a:solidFill>
                  <a:srgbClr val="0B1F3A"/>
                </a:solidFill>
              </a:rPr>
              <a:t>What this shows
</a:t>
            </a:r>
            <a:pPr indent="0" marL="0">
              <a:lnSpc>
                <a:spcPts val="2000"/>
              </a:lnSpc>
              <a:buNone/>
            </a:pPr>
            <a:r>
              <a:rPr lang="en-US" sz="1300" dirty="0">
                <a:solidFill>
                  <a:srgbClr val="5B6472"/>
                </a:solidFill>
              </a:rPr>
              <a:t>Each launch plotted by flight number against its site, colored by landing outcome. Early flight numbers at CCAFS LC-40 are almost all failures; as flight number rises, successes dominate at every site. Launch experience, not the site itself, is what changes the outcome.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Payload Mass vs. Launch Site</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12</a:t>
            </a:r>
            <a:endParaRPr lang="en-US" sz="1000" dirty="0"/>
          </a:p>
        </p:txBody>
      </p:sp>
      <p:pic>
        <p:nvPicPr>
          <p:cNvPr id="5" name="Image 0" descr="C:\Users\USER\Documents\Coursera\repo\images\eda_payload_site.png">    </p:cNvPr>
          <p:cNvPicPr>
            <a:picLocks noChangeAspect="1"/>
          </p:cNvPicPr>
          <p:nvPr/>
        </p:nvPicPr>
        <p:blipFill>
          <a:blip r:embed="rId1"/>
          <a:stretch>
            <a:fillRect/>
          </a:stretch>
        </p:blipFill>
        <p:spPr>
          <a:xfrm>
            <a:off x="457200" y="1371600"/>
            <a:ext cx="6949440" cy="4206240"/>
          </a:xfrm>
          <a:prstGeom prst="rect">
            <a:avLst/>
          </a:prstGeom>
        </p:spPr>
      </p:pic>
      <p:sp>
        <p:nvSpPr>
          <p:cNvPr id="6" name="Text 3"/>
          <p:cNvSpPr/>
          <p:nvPr/>
        </p:nvSpPr>
        <p:spPr>
          <a:xfrm>
            <a:off x="7680960" y="1463040"/>
            <a:ext cx="4023360" cy="4206240"/>
          </a:xfrm>
          <a:prstGeom prst="rect">
            <a:avLst/>
          </a:prstGeom>
          <a:noFill/>
          <a:ln/>
        </p:spPr>
        <p:txBody>
          <a:bodyPr wrap="square" rtlCol="0" anchor="ctr"/>
          <a:lstStyle/>
          <a:p>
            <a:pPr indent="0" marL="0">
              <a:lnSpc>
                <a:spcPts val="2000"/>
              </a:lnSpc>
              <a:buNone/>
            </a:pPr>
            <a:r>
              <a:rPr lang="en-US" sz="1300" b="1" dirty="0">
                <a:solidFill>
                  <a:srgbClr val="0B1F3A"/>
                </a:solidFill>
              </a:rPr>
              <a:t>What this shows
</a:t>
            </a:r>
            <a:pPr indent="0" marL="0">
              <a:lnSpc>
                <a:spcPts val="2000"/>
              </a:lnSpc>
              <a:buNone/>
            </a:pPr>
            <a:r>
              <a:rPr lang="en-US" sz="1300" dirty="0">
                <a:solidFill>
                  <a:srgbClr val="5B6472"/>
                </a:solidFill>
              </a:rPr>
              <a:t>Payload mass against launch site, colored by outcome. VAFB SLC-4E carries no payload above roughly 10,000 kg. Heavier payloads cluster at CCAFS and KSC, and above about 7,000 kg the failure rate visibly rises.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Success Rate by Orbit Type</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13</a:t>
            </a:r>
            <a:endParaRPr lang="en-US" sz="1000" dirty="0"/>
          </a:p>
        </p:txBody>
      </p:sp>
      <p:pic>
        <p:nvPicPr>
          <p:cNvPr id="5" name="Image 0" descr="C:\Users\USER\Documents\Coursera\repo\images\eda_orbit_success.png">    </p:cNvPr>
          <p:cNvPicPr>
            <a:picLocks noChangeAspect="1"/>
          </p:cNvPicPr>
          <p:nvPr/>
        </p:nvPicPr>
        <p:blipFill>
          <a:blip r:embed="rId1"/>
          <a:stretch>
            <a:fillRect/>
          </a:stretch>
        </p:blipFill>
        <p:spPr>
          <a:xfrm>
            <a:off x="457200" y="1371600"/>
            <a:ext cx="6949440" cy="4206240"/>
          </a:xfrm>
          <a:prstGeom prst="rect">
            <a:avLst/>
          </a:prstGeom>
        </p:spPr>
      </p:pic>
      <p:sp>
        <p:nvSpPr>
          <p:cNvPr id="6" name="Text 3"/>
          <p:cNvSpPr/>
          <p:nvPr/>
        </p:nvSpPr>
        <p:spPr>
          <a:xfrm>
            <a:off x="7680960" y="1463040"/>
            <a:ext cx="4023360" cy="4206240"/>
          </a:xfrm>
          <a:prstGeom prst="rect">
            <a:avLst/>
          </a:prstGeom>
          <a:noFill/>
          <a:ln/>
        </p:spPr>
        <p:txBody>
          <a:bodyPr wrap="square" rtlCol="0" anchor="ctr"/>
          <a:lstStyle/>
          <a:p>
            <a:pPr indent="0" marL="0">
              <a:lnSpc>
                <a:spcPts val="2000"/>
              </a:lnSpc>
              <a:buNone/>
            </a:pPr>
            <a:r>
              <a:rPr lang="en-US" sz="1300" b="1" dirty="0">
                <a:solidFill>
                  <a:srgbClr val="0B1F3A"/>
                </a:solidFill>
              </a:rPr>
              <a:t>What this shows
</a:t>
            </a:r>
            <a:pPr indent="0" marL="0">
              <a:lnSpc>
                <a:spcPts val="2000"/>
              </a:lnSpc>
              <a:buNone/>
            </a:pPr>
            <a:r>
              <a:rPr lang="en-US" sz="1300" dirty="0">
                <a:solidFill>
                  <a:srgbClr val="5B6472"/>
                </a:solidFill>
              </a:rPr>
              <a:t>Landing success rate per orbit. ES-L1, GEO, HEO and SSO reach 100%, while GTO sits far lower and SO records no successes. Orbit energy is one of the strongest single predictors in the dataset — high-energy transfers leave less fuel for the recovery burn.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Flight Number vs. Orbit Type</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14</a:t>
            </a:r>
            <a:endParaRPr lang="en-US" sz="1000" dirty="0"/>
          </a:p>
        </p:txBody>
      </p:sp>
      <p:pic>
        <p:nvPicPr>
          <p:cNvPr id="5" name="Image 0" descr="C:\Users\USER\Documents\Coursera\repo\images\eda_flightnum_orbit.png">    </p:cNvPr>
          <p:cNvPicPr>
            <a:picLocks noChangeAspect="1"/>
          </p:cNvPicPr>
          <p:nvPr/>
        </p:nvPicPr>
        <p:blipFill>
          <a:blip r:embed="rId1"/>
          <a:stretch>
            <a:fillRect/>
          </a:stretch>
        </p:blipFill>
        <p:spPr>
          <a:xfrm>
            <a:off x="457200" y="1371600"/>
            <a:ext cx="6949440" cy="4206240"/>
          </a:xfrm>
          <a:prstGeom prst="rect">
            <a:avLst/>
          </a:prstGeom>
        </p:spPr>
      </p:pic>
      <p:sp>
        <p:nvSpPr>
          <p:cNvPr id="6" name="Text 3"/>
          <p:cNvSpPr/>
          <p:nvPr/>
        </p:nvSpPr>
        <p:spPr>
          <a:xfrm>
            <a:off x="7680960" y="1463040"/>
            <a:ext cx="4023360" cy="4206240"/>
          </a:xfrm>
          <a:prstGeom prst="rect">
            <a:avLst/>
          </a:prstGeom>
          <a:noFill/>
          <a:ln/>
        </p:spPr>
        <p:txBody>
          <a:bodyPr wrap="square" rtlCol="0" anchor="ctr"/>
          <a:lstStyle/>
          <a:p>
            <a:pPr indent="0" marL="0">
              <a:lnSpc>
                <a:spcPts val="2000"/>
              </a:lnSpc>
              <a:buNone/>
            </a:pPr>
            <a:r>
              <a:rPr lang="en-US" sz="1300" b="1" dirty="0">
                <a:solidFill>
                  <a:srgbClr val="0B1F3A"/>
                </a:solidFill>
              </a:rPr>
              <a:t>What this shows
</a:t>
            </a:r>
            <a:pPr indent="0" marL="0">
              <a:lnSpc>
                <a:spcPts val="2000"/>
              </a:lnSpc>
              <a:buNone/>
            </a:pPr>
            <a:r>
              <a:rPr lang="en-US" sz="1300" dirty="0">
                <a:solidFill>
                  <a:srgbClr val="5B6472"/>
                </a:solidFill>
              </a:rPr>
              <a:t>Flight number against orbit, colored by outcome. In LEO the relationship between flight number and success is clear, whereas in GTO the outcome looks independent of flight number — the difficulty there is physical rather than procedural.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Payload Mass vs. Orbit Type</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15</a:t>
            </a:r>
            <a:endParaRPr lang="en-US" sz="1000" dirty="0"/>
          </a:p>
        </p:txBody>
      </p:sp>
      <p:pic>
        <p:nvPicPr>
          <p:cNvPr id="5" name="Image 0" descr="C:\Users\USER\Documents\Coursera\repo\images\eda_payload_orbit.png">    </p:cNvPr>
          <p:cNvPicPr>
            <a:picLocks noChangeAspect="1"/>
          </p:cNvPicPr>
          <p:nvPr/>
        </p:nvPicPr>
        <p:blipFill>
          <a:blip r:embed="rId1"/>
          <a:stretch>
            <a:fillRect/>
          </a:stretch>
        </p:blipFill>
        <p:spPr>
          <a:xfrm>
            <a:off x="457200" y="1371600"/>
            <a:ext cx="6949440" cy="4206240"/>
          </a:xfrm>
          <a:prstGeom prst="rect">
            <a:avLst/>
          </a:prstGeom>
        </p:spPr>
      </p:pic>
      <p:sp>
        <p:nvSpPr>
          <p:cNvPr id="6" name="Text 3"/>
          <p:cNvSpPr/>
          <p:nvPr/>
        </p:nvSpPr>
        <p:spPr>
          <a:xfrm>
            <a:off x="7680960" y="1463040"/>
            <a:ext cx="4023360" cy="4206240"/>
          </a:xfrm>
          <a:prstGeom prst="rect">
            <a:avLst/>
          </a:prstGeom>
          <a:noFill/>
          <a:ln/>
        </p:spPr>
        <p:txBody>
          <a:bodyPr wrap="square" rtlCol="0" anchor="ctr"/>
          <a:lstStyle/>
          <a:p>
            <a:pPr indent="0" marL="0">
              <a:lnSpc>
                <a:spcPts val="2000"/>
              </a:lnSpc>
              <a:buNone/>
            </a:pPr>
            <a:r>
              <a:rPr lang="en-US" sz="1300" b="1" dirty="0">
                <a:solidFill>
                  <a:srgbClr val="0B1F3A"/>
                </a:solidFill>
              </a:rPr>
              <a:t>What this shows
</a:t>
            </a:r>
            <a:pPr indent="0" marL="0">
              <a:lnSpc>
                <a:spcPts val="2000"/>
              </a:lnSpc>
              <a:buNone/>
            </a:pPr>
            <a:r>
              <a:rPr lang="en-US" sz="1300" dirty="0">
                <a:solidFill>
                  <a:srgbClr val="5B6472"/>
                </a:solidFill>
              </a:rPr>
              <a:t>Payload mass against orbit, colored by outcome. Heavy payloads correlate with more successful landings for LEO, ISS and Polar orbits, but for GTO the picture is mixed, which is consistent with GTO's lower overall success rate.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Launch Success Yearly Trend</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16</a:t>
            </a:r>
            <a:endParaRPr lang="en-US" sz="1000" dirty="0"/>
          </a:p>
        </p:txBody>
      </p:sp>
      <p:pic>
        <p:nvPicPr>
          <p:cNvPr id="5" name="Image 0" descr="C:\Users\USER\Documents\Coursera\repo\images\eda_yearly_trend.png">    </p:cNvPr>
          <p:cNvPicPr>
            <a:picLocks noChangeAspect="1"/>
          </p:cNvPicPr>
          <p:nvPr/>
        </p:nvPicPr>
        <p:blipFill>
          <a:blip r:embed="rId1"/>
          <a:stretch>
            <a:fillRect/>
          </a:stretch>
        </p:blipFill>
        <p:spPr>
          <a:xfrm>
            <a:off x="457200" y="1371600"/>
            <a:ext cx="6949440" cy="4206240"/>
          </a:xfrm>
          <a:prstGeom prst="rect">
            <a:avLst/>
          </a:prstGeom>
        </p:spPr>
      </p:pic>
      <p:sp>
        <p:nvSpPr>
          <p:cNvPr id="6" name="Text 3"/>
          <p:cNvSpPr/>
          <p:nvPr/>
        </p:nvSpPr>
        <p:spPr>
          <a:xfrm>
            <a:off x="7680960" y="1463040"/>
            <a:ext cx="4023360" cy="4206240"/>
          </a:xfrm>
          <a:prstGeom prst="rect">
            <a:avLst/>
          </a:prstGeom>
          <a:noFill/>
          <a:ln/>
        </p:spPr>
        <p:txBody>
          <a:bodyPr wrap="square" rtlCol="0" anchor="ctr"/>
          <a:lstStyle/>
          <a:p>
            <a:pPr indent="0" marL="0">
              <a:lnSpc>
                <a:spcPts val="2000"/>
              </a:lnSpc>
              <a:buNone/>
            </a:pPr>
            <a:r>
              <a:rPr lang="en-US" sz="1300" b="1" dirty="0">
                <a:solidFill>
                  <a:srgbClr val="0B1F3A"/>
                </a:solidFill>
              </a:rPr>
              <a:t>What this shows
</a:t>
            </a:r>
            <a:pPr indent="0" marL="0">
              <a:lnSpc>
                <a:spcPts val="2000"/>
              </a:lnSpc>
              <a:buNone/>
            </a:pPr>
            <a:r>
              <a:rPr lang="en-US" sz="1300" dirty="0">
                <a:solidFill>
                  <a:srgbClr val="5B6472"/>
                </a:solidFill>
              </a:rPr>
              <a:t>Average landing success by year. Success is flat at zero from 2010 to 2013, rises sharply from 2014, dips in 2018, and approaches 100% by 2019 and 2020. This is the single clearest signal in the data: recovery is a capability SpaceX built over time.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914400" y="2377440"/>
            <a:ext cx="10058400" cy="457200"/>
          </a:xfrm>
          <a:prstGeom prst="rect">
            <a:avLst/>
          </a:prstGeom>
          <a:noFill/>
          <a:ln/>
        </p:spPr>
        <p:txBody>
          <a:bodyPr wrap="square" rtlCol="0" anchor="ctr"/>
          <a:lstStyle/>
          <a:p>
            <a:pPr indent="0" marL="0">
              <a:buNone/>
            </a:pPr>
            <a:r>
              <a:rPr lang="en-US" sz="1600" b="1" spc="200" kern="0" dirty="0">
                <a:solidFill>
                  <a:srgbClr val="17BEBB"/>
                </a:solidFill>
              </a:rPr>
              <a:t>Section 3</a:t>
            </a:r>
            <a:endParaRPr lang="en-US" sz="1600" dirty="0"/>
          </a:p>
        </p:txBody>
      </p:sp>
      <p:sp>
        <p:nvSpPr>
          <p:cNvPr id="3" name="Text 1"/>
          <p:cNvSpPr/>
          <p:nvPr/>
        </p:nvSpPr>
        <p:spPr>
          <a:xfrm>
            <a:off x="914400" y="2880360"/>
            <a:ext cx="10058400" cy="914400"/>
          </a:xfrm>
          <a:prstGeom prst="rect">
            <a:avLst/>
          </a:prstGeom>
          <a:noFill/>
          <a:ln/>
        </p:spPr>
        <p:txBody>
          <a:bodyPr wrap="square" rtlCol="0" anchor="ctr"/>
          <a:lstStyle/>
          <a:p>
            <a:pPr indent="0" marL="0">
              <a:buNone/>
            </a:pPr>
            <a:r>
              <a:rPr lang="en-US" sz="3600" b="1" dirty="0">
                <a:solidFill>
                  <a:srgbClr val="FFFFFF"/>
                </a:solidFill>
              </a:rPr>
              <a:t>Results — EDA with SQL</a:t>
            </a:r>
            <a:endParaRPr lang="en-US" sz="3600" dirty="0"/>
          </a:p>
        </p:txBody>
      </p:sp>
      <p:sp>
        <p:nvSpPr>
          <p:cNvPr id="4" name="Text 2"/>
          <p:cNvSpPr/>
          <p:nvPr/>
        </p:nvSpPr>
        <p:spPr>
          <a:xfrm>
            <a:off x="914400" y="3931920"/>
            <a:ext cx="10058400" cy="548640"/>
          </a:xfrm>
          <a:prstGeom prst="rect">
            <a:avLst/>
          </a:prstGeom>
          <a:noFill/>
          <a:ln/>
        </p:spPr>
        <p:txBody>
          <a:bodyPr wrap="square" rtlCol="0" anchor="ctr"/>
          <a:lstStyle/>
          <a:p>
            <a:pPr indent="0" marL="0">
              <a:buNone/>
            </a:pPr>
            <a:r>
              <a:rPr lang="en-US" sz="1400" dirty="0">
                <a:solidFill>
                  <a:srgbClr val="AAB4C8"/>
                </a:solidFill>
              </a:rPr>
              <a:t>Nine queries run against SPACEXTABLE</a:t>
            </a:r>
            <a:endParaRPr lang="en-US" sz="1400" dirty="0"/>
          </a:p>
        </p:txBody>
      </p:sp>
      <p:sp>
        <p:nvSpPr>
          <p:cNvPr id="5" name="Text 3"/>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AAB4C8"/>
                </a:solidFill>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WITH SQL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All Launch Site Names</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18</a:t>
            </a:r>
            <a:endParaRPr lang="en-US" sz="1000" dirty="0"/>
          </a:p>
        </p:txBody>
      </p:sp>
      <p:sp>
        <p:nvSpPr>
          <p:cNvPr id="5" name="Shape 3"/>
          <p:cNvSpPr/>
          <p:nvPr/>
        </p:nvSpPr>
        <p:spPr>
          <a:xfrm>
            <a:off x="457200" y="1371600"/>
            <a:ext cx="11247120" cy="1371600"/>
          </a:xfrm>
          <a:prstGeom prst="roundRect">
            <a:avLst>
              <a:gd name="adj" fmla="val 5333"/>
            </a:avLst>
          </a:prstGeom>
          <a:solidFill>
            <a:srgbClr val="0F1B2E"/>
          </a:solidFill>
          <a:ln/>
        </p:spPr>
      </p:sp>
      <p:sp>
        <p:nvSpPr>
          <p:cNvPr id="6" name="Text 4"/>
          <p:cNvSpPr/>
          <p:nvPr/>
        </p:nvSpPr>
        <p:spPr>
          <a:xfrm>
            <a:off x="731520" y="1554480"/>
            <a:ext cx="10698480" cy="1005840"/>
          </a:xfrm>
          <a:prstGeom prst="rect">
            <a:avLst/>
          </a:prstGeom>
          <a:noFill/>
          <a:ln/>
        </p:spPr>
        <p:txBody>
          <a:bodyPr wrap="square" rtlCol="0" anchor="ctr"/>
          <a:lstStyle/>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SELECT DISTINCT Launch_Site FROM SPACEXTABLE;</a:t>
            </a:r>
            <a:endParaRPr lang="en-US" sz="1400" dirty="0"/>
          </a:p>
        </p:txBody>
      </p:sp>
      <p:sp>
        <p:nvSpPr>
          <p:cNvPr id="7" name="Text 5"/>
          <p:cNvSpPr/>
          <p:nvPr/>
        </p:nvSpPr>
        <p:spPr>
          <a:xfrm>
            <a:off x="457200" y="3017520"/>
            <a:ext cx="11247120" cy="365760"/>
          </a:xfrm>
          <a:prstGeom prst="rect">
            <a:avLst/>
          </a:prstGeom>
          <a:noFill/>
          <a:ln/>
        </p:spPr>
        <p:txBody>
          <a:bodyPr wrap="square" rtlCol="0" anchor="ctr"/>
          <a:lstStyle/>
          <a:p>
            <a:pPr indent="0" marL="0">
              <a:buNone/>
            </a:pPr>
            <a:r>
              <a:rPr lang="en-US" sz="1300" b="1" dirty="0">
                <a:solidFill>
                  <a:srgbClr val="3B60E4"/>
                </a:solidFill>
              </a:rPr>
              <a:t>Result — 4 distinct launch sites</a:t>
            </a:r>
            <a:endParaRPr lang="en-US" sz="1300" dirty="0"/>
          </a:p>
        </p:txBody>
      </p:sp>
      <p:sp>
        <p:nvSpPr>
          <p:cNvPr id="8" name="Text 6"/>
          <p:cNvSpPr/>
          <p:nvPr/>
        </p:nvSpPr>
        <p:spPr>
          <a:xfrm>
            <a:off x="457200" y="3429000"/>
            <a:ext cx="11247120" cy="1280160"/>
          </a:xfrm>
          <a:prstGeom prst="rect">
            <a:avLst/>
          </a:prstGeom>
          <a:noFill/>
          <a:ln/>
        </p:spPr>
        <p:txBody>
          <a:bodyPr wrap="square" rtlCol="0" anchor="ctr"/>
          <a:lstStyle/>
          <a:p>
            <a:pPr indent="0" marL="0">
              <a:lnSpc>
                <a:spcPts val="3200"/>
              </a:lnSpc>
              <a:buNone/>
            </a:pPr>
            <a:r>
              <a:rPr lang="en-US" sz="2600" b="1" dirty="0">
                <a:solidFill>
                  <a:srgbClr val="0B1F3A"/>
                </a:solidFill>
              </a:rPr>
              <a:t>CCAFS LC-40   ·   CCAFS SLC-40   ·   KSC LC-39A   ·   VAFB SLC-4E</a:t>
            </a:r>
            <a:endParaRPr lang="en-US" sz="2600" dirty="0"/>
          </a:p>
        </p:txBody>
      </p:sp>
      <p:sp>
        <p:nvSpPr>
          <p:cNvPr id="9" name="Text 7"/>
          <p:cNvSpPr/>
          <p:nvPr/>
        </p:nvSpPr>
        <p:spPr>
          <a:xfrm>
            <a:off x="457200" y="5029200"/>
            <a:ext cx="11247120" cy="1097280"/>
          </a:xfrm>
          <a:prstGeom prst="rect">
            <a:avLst/>
          </a:prstGeom>
          <a:noFill/>
          <a:ln/>
        </p:spPr>
        <p:txBody>
          <a:bodyPr wrap="square" rtlCol="0" anchor="ctr"/>
          <a:lstStyle/>
          <a:p>
            <a:pPr indent="0" marL="0">
              <a:lnSpc>
                <a:spcPts val="1900"/>
              </a:lnSpc>
              <a:buNone/>
            </a:pPr>
            <a:r>
              <a:rPr lang="en-US" sz="1300" dirty="0">
                <a:solidFill>
                  <a:srgbClr val="5B6472"/>
                </a:solidFill>
              </a:rPr>
              <a:t>Three sites sit on the Florida coast at Cape Canaveral and one on the Californian coast at Vandenberg, which is what makes the polar and sun-synchronous launches possible.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WITH SQL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Launch Sites Beginning with 'CCA'</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19</a:t>
            </a:r>
            <a:endParaRPr lang="en-US" sz="1000" dirty="0"/>
          </a:p>
        </p:txBody>
      </p:sp>
      <p:sp>
        <p:nvSpPr>
          <p:cNvPr id="5" name="Shape 3"/>
          <p:cNvSpPr/>
          <p:nvPr/>
        </p:nvSpPr>
        <p:spPr>
          <a:xfrm>
            <a:off x="457200" y="1371600"/>
            <a:ext cx="11247120" cy="1371600"/>
          </a:xfrm>
          <a:prstGeom prst="roundRect">
            <a:avLst>
              <a:gd name="adj" fmla="val 5333"/>
            </a:avLst>
          </a:prstGeom>
          <a:solidFill>
            <a:srgbClr val="0F1B2E"/>
          </a:solidFill>
          <a:ln/>
        </p:spPr>
      </p:sp>
      <p:sp>
        <p:nvSpPr>
          <p:cNvPr id="6" name="Text 4"/>
          <p:cNvSpPr/>
          <p:nvPr/>
        </p:nvSpPr>
        <p:spPr>
          <a:xfrm>
            <a:off x="731520" y="1554480"/>
            <a:ext cx="10698480" cy="1005840"/>
          </a:xfrm>
          <a:prstGeom prst="rect">
            <a:avLst/>
          </a:prstGeom>
          <a:noFill/>
          <a:ln/>
        </p:spPr>
        <p:txBody>
          <a:bodyPr wrap="square" rtlCol="0" anchor="ctr"/>
          <a:lstStyle/>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SELECT * FROM SPACEXTABLE WHERE Launch_Site LIKE 'CCA%' LIMIT 5;</a:t>
            </a:r>
            <a:endParaRPr lang="en-US" sz="1400" dirty="0"/>
          </a:p>
        </p:txBody>
      </p:sp>
      <p:sp>
        <p:nvSpPr>
          <p:cNvPr id="7" name="Text 5"/>
          <p:cNvSpPr/>
          <p:nvPr/>
        </p:nvSpPr>
        <p:spPr>
          <a:xfrm>
            <a:off x="457200" y="3017520"/>
            <a:ext cx="11247120" cy="365760"/>
          </a:xfrm>
          <a:prstGeom prst="rect">
            <a:avLst/>
          </a:prstGeom>
          <a:noFill/>
          <a:ln/>
        </p:spPr>
        <p:txBody>
          <a:bodyPr wrap="square" rtlCol="0" anchor="ctr"/>
          <a:lstStyle/>
          <a:p>
            <a:pPr indent="0" marL="0">
              <a:buNone/>
            </a:pPr>
            <a:r>
              <a:rPr lang="en-US" sz="1300" b="1" dirty="0">
                <a:solidFill>
                  <a:srgbClr val="3B60E4"/>
                </a:solidFill>
              </a:rPr>
              <a:t>Result — first 5 records at Cape Canaveral</a:t>
            </a:r>
            <a:endParaRPr lang="en-US" sz="1300" dirty="0"/>
          </a:p>
        </p:txBody>
      </p:sp>
      <p:sp>
        <p:nvSpPr>
          <p:cNvPr id="8" name="Text 6"/>
          <p:cNvSpPr/>
          <p:nvPr/>
        </p:nvSpPr>
        <p:spPr>
          <a:xfrm>
            <a:off x="457200" y="3429000"/>
            <a:ext cx="11247120" cy="1280160"/>
          </a:xfrm>
          <a:prstGeom prst="rect">
            <a:avLst/>
          </a:prstGeom>
          <a:noFill/>
          <a:ln/>
        </p:spPr>
        <p:txBody>
          <a:bodyPr wrap="square" rtlCol="0" anchor="ctr"/>
          <a:lstStyle/>
          <a:p>
            <a:pPr indent="0" marL="0">
              <a:lnSpc>
                <a:spcPts val="3200"/>
              </a:lnSpc>
              <a:buNone/>
            </a:pPr>
            <a:r>
              <a:rPr lang="en-US" sz="2600" b="1" dirty="0">
                <a:solidFill>
                  <a:srgbClr val="0B1F3A"/>
                </a:solidFill>
              </a:rPr>
              <a:t>CCAFS LC-40, from 2010-06-04 onward</a:t>
            </a:r>
            <a:endParaRPr lang="en-US" sz="2600" dirty="0"/>
          </a:p>
        </p:txBody>
      </p:sp>
      <p:sp>
        <p:nvSpPr>
          <p:cNvPr id="9" name="Text 7"/>
          <p:cNvSpPr/>
          <p:nvPr/>
        </p:nvSpPr>
        <p:spPr>
          <a:xfrm>
            <a:off x="457200" y="5029200"/>
            <a:ext cx="11247120" cy="1097280"/>
          </a:xfrm>
          <a:prstGeom prst="rect">
            <a:avLst/>
          </a:prstGeom>
          <a:noFill/>
          <a:ln/>
        </p:spPr>
        <p:txBody>
          <a:bodyPr wrap="square" rtlCol="0" anchor="ctr"/>
          <a:lstStyle/>
          <a:p>
            <a:pPr indent="0" marL="0">
              <a:lnSpc>
                <a:spcPts val="1900"/>
              </a:lnSpc>
              <a:buNone/>
            </a:pPr>
            <a:r>
              <a:rPr lang="en-US" sz="1300" dirty="0">
                <a:solidFill>
                  <a:srgbClr val="5B6472"/>
                </a:solidFill>
              </a:rPr>
              <a:t>The earliest records in the dataset are all CCAFS LC-40, confirming it as the site SpaceX flew from first and therefore the one carrying most of the early failures.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WITH SQL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Total Payload Mass Carried for NASA (CRS)</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20</a:t>
            </a:r>
            <a:endParaRPr lang="en-US" sz="1000" dirty="0"/>
          </a:p>
        </p:txBody>
      </p:sp>
      <p:sp>
        <p:nvSpPr>
          <p:cNvPr id="5" name="Shape 3"/>
          <p:cNvSpPr/>
          <p:nvPr/>
        </p:nvSpPr>
        <p:spPr>
          <a:xfrm>
            <a:off x="457200" y="1371600"/>
            <a:ext cx="11247120" cy="1371600"/>
          </a:xfrm>
          <a:prstGeom prst="roundRect">
            <a:avLst>
              <a:gd name="adj" fmla="val 5333"/>
            </a:avLst>
          </a:prstGeom>
          <a:solidFill>
            <a:srgbClr val="0F1B2E"/>
          </a:solidFill>
          <a:ln/>
        </p:spPr>
      </p:sp>
      <p:sp>
        <p:nvSpPr>
          <p:cNvPr id="6" name="Text 4"/>
          <p:cNvSpPr/>
          <p:nvPr/>
        </p:nvSpPr>
        <p:spPr>
          <a:xfrm>
            <a:off x="731520" y="1554480"/>
            <a:ext cx="10698480" cy="1005840"/>
          </a:xfrm>
          <a:prstGeom prst="rect">
            <a:avLst/>
          </a:prstGeom>
          <a:noFill/>
          <a:ln/>
        </p:spPr>
        <p:txBody>
          <a:bodyPr wrap="square" rtlCol="0" anchor="ctr"/>
          <a:lstStyle/>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SELECT SUM(PAYLOAD_MASS__KG_) FROM SPACEXTABLE</a:t>
            </a:r>
            <a:endParaRPr lang="en-US" sz="1400" dirty="0"/>
          </a:p>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  WHERE Customer = 'NASA (CRS)';</a:t>
            </a:r>
            <a:endParaRPr lang="en-US" sz="1400" dirty="0"/>
          </a:p>
        </p:txBody>
      </p:sp>
      <p:sp>
        <p:nvSpPr>
          <p:cNvPr id="7" name="Text 5"/>
          <p:cNvSpPr/>
          <p:nvPr/>
        </p:nvSpPr>
        <p:spPr>
          <a:xfrm>
            <a:off x="457200" y="3017520"/>
            <a:ext cx="11247120" cy="365760"/>
          </a:xfrm>
          <a:prstGeom prst="rect">
            <a:avLst/>
          </a:prstGeom>
          <a:noFill/>
          <a:ln/>
        </p:spPr>
        <p:txBody>
          <a:bodyPr wrap="square" rtlCol="0" anchor="ctr"/>
          <a:lstStyle/>
          <a:p>
            <a:pPr indent="0" marL="0">
              <a:buNone/>
            </a:pPr>
            <a:r>
              <a:rPr lang="en-US" sz="1300" b="1" dirty="0">
                <a:solidFill>
                  <a:srgbClr val="3B60E4"/>
                </a:solidFill>
              </a:rPr>
              <a:t>Result — total payload mass</a:t>
            </a:r>
            <a:endParaRPr lang="en-US" sz="1300" dirty="0"/>
          </a:p>
        </p:txBody>
      </p:sp>
      <p:sp>
        <p:nvSpPr>
          <p:cNvPr id="8" name="Text 6"/>
          <p:cNvSpPr/>
          <p:nvPr/>
        </p:nvSpPr>
        <p:spPr>
          <a:xfrm>
            <a:off x="457200" y="3429000"/>
            <a:ext cx="11247120" cy="1280160"/>
          </a:xfrm>
          <a:prstGeom prst="rect">
            <a:avLst/>
          </a:prstGeom>
          <a:noFill/>
          <a:ln/>
        </p:spPr>
        <p:txBody>
          <a:bodyPr wrap="square" rtlCol="0" anchor="ctr"/>
          <a:lstStyle/>
          <a:p>
            <a:pPr indent="0" marL="0">
              <a:lnSpc>
                <a:spcPts val="3200"/>
              </a:lnSpc>
              <a:buNone/>
            </a:pPr>
            <a:r>
              <a:rPr lang="en-US" sz="2600" b="1" dirty="0">
                <a:solidFill>
                  <a:srgbClr val="0B1F3A"/>
                </a:solidFill>
              </a:rPr>
              <a:t>45,596 kg</a:t>
            </a:r>
            <a:endParaRPr lang="en-US" sz="2600" dirty="0"/>
          </a:p>
        </p:txBody>
      </p:sp>
      <p:sp>
        <p:nvSpPr>
          <p:cNvPr id="9" name="Text 7"/>
          <p:cNvSpPr/>
          <p:nvPr/>
        </p:nvSpPr>
        <p:spPr>
          <a:xfrm>
            <a:off x="457200" y="5029200"/>
            <a:ext cx="11247120" cy="1097280"/>
          </a:xfrm>
          <a:prstGeom prst="rect">
            <a:avLst/>
          </a:prstGeom>
          <a:noFill/>
          <a:ln/>
        </p:spPr>
        <p:txBody>
          <a:bodyPr wrap="square" rtlCol="0" anchor="ctr"/>
          <a:lstStyle/>
          <a:p>
            <a:pPr indent="0" marL="0">
              <a:lnSpc>
                <a:spcPts val="1900"/>
              </a:lnSpc>
              <a:buNone/>
            </a:pPr>
            <a:r>
              <a:rPr lang="en-US" sz="1300" dirty="0">
                <a:solidFill>
                  <a:srgbClr val="5B6472"/>
                </a:solidFill>
              </a:rPr>
              <a:t>NASA Commercial Resupply Services is the single largest customer by mass in the dataset, which is why ISS-bound LEO missions dominate the successful-landing records.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WITH SQL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Average Payload Mass by Booster Version F9 v1.1</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21</a:t>
            </a:r>
            <a:endParaRPr lang="en-US" sz="1000" dirty="0"/>
          </a:p>
        </p:txBody>
      </p:sp>
      <p:sp>
        <p:nvSpPr>
          <p:cNvPr id="5" name="Shape 3"/>
          <p:cNvSpPr/>
          <p:nvPr/>
        </p:nvSpPr>
        <p:spPr>
          <a:xfrm>
            <a:off x="457200" y="1371600"/>
            <a:ext cx="11247120" cy="1371600"/>
          </a:xfrm>
          <a:prstGeom prst="roundRect">
            <a:avLst>
              <a:gd name="adj" fmla="val 5333"/>
            </a:avLst>
          </a:prstGeom>
          <a:solidFill>
            <a:srgbClr val="0F1B2E"/>
          </a:solidFill>
          <a:ln/>
        </p:spPr>
      </p:sp>
      <p:sp>
        <p:nvSpPr>
          <p:cNvPr id="6" name="Text 4"/>
          <p:cNvSpPr/>
          <p:nvPr/>
        </p:nvSpPr>
        <p:spPr>
          <a:xfrm>
            <a:off x="731520" y="1554480"/>
            <a:ext cx="10698480" cy="1005840"/>
          </a:xfrm>
          <a:prstGeom prst="rect">
            <a:avLst/>
          </a:prstGeom>
          <a:noFill/>
          <a:ln/>
        </p:spPr>
        <p:txBody>
          <a:bodyPr wrap="square" rtlCol="0" anchor="ctr"/>
          <a:lstStyle/>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SELECT AVG(PAYLOAD_MASS__KG_) FROM SPACEXTABLE</a:t>
            </a:r>
            <a:endParaRPr lang="en-US" sz="1400" dirty="0"/>
          </a:p>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  WHERE Booster_Version = 'F9 v1.1';</a:t>
            </a:r>
            <a:endParaRPr lang="en-US" sz="1400" dirty="0"/>
          </a:p>
        </p:txBody>
      </p:sp>
      <p:sp>
        <p:nvSpPr>
          <p:cNvPr id="7" name="Text 5"/>
          <p:cNvSpPr/>
          <p:nvPr/>
        </p:nvSpPr>
        <p:spPr>
          <a:xfrm>
            <a:off x="457200" y="3017520"/>
            <a:ext cx="11247120" cy="365760"/>
          </a:xfrm>
          <a:prstGeom prst="rect">
            <a:avLst/>
          </a:prstGeom>
          <a:noFill/>
          <a:ln/>
        </p:spPr>
        <p:txBody>
          <a:bodyPr wrap="square" rtlCol="0" anchor="ctr"/>
          <a:lstStyle/>
          <a:p>
            <a:pPr indent="0" marL="0">
              <a:buNone/>
            </a:pPr>
            <a:r>
              <a:rPr lang="en-US" sz="1300" b="1" dirty="0">
                <a:solidFill>
                  <a:srgbClr val="3B60E4"/>
                </a:solidFill>
              </a:rPr>
              <a:t>Result — average payload mass</a:t>
            </a:r>
            <a:endParaRPr lang="en-US" sz="1300" dirty="0"/>
          </a:p>
        </p:txBody>
      </p:sp>
      <p:sp>
        <p:nvSpPr>
          <p:cNvPr id="8" name="Text 6"/>
          <p:cNvSpPr/>
          <p:nvPr/>
        </p:nvSpPr>
        <p:spPr>
          <a:xfrm>
            <a:off x="457200" y="3429000"/>
            <a:ext cx="11247120" cy="1280160"/>
          </a:xfrm>
          <a:prstGeom prst="rect">
            <a:avLst/>
          </a:prstGeom>
          <a:noFill/>
          <a:ln/>
        </p:spPr>
        <p:txBody>
          <a:bodyPr wrap="square" rtlCol="0" anchor="ctr"/>
          <a:lstStyle/>
          <a:p>
            <a:pPr indent="0" marL="0">
              <a:lnSpc>
                <a:spcPts val="3200"/>
              </a:lnSpc>
              <a:buNone/>
            </a:pPr>
            <a:r>
              <a:rPr lang="en-US" sz="2600" b="1" dirty="0">
                <a:solidFill>
                  <a:srgbClr val="0B1F3A"/>
                </a:solidFill>
              </a:rPr>
              <a:t>2,534.7 kg</a:t>
            </a:r>
            <a:endParaRPr lang="en-US" sz="2600" dirty="0"/>
          </a:p>
        </p:txBody>
      </p:sp>
      <p:sp>
        <p:nvSpPr>
          <p:cNvPr id="9" name="Text 7"/>
          <p:cNvSpPr/>
          <p:nvPr/>
        </p:nvSpPr>
        <p:spPr>
          <a:xfrm>
            <a:off x="457200" y="5029200"/>
            <a:ext cx="11247120" cy="1097280"/>
          </a:xfrm>
          <a:prstGeom prst="rect">
            <a:avLst/>
          </a:prstGeom>
          <a:noFill/>
          <a:ln/>
        </p:spPr>
        <p:txBody>
          <a:bodyPr wrap="square" rtlCol="0" anchor="ctr"/>
          <a:lstStyle/>
          <a:p>
            <a:pPr indent="0" marL="0">
              <a:lnSpc>
                <a:spcPts val="1900"/>
              </a:lnSpc>
              <a:buNone/>
            </a:pPr>
            <a:r>
              <a:rPr lang="en-US" sz="1300" dirty="0">
                <a:solidFill>
                  <a:srgbClr val="5B6472"/>
                </a:solidFill>
              </a:rPr>
              <a:t>The v1.1 generation averages well under half the maximum payload the fleet later carried, showing how much lift capability grew between booster generations.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WITH SQL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First Successful Ground-Pad Landing</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22</a:t>
            </a:r>
            <a:endParaRPr lang="en-US" sz="1000" dirty="0"/>
          </a:p>
        </p:txBody>
      </p:sp>
      <p:sp>
        <p:nvSpPr>
          <p:cNvPr id="5" name="Shape 3"/>
          <p:cNvSpPr/>
          <p:nvPr/>
        </p:nvSpPr>
        <p:spPr>
          <a:xfrm>
            <a:off x="457200" y="1371600"/>
            <a:ext cx="11247120" cy="1371600"/>
          </a:xfrm>
          <a:prstGeom prst="roundRect">
            <a:avLst>
              <a:gd name="adj" fmla="val 5333"/>
            </a:avLst>
          </a:prstGeom>
          <a:solidFill>
            <a:srgbClr val="0F1B2E"/>
          </a:solidFill>
          <a:ln/>
        </p:spPr>
      </p:sp>
      <p:sp>
        <p:nvSpPr>
          <p:cNvPr id="6" name="Text 4"/>
          <p:cNvSpPr/>
          <p:nvPr/>
        </p:nvSpPr>
        <p:spPr>
          <a:xfrm>
            <a:off x="731520" y="1554480"/>
            <a:ext cx="10698480" cy="1005840"/>
          </a:xfrm>
          <a:prstGeom prst="rect">
            <a:avLst/>
          </a:prstGeom>
          <a:noFill/>
          <a:ln/>
        </p:spPr>
        <p:txBody>
          <a:bodyPr wrap="square" rtlCol="0" anchor="ctr"/>
          <a:lstStyle/>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SELECT MIN(Date) FROM SPACEXTABLE</a:t>
            </a:r>
            <a:endParaRPr lang="en-US" sz="1400" dirty="0"/>
          </a:p>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  WHERE Landing_Outcome = 'Success (ground pad)';</a:t>
            </a:r>
            <a:endParaRPr lang="en-US" sz="1400" dirty="0"/>
          </a:p>
        </p:txBody>
      </p:sp>
      <p:sp>
        <p:nvSpPr>
          <p:cNvPr id="7" name="Text 5"/>
          <p:cNvSpPr/>
          <p:nvPr/>
        </p:nvSpPr>
        <p:spPr>
          <a:xfrm>
            <a:off x="457200" y="3017520"/>
            <a:ext cx="11247120" cy="365760"/>
          </a:xfrm>
          <a:prstGeom prst="rect">
            <a:avLst/>
          </a:prstGeom>
          <a:noFill/>
          <a:ln/>
        </p:spPr>
        <p:txBody>
          <a:bodyPr wrap="square" rtlCol="0" anchor="ctr"/>
          <a:lstStyle/>
          <a:p>
            <a:pPr indent="0" marL="0">
              <a:buNone/>
            </a:pPr>
            <a:r>
              <a:rPr lang="en-US" sz="1300" b="1" dirty="0">
                <a:solidFill>
                  <a:srgbClr val="3B60E4"/>
                </a:solidFill>
              </a:rPr>
              <a:t>Result — first successful ground-pad landing</a:t>
            </a:r>
            <a:endParaRPr lang="en-US" sz="1300" dirty="0"/>
          </a:p>
        </p:txBody>
      </p:sp>
      <p:sp>
        <p:nvSpPr>
          <p:cNvPr id="8" name="Text 6"/>
          <p:cNvSpPr/>
          <p:nvPr/>
        </p:nvSpPr>
        <p:spPr>
          <a:xfrm>
            <a:off x="457200" y="3429000"/>
            <a:ext cx="11247120" cy="1280160"/>
          </a:xfrm>
          <a:prstGeom prst="rect">
            <a:avLst/>
          </a:prstGeom>
          <a:noFill/>
          <a:ln/>
        </p:spPr>
        <p:txBody>
          <a:bodyPr wrap="square" rtlCol="0" anchor="ctr"/>
          <a:lstStyle/>
          <a:p>
            <a:pPr indent="0" marL="0">
              <a:lnSpc>
                <a:spcPts val="3200"/>
              </a:lnSpc>
              <a:buNone/>
            </a:pPr>
            <a:r>
              <a:rPr lang="en-US" sz="2600" b="1" dirty="0">
                <a:solidFill>
                  <a:srgbClr val="0B1F3A"/>
                </a:solidFill>
              </a:rPr>
              <a:t>1 May 2017</a:t>
            </a:r>
            <a:endParaRPr lang="en-US" sz="2600" dirty="0"/>
          </a:p>
        </p:txBody>
      </p:sp>
      <p:sp>
        <p:nvSpPr>
          <p:cNvPr id="9" name="Text 7"/>
          <p:cNvSpPr/>
          <p:nvPr/>
        </p:nvSpPr>
        <p:spPr>
          <a:xfrm>
            <a:off x="457200" y="5029200"/>
            <a:ext cx="11247120" cy="1097280"/>
          </a:xfrm>
          <a:prstGeom prst="rect">
            <a:avLst/>
          </a:prstGeom>
          <a:noFill/>
          <a:ln/>
        </p:spPr>
        <p:txBody>
          <a:bodyPr wrap="square" rtlCol="0" anchor="ctr"/>
          <a:lstStyle/>
          <a:p>
            <a:pPr indent="0" marL="0">
              <a:lnSpc>
                <a:spcPts val="1900"/>
              </a:lnSpc>
              <a:buNone/>
            </a:pPr>
            <a:r>
              <a:rPr lang="en-US" sz="1300" dirty="0">
                <a:solidFill>
                  <a:srgbClr val="5B6472"/>
                </a:solidFill>
              </a:rPr>
              <a:t>Ground-pad recovery came years after the first launches, and marks the point where landing outcomes in the dataset shift decisively from failure to success.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WITH SQL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Drone-Ship Successes with Payload 4,000–6,000 kg</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23</a:t>
            </a:r>
            <a:endParaRPr lang="en-US" sz="1000" dirty="0"/>
          </a:p>
        </p:txBody>
      </p:sp>
      <p:sp>
        <p:nvSpPr>
          <p:cNvPr id="5" name="Shape 3"/>
          <p:cNvSpPr/>
          <p:nvPr/>
        </p:nvSpPr>
        <p:spPr>
          <a:xfrm>
            <a:off x="457200" y="1371600"/>
            <a:ext cx="11247120" cy="1371600"/>
          </a:xfrm>
          <a:prstGeom prst="roundRect">
            <a:avLst>
              <a:gd name="adj" fmla="val 5333"/>
            </a:avLst>
          </a:prstGeom>
          <a:solidFill>
            <a:srgbClr val="0F1B2E"/>
          </a:solidFill>
          <a:ln/>
        </p:spPr>
      </p:sp>
      <p:sp>
        <p:nvSpPr>
          <p:cNvPr id="6" name="Text 4"/>
          <p:cNvSpPr/>
          <p:nvPr/>
        </p:nvSpPr>
        <p:spPr>
          <a:xfrm>
            <a:off x="731520" y="1554480"/>
            <a:ext cx="10698480" cy="1005840"/>
          </a:xfrm>
          <a:prstGeom prst="rect">
            <a:avLst/>
          </a:prstGeom>
          <a:noFill/>
          <a:ln/>
        </p:spPr>
        <p:txBody>
          <a:bodyPr wrap="square" rtlCol="0" anchor="ctr"/>
          <a:lstStyle/>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SELECT Booster_Version FROM SPACEXTABLE</a:t>
            </a:r>
            <a:endParaRPr lang="en-US" sz="1400" dirty="0"/>
          </a:p>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  WHERE Landing_Outcome = 'Success (drone ship)'</a:t>
            </a:r>
            <a:endParaRPr lang="en-US" sz="1400" dirty="0"/>
          </a:p>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  AND PAYLOAD_MASS__KG_ BETWEEN 4000 AND 6000;</a:t>
            </a:r>
            <a:endParaRPr lang="en-US" sz="1400" dirty="0"/>
          </a:p>
        </p:txBody>
      </p:sp>
      <p:sp>
        <p:nvSpPr>
          <p:cNvPr id="7" name="Text 5"/>
          <p:cNvSpPr/>
          <p:nvPr/>
        </p:nvSpPr>
        <p:spPr>
          <a:xfrm>
            <a:off x="457200" y="3017520"/>
            <a:ext cx="11247120" cy="365760"/>
          </a:xfrm>
          <a:prstGeom prst="rect">
            <a:avLst/>
          </a:prstGeom>
          <a:noFill/>
          <a:ln/>
        </p:spPr>
        <p:txBody>
          <a:bodyPr wrap="square" rtlCol="0" anchor="ctr"/>
          <a:lstStyle/>
          <a:p>
            <a:pPr indent="0" marL="0">
              <a:buNone/>
            </a:pPr>
            <a:r>
              <a:rPr lang="en-US" sz="1300" b="1" dirty="0">
                <a:solidFill>
                  <a:srgbClr val="3B60E4"/>
                </a:solidFill>
              </a:rPr>
              <a:t>Result — boosters that landed on a drone ship in this payload band</a:t>
            </a:r>
            <a:endParaRPr lang="en-US" sz="1300" dirty="0"/>
          </a:p>
        </p:txBody>
      </p:sp>
      <p:sp>
        <p:nvSpPr>
          <p:cNvPr id="8" name="Text 6"/>
          <p:cNvSpPr/>
          <p:nvPr/>
        </p:nvSpPr>
        <p:spPr>
          <a:xfrm>
            <a:off x="457200" y="3429000"/>
            <a:ext cx="11247120" cy="1280160"/>
          </a:xfrm>
          <a:prstGeom prst="rect">
            <a:avLst/>
          </a:prstGeom>
          <a:noFill/>
          <a:ln/>
        </p:spPr>
        <p:txBody>
          <a:bodyPr wrap="square" rtlCol="0" anchor="ctr"/>
          <a:lstStyle/>
          <a:p>
            <a:pPr indent="0" marL="0">
              <a:lnSpc>
                <a:spcPts val="3200"/>
              </a:lnSpc>
              <a:buNone/>
            </a:pPr>
            <a:r>
              <a:rPr lang="en-US" sz="2600" b="1" dirty="0">
                <a:solidFill>
                  <a:srgbClr val="0B1F3A"/>
                </a:solidFill>
              </a:rPr>
              <a:t>F9 FT B1021.2   ·   F9 FT B1022   ·   F9 FT B1026   ·   F9 FT B1031.2</a:t>
            </a:r>
            <a:endParaRPr lang="en-US" sz="2600" dirty="0"/>
          </a:p>
        </p:txBody>
      </p:sp>
      <p:sp>
        <p:nvSpPr>
          <p:cNvPr id="9" name="Text 7"/>
          <p:cNvSpPr/>
          <p:nvPr/>
        </p:nvSpPr>
        <p:spPr>
          <a:xfrm>
            <a:off x="457200" y="5029200"/>
            <a:ext cx="11247120" cy="1097280"/>
          </a:xfrm>
          <a:prstGeom prst="rect">
            <a:avLst/>
          </a:prstGeom>
          <a:noFill/>
          <a:ln/>
        </p:spPr>
        <p:txBody>
          <a:bodyPr wrap="square" rtlCol="0" anchor="ctr"/>
          <a:lstStyle/>
          <a:p>
            <a:pPr indent="0" marL="0">
              <a:lnSpc>
                <a:spcPts val="1900"/>
              </a:lnSpc>
              <a:buNone/>
            </a:pPr>
            <a:r>
              <a:rPr lang="en-US" sz="1300" dirty="0">
                <a:solidFill>
                  <a:srgbClr val="5B6472"/>
                </a:solidFill>
              </a:rPr>
              <a:t>Every booster in this band is a Full Thrust variant, and two of them are re-flights, which is direct evidence that reused boosters land successfully.</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WITH SQL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Total Successful and Failed Mission Outcomes</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24</a:t>
            </a:r>
            <a:endParaRPr lang="en-US" sz="1000" dirty="0"/>
          </a:p>
        </p:txBody>
      </p:sp>
      <p:sp>
        <p:nvSpPr>
          <p:cNvPr id="5" name="Shape 3"/>
          <p:cNvSpPr/>
          <p:nvPr/>
        </p:nvSpPr>
        <p:spPr>
          <a:xfrm>
            <a:off x="457200" y="1371600"/>
            <a:ext cx="11247120" cy="1371600"/>
          </a:xfrm>
          <a:prstGeom prst="roundRect">
            <a:avLst>
              <a:gd name="adj" fmla="val 5333"/>
            </a:avLst>
          </a:prstGeom>
          <a:solidFill>
            <a:srgbClr val="0F1B2E"/>
          </a:solidFill>
          <a:ln/>
        </p:spPr>
      </p:sp>
      <p:sp>
        <p:nvSpPr>
          <p:cNvPr id="6" name="Text 4"/>
          <p:cNvSpPr/>
          <p:nvPr/>
        </p:nvSpPr>
        <p:spPr>
          <a:xfrm>
            <a:off x="731520" y="1554480"/>
            <a:ext cx="10698480" cy="1005840"/>
          </a:xfrm>
          <a:prstGeom prst="rect">
            <a:avLst/>
          </a:prstGeom>
          <a:noFill/>
          <a:ln/>
        </p:spPr>
        <p:txBody>
          <a:bodyPr wrap="square" rtlCol="0" anchor="ctr"/>
          <a:lstStyle/>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SELECT Mission_Outcome, COUNT(*) FROM SPACEXTABLE</a:t>
            </a:r>
            <a:endParaRPr lang="en-US" sz="1400" dirty="0"/>
          </a:p>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  GROUP BY Mission_Outcome;</a:t>
            </a:r>
            <a:endParaRPr lang="en-US" sz="1400" dirty="0"/>
          </a:p>
        </p:txBody>
      </p:sp>
      <p:sp>
        <p:nvSpPr>
          <p:cNvPr id="7" name="Text 5"/>
          <p:cNvSpPr/>
          <p:nvPr/>
        </p:nvSpPr>
        <p:spPr>
          <a:xfrm>
            <a:off x="457200" y="3017520"/>
            <a:ext cx="11247120" cy="365760"/>
          </a:xfrm>
          <a:prstGeom prst="rect">
            <a:avLst/>
          </a:prstGeom>
          <a:noFill/>
          <a:ln/>
        </p:spPr>
        <p:txBody>
          <a:bodyPr wrap="square" rtlCol="0" anchor="ctr"/>
          <a:lstStyle/>
          <a:p>
            <a:pPr indent="0" marL="0">
              <a:buNone/>
            </a:pPr>
            <a:r>
              <a:rPr lang="en-US" sz="1300" b="1" dirty="0">
                <a:solidFill>
                  <a:srgbClr val="3B60E4"/>
                </a:solidFill>
              </a:rPr>
              <a:t>Result — mission outcomes across the dataset</a:t>
            </a:r>
            <a:endParaRPr lang="en-US" sz="1300" dirty="0"/>
          </a:p>
        </p:txBody>
      </p:sp>
      <p:sp>
        <p:nvSpPr>
          <p:cNvPr id="8" name="Text 6"/>
          <p:cNvSpPr/>
          <p:nvPr/>
        </p:nvSpPr>
        <p:spPr>
          <a:xfrm>
            <a:off x="457200" y="3429000"/>
            <a:ext cx="11247120" cy="1280160"/>
          </a:xfrm>
          <a:prstGeom prst="rect">
            <a:avLst/>
          </a:prstGeom>
          <a:noFill/>
          <a:ln/>
        </p:spPr>
        <p:txBody>
          <a:bodyPr wrap="square" rtlCol="0" anchor="ctr"/>
          <a:lstStyle/>
          <a:p>
            <a:pPr indent="0" marL="0">
              <a:lnSpc>
                <a:spcPts val="3200"/>
              </a:lnSpc>
              <a:buNone/>
            </a:pPr>
            <a:r>
              <a:rPr lang="en-US" sz="2600" b="1" dirty="0">
                <a:solidFill>
                  <a:srgbClr val="0B1F3A"/>
                </a:solidFill>
              </a:rPr>
              <a:t>98 successful missions   ·   1 failure   ·   2 unclear</a:t>
            </a:r>
            <a:endParaRPr lang="en-US" sz="2600" dirty="0"/>
          </a:p>
        </p:txBody>
      </p:sp>
      <p:sp>
        <p:nvSpPr>
          <p:cNvPr id="9" name="Text 7"/>
          <p:cNvSpPr/>
          <p:nvPr/>
        </p:nvSpPr>
        <p:spPr>
          <a:xfrm>
            <a:off x="457200" y="5029200"/>
            <a:ext cx="11247120" cy="1097280"/>
          </a:xfrm>
          <a:prstGeom prst="rect">
            <a:avLst/>
          </a:prstGeom>
          <a:noFill/>
          <a:ln/>
        </p:spPr>
        <p:txBody>
          <a:bodyPr wrap="square" rtlCol="0" anchor="ctr"/>
          <a:lstStyle/>
          <a:p>
            <a:pPr indent="0" marL="0">
              <a:lnSpc>
                <a:spcPts val="1900"/>
              </a:lnSpc>
              <a:buNone/>
            </a:pPr>
            <a:r>
              <a:rPr lang="en-US" sz="1300" dirty="0">
                <a:solidFill>
                  <a:srgbClr val="5B6472"/>
                </a:solidFill>
              </a:rPr>
              <a:t>Mission success and landing success are very different problems: the rocket almost always delivers its payload, while recovering the first stage succeeded only about two thirds of the time.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WITH SQL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Boosters That Carried the Maximum Payload</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25</a:t>
            </a:r>
            <a:endParaRPr lang="en-US" sz="1000" dirty="0"/>
          </a:p>
        </p:txBody>
      </p:sp>
      <p:sp>
        <p:nvSpPr>
          <p:cNvPr id="5" name="Shape 3"/>
          <p:cNvSpPr/>
          <p:nvPr/>
        </p:nvSpPr>
        <p:spPr>
          <a:xfrm>
            <a:off x="457200" y="1371600"/>
            <a:ext cx="11247120" cy="1371600"/>
          </a:xfrm>
          <a:prstGeom prst="roundRect">
            <a:avLst>
              <a:gd name="adj" fmla="val 5333"/>
            </a:avLst>
          </a:prstGeom>
          <a:solidFill>
            <a:srgbClr val="0F1B2E"/>
          </a:solidFill>
          <a:ln/>
        </p:spPr>
      </p:sp>
      <p:sp>
        <p:nvSpPr>
          <p:cNvPr id="6" name="Text 4"/>
          <p:cNvSpPr/>
          <p:nvPr/>
        </p:nvSpPr>
        <p:spPr>
          <a:xfrm>
            <a:off x="731520" y="1554480"/>
            <a:ext cx="10698480" cy="1005840"/>
          </a:xfrm>
          <a:prstGeom prst="rect">
            <a:avLst/>
          </a:prstGeom>
          <a:noFill/>
          <a:ln/>
        </p:spPr>
        <p:txBody>
          <a:bodyPr wrap="square" rtlCol="0" anchor="ctr"/>
          <a:lstStyle/>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SELECT DISTINCT Booster_Version FROM SPACEXTABLE</a:t>
            </a:r>
            <a:endParaRPr lang="en-US" sz="1400" dirty="0"/>
          </a:p>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  WHERE PAYLOAD_MASS__KG_ = (SELECT MAX(PAYLOAD_MASS__KG_) FROM SPACEXTABLE);</a:t>
            </a:r>
            <a:endParaRPr lang="en-US" sz="1400" dirty="0"/>
          </a:p>
        </p:txBody>
      </p:sp>
      <p:sp>
        <p:nvSpPr>
          <p:cNvPr id="7" name="Text 5"/>
          <p:cNvSpPr/>
          <p:nvPr/>
        </p:nvSpPr>
        <p:spPr>
          <a:xfrm>
            <a:off x="457200" y="3017520"/>
            <a:ext cx="11247120" cy="365760"/>
          </a:xfrm>
          <a:prstGeom prst="rect">
            <a:avLst/>
          </a:prstGeom>
          <a:noFill/>
          <a:ln/>
        </p:spPr>
        <p:txBody>
          <a:bodyPr wrap="square" rtlCol="0" anchor="ctr"/>
          <a:lstStyle/>
          <a:p>
            <a:pPr indent="0" marL="0">
              <a:buNone/>
            </a:pPr>
            <a:r>
              <a:rPr lang="en-US" sz="1300" b="1" dirty="0">
                <a:solidFill>
                  <a:srgbClr val="3B60E4"/>
                </a:solidFill>
              </a:rPr>
              <a:t>Result — maximum payload mass carried</a:t>
            </a:r>
            <a:endParaRPr lang="en-US" sz="1300" dirty="0"/>
          </a:p>
        </p:txBody>
      </p:sp>
      <p:sp>
        <p:nvSpPr>
          <p:cNvPr id="8" name="Text 6"/>
          <p:cNvSpPr/>
          <p:nvPr/>
        </p:nvSpPr>
        <p:spPr>
          <a:xfrm>
            <a:off x="457200" y="3429000"/>
            <a:ext cx="11247120" cy="1280160"/>
          </a:xfrm>
          <a:prstGeom prst="rect">
            <a:avLst/>
          </a:prstGeom>
          <a:noFill/>
          <a:ln/>
        </p:spPr>
        <p:txBody>
          <a:bodyPr wrap="square" rtlCol="0" anchor="ctr"/>
          <a:lstStyle/>
          <a:p>
            <a:pPr indent="0" marL="0">
              <a:lnSpc>
                <a:spcPts val="3200"/>
              </a:lnSpc>
              <a:buNone/>
            </a:pPr>
            <a:r>
              <a:rPr lang="en-US" sz="2600" b="1" dirty="0">
                <a:solidFill>
                  <a:srgbClr val="0B1F3A"/>
                </a:solidFill>
              </a:rPr>
              <a:t>15,600 kg, by the F9 B5 booster series</a:t>
            </a:r>
            <a:endParaRPr lang="en-US" sz="2600" dirty="0"/>
          </a:p>
        </p:txBody>
      </p:sp>
      <p:sp>
        <p:nvSpPr>
          <p:cNvPr id="9" name="Text 7"/>
          <p:cNvSpPr/>
          <p:nvPr/>
        </p:nvSpPr>
        <p:spPr>
          <a:xfrm>
            <a:off x="457200" y="5029200"/>
            <a:ext cx="11247120" cy="1097280"/>
          </a:xfrm>
          <a:prstGeom prst="rect">
            <a:avLst/>
          </a:prstGeom>
          <a:noFill/>
          <a:ln/>
        </p:spPr>
        <p:txBody>
          <a:bodyPr wrap="square" rtlCol="0" anchor="ctr"/>
          <a:lstStyle/>
          <a:p>
            <a:pPr indent="0" marL="0">
              <a:lnSpc>
                <a:spcPts val="1900"/>
              </a:lnSpc>
              <a:buNone/>
            </a:pPr>
            <a:r>
              <a:rPr lang="en-US" sz="1300" dirty="0">
                <a:solidFill>
                  <a:srgbClr val="5B6472"/>
                </a:solidFill>
              </a:rPr>
              <a:t>The Block 5 generation carries roughly six times the average v1.1 payload, and does so while still landing — the clearest single demonstration of how far the design matured.</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WITH SQL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2015 Drone-Ship Landing Failures</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26</a:t>
            </a:r>
            <a:endParaRPr lang="en-US" sz="1000" dirty="0"/>
          </a:p>
        </p:txBody>
      </p:sp>
      <p:sp>
        <p:nvSpPr>
          <p:cNvPr id="5" name="Shape 3"/>
          <p:cNvSpPr/>
          <p:nvPr/>
        </p:nvSpPr>
        <p:spPr>
          <a:xfrm>
            <a:off x="457200" y="1371600"/>
            <a:ext cx="11247120" cy="1371600"/>
          </a:xfrm>
          <a:prstGeom prst="roundRect">
            <a:avLst>
              <a:gd name="adj" fmla="val 5333"/>
            </a:avLst>
          </a:prstGeom>
          <a:solidFill>
            <a:srgbClr val="0F1B2E"/>
          </a:solidFill>
          <a:ln/>
        </p:spPr>
      </p:sp>
      <p:sp>
        <p:nvSpPr>
          <p:cNvPr id="6" name="Text 4"/>
          <p:cNvSpPr/>
          <p:nvPr/>
        </p:nvSpPr>
        <p:spPr>
          <a:xfrm>
            <a:off x="731520" y="1554480"/>
            <a:ext cx="10698480" cy="1005840"/>
          </a:xfrm>
          <a:prstGeom prst="rect">
            <a:avLst/>
          </a:prstGeom>
          <a:noFill/>
          <a:ln/>
        </p:spPr>
        <p:txBody>
          <a:bodyPr wrap="square" rtlCol="0" anchor="ctr"/>
          <a:lstStyle/>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SELECT Booster_Version, Launch_Site FROM SPACEXTABLE</a:t>
            </a:r>
            <a:endParaRPr lang="en-US" sz="1400" dirty="0"/>
          </a:p>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  WHERE Landing_Outcome = 'Failure (drone ship)'</a:t>
            </a:r>
            <a:endParaRPr lang="en-US" sz="1400" dirty="0"/>
          </a:p>
          <a:p>
            <a:pPr indent="0" marL="0">
              <a:lnSpc>
                <a:spcPts val="2000"/>
              </a:lnSpc>
              <a:buNone/>
            </a:pPr>
            <a:r>
              <a:rPr lang="en-US" sz="1400" dirty="0">
                <a:solidFill>
                  <a:srgbClr val="9FE8E6"/>
                </a:solidFill>
                <a:latin typeface="Courier New" pitchFamily="34" charset="0"/>
                <a:ea typeface="Courier New" pitchFamily="34" charset="-122"/>
                <a:cs typeface="Courier New" pitchFamily="34" charset="-120"/>
              </a:rPr>
              <a:t>  AND substr(Date,1,4) = '2015';</a:t>
            </a:r>
            <a:endParaRPr lang="en-US" sz="1400" dirty="0"/>
          </a:p>
        </p:txBody>
      </p:sp>
      <p:sp>
        <p:nvSpPr>
          <p:cNvPr id="7" name="Text 5"/>
          <p:cNvSpPr/>
          <p:nvPr/>
        </p:nvSpPr>
        <p:spPr>
          <a:xfrm>
            <a:off x="457200" y="3017520"/>
            <a:ext cx="11247120" cy="365760"/>
          </a:xfrm>
          <a:prstGeom prst="rect">
            <a:avLst/>
          </a:prstGeom>
          <a:noFill/>
          <a:ln/>
        </p:spPr>
        <p:txBody>
          <a:bodyPr wrap="square" rtlCol="0" anchor="ctr"/>
          <a:lstStyle/>
          <a:p>
            <a:pPr indent="0" marL="0">
              <a:buNone/>
            </a:pPr>
            <a:r>
              <a:rPr lang="en-US" sz="1300" b="1" dirty="0">
                <a:solidFill>
                  <a:srgbClr val="3B60E4"/>
                </a:solidFill>
              </a:rPr>
              <a:t>Result — failed drone-ship landings during 2015</a:t>
            </a:r>
            <a:endParaRPr lang="en-US" sz="1300" dirty="0"/>
          </a:p>
        </p:txBody>
      </p:sp>
      <p:sp>
        <p:nvSpPr>
          <p:cNvPr id="8" name="Text 6"/>
          <p:cNvSpPr/>
          <p:nvPr/>
        </p:nvSpPr>
        <p:spPr>
          <a:xfrm>
            <a:off x="457200" y="3429000"/>
            <a:ext cx="11247120" cy="1280160"/>
          </a:xfrm>
          <a:prstGeom prst="rect">
            <a:avLst/>
          </a:prstGeom>
          <a:noFill/>
          <a:ln/>
        </p:spPr>
        <p:txBody>
          <a:bodyPr wrap="square" rtlCol="0" anchor="ctr"/>
          <a:lstStyle/>
          <a:p>
            <a:pPr indent="0" marL="0">
              <a:lnSpc>
                <a:spcPts val="3200"/>
              </a:lnSpc>
              <a:buNone/>
            </a:pPr>
            <a:r>
              <a:rPr lang="en-US" sz="2600" b="1" dirty="0">
                <a:solidFill>
                  <a:srgbClr val="0B1F3A"/>
                </a:solidFill>
              </a:rPr>
              <a:t>F9 v1.1 B1012 and F9 v1.1 B1015, both from CCAFS LC-40</a:t>
            </a:r>
            <a:endParaRPr lang="en-US" sz="2600" dirty="0"/>
          </a:p>
        </p:txBody>
      </p:sp>
      <p:sp>
        <p:nvSpPr>
          <p:cNvPr id="9" name="Text 7"/>
          <p:cNvSpPr/>
          <p:nvPr/>
        </p:nvSpPr>
        <p:spPr>
          <a:xfrm>
            <a:off x="457200" y="5029200"/>
            <a:ext cx="11247120" cy="1097280"/>
          </a:xfrm>
          <a:prstGeom prst="rect">
            <a:avLst/>
          </a:prstGeom>
          <a:noFill/>
          <a:ln/>
        </p:spPr>
        <p:txBody>
          <a:bodyPr wrap="square" rtlCol="0" anchor="ctr"/>
          <a:lstStyle/>
          <a:p>
            <a:pPr indent="0" marL="0">
              <a:lnSpc>
                <a:spcPts val="1900"/>
              </a:lnSpc>
              <a:buNone/>
            </a:pPr>
            <a:r>
              <a:rPr lang="en-US" sz="1300" dirty="0">
                <a:solidFill>
                  <a:srgbClr val="5B6472"/>
                </a:solidFill>
              </a:rPr>
              <a:t>Both failures are v1.1 boosters from the same pad, placing them squarely in the pre-Full-Thrust era before drone-ship recovery was reliable.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EDA WITH SQL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Ranking of Landing Outcomes, 2010–2017</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27</a:t>
            </a:r>
            <a:endParaRPr lang="en-US" sz="1000" dirty="0"/>
          </a:p>
        </p:txBody>
      </p:sp>
      <p:sp>
        <p:nvSpPr>
          <p:cNvPr id="5" name="Shape 3"/>
          <p:cNvSpPr/>
          <p:nvPr/>
        </p:nvSpPr>
        <p:spPr>
          <a:xfrm>
            <a:off x="457200" y="1371600"/>
            <a:ext cx="11247120" cy="1005840"/>
          </a:xfrm>
          <a:prstGeom prst="roundRect">
            <a:avLst>
              <a:gd name="adj" fmla="val 7273"/>
            </a:avLst>
          </a:prstGeom>
          <a:solidFill>
            <a:srgbClr val="0F1B2E"/>
          </a:solidFill>
          <a:ln/>
        </p:spPr>
      </p:sp>
      <p:sp>
        <p:nvSpPr>
          <p:cNvPr id="6" name="Text 4"/>
          <p:cNvSpPr/>
          <p:nvPr/>
        </p:nvSpPr>
        <p:spPr>
          <a:xfrm>
            <a:off x="731520" y="1536192"/>
            <a:ext cx="10698480" cy="731520"/>
          </a:xfrm>
          <a:prstGeom prst="rect">
            <a:avLst/>
          </a:prstGeom>
          <a:noFill/>
          <a:ln/>
        </p:spPr>
        <p:txBody>
          <a:bodyPr wrap="square" rtlCol="0" anchor="ctr"/>
          <a:lstStyle/>
          <a:p>
            <a:pPr indent="0" marL="0">
              <a:lnSpc>
                <a:spcPts val="1900"/>
              </a:lnSpc>
              <a:buNone/>
            </a:pPr>
            <a:r>
              <a:rPr lang="en-US" sz="1300" dirty="0">
                <a:solidFill>
                  <a:srgbClr val="9FE8E6"/>
                </a:solidFill>
                <a:latin typeface="Courier New" pitchFamily="34" charset="0"/>
                <a:ea typeface="Courier New" pitchFamily="34" charset="-122"/>
                <a:cs typeface="Courier New" pitchFamily="34" charset="-120"/>
              </a:rPr>
              <a:t>SELECT Landing_Outcome, COUNT(*) AS cnt FROM SPACEXTABLE</a:t>
            </a:r>
            <a:endParaRPr lang="en-US" sz="1300" dirty="0"/>
          </a:p>
          <a:p>
            <a:pPr indent="0" marL="0">
              <a:lnSpc>
                <a:spcPts val="1900"/>
              </a:lnSpc>
              <a:buNone/>
            </a:pPr>
            <a:r>
              <a:rPr lang="en-US" sz="1300" dirty="0">
                <a:solidFill>
                  <a:srgbClr val="9FE8E6"/>
                </a:solidFill>
                <a:latin typeface="Courier New" pitchFamily="34" charset="0"/>
                <a:ea typeface="Courier New" pitchFamily="34" charset="-122"/>
                <a:cs typeface="Courier New" pitchFamily="34" charset="-120"/>
              </a:rPr>
              <a:t>  WHERE Date BETWEEN '2010-06-04' AND '2017-03-20' GROUP BY Landing_Outcome ORDER BY cnt DESC;</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2560320"/>
          <a:ext cx="5852160" cy="2926080"/>
        </p:xfrm>
        <a:graphic>
          <a:graphicData uri="http://schemas.openxmlformats.org/drawingml/2006/table">
            <a:tbl>
              <a:tblPr/>
              <a:tblGrid>
                <a:gridCol w="4206240"/>
                <a:gridCol w="1645920"/>
              </a:tblGrid>
              <a:tr h="325120">
                <a:tc>
                  <a:txBody>
                    <a:bodyPr/>
                    <a:lstStyle/>
                    <a:p>
                      <a:pPr indent="0" marL="0">
                        <a:buNone/>
                      </a:pPr>
                      <a:r>
                        <a:rPr lang="en-US" sz="1150" b="1" dirty="0">
                          <a:solidFill>
                            <a:srgbClr val="FFFFFF"/>
                          </a:solidFill>
                        </a:rPr>
                        <a:t>Landing outcome</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E4572E"/>
                    </a:solidFill>
                  </a:tcPr>
                </a:tc>
                <a:tc>
                  <a:txBody>
                    <a:bodyPr/>
                    <a:lstStyle/>
                    <a:p>
                      <a:pPr indent="0" marL="0">
                        <a:buNone/>
                      </a:pPr>
                      <a:r>
                        <a:rPr lang="en-US" sz="1150" b="1" dirty="0">
                          <a:solidFill>
                            <a:srgbClr val="FFFFFF"/>
                          </a:solidFill>
                        </a:rPr>
                        <a:t>Count</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E4572E"/>
                    </a:solidFill>
                  </a:tcPr>
                </a:tc>
              </a:tr>
              <a:tr h="325120">
                <a:tc>
                  <a:txBody>
                    <a:bodyPr/>
                    <a:lstStyle/>
                    <a:p>
                      <a:pPr indent="0" marL="0">
                        <a:buNone/>
                      </a:pPr>
                      <a:r>
                        <a:rPr lang="en-US" sz="1150" dirty="0">
                          <a:solidFill>
                            <a:srgbClr val="0B1F3A"/>
                          </a:solidFill>
                        </a:rPr>
                        <a:t>No attempt</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10</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25120">
                <a:tc>
                  <a:txBody>
                    <a:bodyPr/>
                    <a:lstStyle/>
                    <a:p>
                      <a:pPr indent="0" marL="0">
                        <a:buNone/>
                      </a:pPr>
                      <a:r>
                        <a:rPr lang="en-US" sz="1150" dirty="0">
                          <a:solidFill>
                            <a:srgbClr val="0B1F3A"/>
                          </a:solidFill>
                        </a:rPr>
                        <a:t>Success (drone ship)</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5</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25120">
                <a:tc>
                  <a:txBody>
                    <a:bodyPr/>
                    <a:lstStyle/>
                    <a:p>
                      <a:pPr indent="0" marL="0">
                        <a:buNone/>
                      </a:pPr>
                      <a:r>
                        <a:rPr lang="en-US" sz="1150" dirty="0">
                          <a:solidFill>
                            <a:srgbClr val="0B1F3A"/>
                          </a:solidFill>
                        </a:rPr>
                        <a:t>Failure (drone ship)</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5</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25120">
                <a:tc>
                  <a:txBody>
                    <a:bodyPr/>
                    <a:lstStyle/>
                    <a:p>
                      <a:pPr indent="0" marL="0">
                        <a:buNone/>
                      </a:pPr>
                      <a:r>
                        <a:rPr lang="en-US" sz="1150" dirty="0">
                          <a:solidFill>
                            <a:srgbClr val="0B1F3A"/>
                          </a:solidFill>
                        </a:rPr>
                        <a:t>Success (ground pad)</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3</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25120">
                <a:tc>
                  <a:txBody>
                    <a:bodyPr/>
                    <a:lstStyle/>
                    <a:p>
                      <a:pPr indent="0" marL="0">
                        <a:buNone/>
                      </a:pPr>
                      <a:r>
                        <a:rPr lang="en-US" sz="1150" dirty="0">
                          <a:solidFill>
                            <a:srgbClr val="0B1F3A"/>
                          </a:solidFill>
                        </a:rPr>
                        <a:t>Controlled (ocean)</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3</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25120">
                <a:tc>
                  <a:txBody>
                    <a:bodyPr/>
                    <a:lstStyle/>
                    <a:p>
                      <a:pPr indent="0" marL="0">
                        <a:buNone/>
                      </a:pPr>
                      <a:r>
                        <a:rPr lang="en-US" sz="1150" dirty="0">
                          <a:solidFill>
                            <a:srgbClr val="0B1F3A"/>
                          </a:solidFill>
                        </a:rPr>
                        <a:t>Uncontrolled (ocean)</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2</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25120">
                <a:tc>
                  <a:txBody>
                    <a:bodyPr/>
                    <a:lstStyle/>
                    <a:p>
                      <a:pPr indent="0" marL="0">
                        <a:buNone/>
                      </a:pPr>
                      <a:r>
                        <a:rPr lang="en-US" sz="1150" dirty="0">
                          <a:solidFill>
                            <a:srgbClr val="0B1F3A"/>
                          </a:solidFill>
                        </a:rPr>
                        <a:t>Failure (parachute)</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2</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25120">
                <a:tc>
                  <a:txBody>
                    <a:bodyPr/>
                    <a:lstStyle/>
                    <a:p>
                      <a:pPr indent="0" marL="0">
                        <a:buNone/>
                      </a:pPr>
                      <a:r>
                        <a:rPr lang="en-US" sz="1150" dirty="0">
                          <a:solidFill>
                            <a:srgbClr val="0B1F3A"/>
                          </a:solidFill>
                        </a:rPr>
                        <a:t>Precluded (drone ship)</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1</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bl>
          </a:graphicData>
        </a:graphic>
      </p:graphicFrame>
      <p:sp>
        <p:nvSpPr>
          <p:cNvPr id="8" name="Text 5"/>
          <p:cNvSpPr/>
          <p:nvPr/>
        </p:nvSpPr>
        <p:spPr>
          <a:xfrm>
            <a:off x="6583680" y="2651760"/>
            <a:ext cx="5120640" cy="2743200"/>
          </a:xfrm>
          <a:prstGeom prst="rect">
            <a:avLst/>
          </a:prstGeom>
          <a:noFill/>
          <a:ln/>
        </p:spPr>
        <p:txBody>
          <a:bodyPr wrap="square" rtlCol="0" anchor="ctr"/>
          <a:lstStyle/>
          <a:p>
            <a:pPr indent="0" marL="0">
              <a:lnSpc>
                <a:spcPts val="2000"/>
              </a:lnSpc>
              <a:buNone/>
            </a:pPr>
            <a:r>
              <a:rPr lang="en-US" sz="1300" b="1" dirty="0">
                <a:solidFill>
                  <a:srgbClr val="0B1F3A"/>
                </a:solidFill>
              </a:rPr>
              <a:t>Reading the ranking
</a:t>
            </a:r>
            <a:pPr indent="0" marL="0">
              <a:lnSpc>
                <a:spcPts val="2000"/>
              </a:lnSpc>
              <a:buNone/>
            </a:pPr>
            <a:r>
              <a:rPr lang="en-US" sz="1300" dirty="0">
                <a:solidFill>
                  <a:srgbClr val="5B6472"/>
                </a:solidFill>
              </a:rPr>
              <a:t>Across this window no-attempt is still the most common outcome, and drone-ship successes and failures are evenly matched at five each. Recovery in this period was genuinely experimental. It is only after March 2017 — with ground-pad landings established and the Full Thrust boosters flying — that success becomes the expected result rather than a hoped-for one.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914400" y="2377440"/>
            <a:ext cx="10058400" cy="457200"/>
          </a:xfrm>
          <a:prstGeom prst="rect">
            <a:avLst/>
          </a:prstGeom>
          <a:noFill/>
          <a:ln/>
        </p:spPr>
        <p:txBody>
          <a:bodyPr wrap="square" rtlCol="0" anchor="ctr"/>
          <a:lstStyle/>
          <a:p>
            <a:pPr indent="0" marL="0">
              <a:buNone/>
            </a:pPr>
            <a:r>
              <a:rPr lang="en-US" sz="1600" b="1" spc="200" kern="0" dirty="0">
                <a:solidFill>
                  <a:srgbClr val="17BEBB"/>
                </a:solidFill>
              </a:rPr>
              <a:t>Section 4</a:t>
            </a:r>
            <a:endParaRPr lang="en-US" sz="1600" dirty="0"/>
          </a:p>
        </p:txBody>
      </p:sp>
      <p:sp>
        <p:nvSpPr>
          <p:cNvPr id="3" name="Text 1"/>
          <p:cNvSpPr/>
          <p:nvPr/>
        </p:nvSpPr>
        <p:spPr>
          <a:xfrm>
            <a:off x="914400" y="2880360"/>
            <a:ext cx="10058400" cy="914400"/>
          </a:xfrm>
          <a:prstGeom prst="rect">
            <a:avLst/>
          </a:prstGeom>
          <a:noFill/>
          <a:ln/>
        </p:spPr>
        <p:txBody>
          <a:bodyPr wrap="square" rtlCol="0" anchor="ctr"/>
          <a:lstStyle/>
          <a:p>
            <a:pPr indent="0" marL="0">
              <a:buNone/>
            </a:pPr>
            <a:r>
              <a:rPr lang="en-US" sz="3600" b="1" dirty="0">
                <a:solidFill>
                  <a:srgbClr val="FFFFFF"/>
                </a:solidFill>
              </a:rPr>
              <a:t>Results — Folium Map</a:t>
            </a:r>
            <a:endParaRPr lang="en-US" sz="3600" dirty="0"/>
          </a:p>
        </p:txBody>
      </p:sp>
      <p:sp>
        <p:nvSpPr>
          <p:cNvPr id="4" name="Text 2"/>
          <p:cNvSpPr/>
          <p:nvPr/>
        </p:nvSpPr>
        <p:spPr>
          <a:xfrm>
            <a:off x="914400" y="3931920"/>
            <a:ext cx="10058400" cy="548640"/>
          </a:xfrm>
          <a:prstGeom prst="rect">
            <a:avLst/>
          </a:prstGeom>
          <a:noFill/>
          <a:ln/>
        </p:spPr>
        <p:txBody>
          <a:bodyPr wrap="square" rtlCol="0" anchor="ctr"/>
          <a:lstStyle/>
          <a:p>
            <a:pPr indent="0" marL="0">
              <a:buNone/>
            </a:pPr>
            <a:r>
              <a:rPr lang="en-US" sz="1400" dirty="0">
                <a:solidFill>
                  <a:srgbClr val="AAB4C8"/>
                </a:solidFill>
              </a:rPr>
              <a:t>Launch site markers, launch records and proximity analysis</a:t>
            </a:r>
            <a:endParaRPr lang="en-US" sz="1400" dirty="0"/>
          </a:p>
        </p:txBody>
      </p:sp>
      <p:sp>
        <p:nvSpPr>
          <p:cNvPr id="5" name="Text 3"/>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AAB4C8"/>
                </a:solidFill>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FOLIUM MAP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Launch Site Markers and Launch Records</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29</a:t>
            </a:r>
            <a:endParaRPr lang="en-US" sz="1000" dirty="0"/>
          </a:p>
        </p:txBody>
      </p:sp>
      <p:pic>
        <p:nvPicPr>
          <p:cNvPr id="5" name="Image 0" descr="C:\Users\USER\Documents\Coursera\repo\images\folium_static_view.png">    </p:cNvPr>
          <p:cNvPicPr>
            <a:picLocks noChangeAspect="1"/>
          </p:cNvPicPr>
          <p:nvPr/>
        </p:nvPicPr>
        <p:blipFill>
          <a:blip r:embed="rId1"/>
          <a:stretch>
            <a:fillRect/>
          </a:stretch>
        </p:blipFill>
        <p:spPr>
          <a:xfrm>
            <a:off x="457200" y="1463040"/>
            <a:ext cx="7589520" cy="3291840"/>
          </a:xfrm>
          <a:prstGeom prst="rect">
            <a:avLst/>
          </a:prstGeom>
        </p:spPr>
      </p:pic>
      <p:sp>
        <p:nvSpPr>
          <p:cNvPr id="6" name="Text 3"/>
          <p:cNvSpPr/>
          <p:nvPr/>
        </p:nvSpPr>
        <p:spPr>
          <a:xfrm>
            <a:off x="8321040" y="1554480"/>
            <a:ext cx="3383280" cy="4206240"/>
          </a:xfrm>
          <a:prstGeom prst="rect">
            <a:avLst/>
          </a:prstGeom>
          <a:noFill/>
          <a:ln/>
        </p:spPr>
        <p:txBody>
          <a:bodyPr wrap="square" rtlCol="0" anchor="ctr"/>
          <a:lstStyle/>
          <a:p>
            <a:pPr indent="0" marL="0">
              <a:lnSpc>
                <a:spcPts val="1800"/>
              </a:lnSpc>
              <a:buNone/>
            </a:pPr>
            <a:r>
              <a:rPr lang="en-US" sz="1200" b="1" dirty="0">
                <a:solidFill>
                  <a:srgbClr val="0B1F3A"/>
                </a:solidFill>
              </a:rPr>
              <a:t>Markers and outcome clusters
</a:t>
            </a:r>
            <a:pPr indent="0" marL="0">
              <a:lnSpc>
                <a:spcPts val="1800"/>
              </a:lnSpc>
              <a:buNone/>
            </a:pPr>
            <a:r>
              <a:rPr lang="en-US" sz="1200" dirty="0">
                <a:solidFill>
                  <a:srgbClr val="5B6472"/>
                </a:solidFill>
              </a:rPr>
              <a:t>All 4 launch sites are marked, and every one of the 56 individual launch records is plotted as a marker colored green for a successful landing and red for a failure or no attempt.
</a:t>
            </a:r>
            <a:pPr indent="0" marL="0">
              <a:lnSpc>
                <a:spcPts val="1800"/>
              </a:lnSpc>
              <a:buNone/>
            </a:pPr>
            <a:r>
              <a:rPr lang="en-US" sz="1200" b="1" dirty="0">
                <a:solidFill>
                  <a:srgbClr val="0B1F3A"/>
                </a:solidFill>
              </a:rPr>
              <a:t>Observation
</a:t>
            </a:r>
            <a:pPr indent="0" marL="0">
              <a:lnSpc>
                <a:spcPts val="1800"/>
              </a:lnSpc>
              <a:buNone/>
            </a:pPr>
            <a:r>
              <a:rPr lang="en-US" sz="1200" dirty="0">
                <a:solidFill>
                  <a:srgbClr val="5B6472"/>
                </a:solidFill>
              </a:rPr>
              <a:t>KSC LC-39A shows the densest green cluster, landing 10 of 13 launches (77%). CCAFS LC-40, the earliest and highest-volume pad, landed only 7 of 26 (27%) because most of its records predate a working recovery process.</a:t>
            </a:r>
            <a:endParaRPr lang="en-US" sz="1200" dirty="0"/>
          </a:p>
        </p:txBody>
      </p:sp>
      <p:sp>
        <p:nvSpPr>
          <p:cNvPr id="7" name="Text 4"/>
          <p:cNvSpPr/>
          <p:nvPr/>
        </p:nvSpPr>
        <p:spPr>
          <a:xfrm>
            <a:off x="457200" y="4937760"/>
            <a:ext cx="7589520" cy="1005840"/>
          </a:xfrm>
          <a:prstGeom prst="rect">
            <a:avLst/>
          </a:prstGeom>
          <a:noFill/>
          <a:ln/>
        </p:spPr>
        <p:txBody>
          <a:bodyPr wrap="square" rtlCol="0" anchor="ctr"/>
          <a:lstStyle/>
          <a:p>
            <a:pPr indent="0" marL="0">
              <a:lnSpc>
                <a:spcPts val="1700"/>
              </a:lnSpc>
              <a:buNone/>
            </a:pPr>
            <a:r>
              <a:rPr lang="en-US" sz="1200" i="1" dirty="0">
                <a:solidFill>
                  <a:srgbClr val="5B6472"/>
                </a:solidFill>
              </a:rPr>
              <a:t>Are all launch sites close to the Equator, and are they all near the coast? Both sites are coastal, and the three Florida pads sit at 28.5° N — closer to the Equator than Vandenberg at 34.6° N, gaining more of Earth's rotational velocity at launch.</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FOLIUM MAP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Proximity Analysis</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30</a:t>
            </a:r>
            <a:endParaRPr lang="en-US" sz="1000" dirty="0"/>
          </a:p>
        </p:txBody>
      </p:sp>
      <p:pic>
        <p:nvPicPr>
          <p:cNvPr id="5" name="Image 0" descr="C:\Users\USER\Documents\Coursera\repo\images\folium_map_screenshot.png">    </p:cNvPr>
          <p:cNvPicPr>
            <a:picLocks noChangeAspect="1"/>
          </p:cNvPicPr>
          <p:nvPr/>
        </p:nvPicPr>
        <p:blipFill>
          <a:blip r:embed="rId1"/>
          <a:stretch>
            <a:fillRect/>
          </a:stretch>
        </p:blipFill>
        <p:spPr>
          <a:xfrm>
            <a:off x="6949440" y="1371600"/>
            <a:ext cx="4754880" cy="4114800"/>
          </a:xfrm>
          <a:prstGeom prst="rect">
            <a:avLst/>
          </a:prstGeom>
        </p:spPr>
      </p:pic>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6217920" cy="1737360"/>
        </p:xfrm>
        <a:graphic>
          <a:graphicData uri="http://schemas.openxmlformats.org/drawingml/2006/table">
            <a:tbl>
              <a:tblPr/>
              <a:tblGrid>
                <a:gridCol w="4023360"/>
                <a:gridCol w="2194560"/>
              </a:tblGrid>
              <a:tr h="347472">
                <a:tc>
                  <a:txBody>
                    <a:bodyPr/>
                    <a:lstStyle/>
                    <a:p>
                      <a:pPr indent="0" marL="0">
                        <a:buNone/>
                      </a:pPr>
                      <a:r>
                        <a:rPr lang="en-US" sz="1250" b="1" dirty="0">
                          <a:solidFill>
                            <a:srgbClr val="FFFFFF"/>
                          </a:solidFill>
                        </a:rPr>
                        <a:t>Feature</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E4572E"/>
                    </a:solidFill>
                  </a:tcPr>
                </a:tc>
                <a:tc>
                  <a:txBody>
                    <a:bodyPr/>
                    <a:lstStyle/>
                    <a:p>
                      <a:pPr indent="0" marL="0">
                        <a:buNone/>
                      </a:pPr>
                      <a:r>
                        <a:rPr lang="en-US" sz="1250" b="1" dirty="0">
                          <a:solidFill>
                            <a:srgbClr val="FFFFFF"/>
                          </a:solidFill>
                        </a:rPr>
                        <a:t>Distance from KSC LC-39A</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E4572E"/>
                    </a:solidFill>
                  </a:tcPr>
                </a:tc>
              </a:tr>
              <a:tr h="347472">
                <a:tc>
                  <a:txBody>
                    <a:bodyPr/>
                    <a:lstStyle/>
                    <a:p>
                      <a:pPr indent="0" marL="0">
                        <a:buNone/>
                      </a:pPr>
                      <a:r>
                        <a:rPr lang="en-US" sz="1250" dirty="0">
                          <a:solidFill>
                            <a:srgbClr val="0B1F3A"/>
                          </a:solidFill>
                        </a:rPr>
                        <a:t>Nearest coastline</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7.43 km</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47472">
                <a:tc>
                  <a:txBody>
                    <a:bodyPr/>
                    <a:lstStyle/>
                    <a:p>
                      <a:pPr indent="0" marL="0">
                        <a:buNone/>
                      </a:pPr>
                      <a:r>
                        <a:rPr lang="en-US" sz="1250" dirty="0">
                          <a:solidFill>
                            <a:srgbClr val="0B1F3A"/>
                          </a:solidFill>
                        </a:rPr>
                        <a:t>Nearest city (Titusville)</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16.33 km</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47472">
                <a:tc>
                  <a:txBody>
                    <a:bodyPr/>
                    <a:lstStyle/>
                    <a:p>
                      <a:pPr indent="0" marL="0">
                        <a:buNone/>
                      </a:pPr>
                      <a:r>
                        <a:rPr lang="en-US" sz="1250" dirty="0">
                          <a:solidFill>
                            <a:srgbClr val="0B1F3A"/>
                          </a:solidFill>
                        </a:rPr>
                        <a:t>Nearest railway (NASA Railroad)</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0.69 km</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47472">
                <a:tc>
                  <a:txBody>
                    <a:bodyPr/>
                    <a:lstStyle/>
                    <a:p>
                      <a:pPr indent="0" marL="0">
                        <a:buNone/>
                      </a:pPr>
                      <a:r>
                        <a:rPr lang="en-US" sz="1250" dirty="0">
                          <a:solidFill>
                            <a:srgbClr val="0B1F3A"/>
                          </a:solidFill>
                        </a:rPr>
                        <a:t>Nearest highway (Kennedy Pkwy N)</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0.85 km</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bl>
          </a:graphicData>
        </a:graphic>
      </p:graphicFrame>
      <p:sp>
        <p:nvSpPr>
          <p:cNvPr id="7" name="Text 3"/>
          <p:cNvSpPr/>
          <p:nvPr/>
        </p:nvSpPr>
        <p:spPr>
          <a:xfrm>
            <a:off x="457200" y="3566160"/>
            <a:ext cx="6217920" cy="2377440"/>
          </a:xfrm>
          <a:prstGeom prst="rect">
            <a:avLst/>
          </a:prstGeom>
          <a:noFill/>
          <a:ln/>
        </p:spPr>
        <p:txBody>
          <a:bodyPr wrap="square" rtlCol="0" anchor="ctr"/>
          <a:lstStyle/>
          <a:p>
            <a:pPr indent="0" marL="0">
              <a:lnSpc>
                <a:spcPts val="1900"/>
              </a:lnSpc>
              <a:buNone/>
            </a:pPr>
            <a:r>
              <a:rPr lang="en-US" sz="1250" b="1" dirty="0">
                <a:solidFill>
                  <a:srgbClr val="0B1F3A"/>
                </a:solidFill>
              </a:rPr>
              <a:t>Why the distances matter
</a:t>
            </a:r>
            <a:pPr indent="0" marL="0">
              <a:lnSpc>
                <a:spcPts val="1900"/>
              </a:lnSpc>
              <a:buNone/>
            </a:pPr>
            <a:r>
              <a:rPr lang="en-US" sz="1250" dirty="0">
                <a:solidFill>
                  <a:srgbClr val="5B6472"/>
                </a:solidFill>
              </a:rPr>
              <a:t>Distances were computed with the haversine formula; the railway and highway coordinates come from OpenStreetMap. The pattern matches real siting constraints: the pad sits close to open water so that failures fall downrange over the sea, and within a kilometre of both rail and road because boosters and stages arrive overland, yet is kept well clear of the nearest population centre. Any competing launch provider would have to satisfy the same three conditions simultaneously.</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914400" y="2377440"/>
            <a:ext cx="10058400" cy="457200"/>
          </a:xfrm>
          <a:prstGeom prst="rect">
            <a:avLst/>
          </a:prstGeom>
          <a:noFill/>
          <a:ln/>
        </p:spPr>
        <p:txBody>
          <a:bodyPr wrap="square" rtlCol="0" anchor="ctr"/>
          <a:lstStyle/>
          <a:p>
            <a:pPr indent="0" marL="0">
              <a:buNone/>
            </a:pPr>
            <a:r>
              <a:rPr lang="en-US" sz="1600" b="1" spc="200" kern="0" dirty="0">
                <a:solidFill>
                  <a:srgbClr val="17BEBB"/>
                </a:solidFill>
              </a:rPr>
              <a:t>Section 5</a:t>
            </a:r>
            <a:endParaRPr lang="en-US" sz="1600" dirty="0"/>
          </a:p>
        </p:txBody>
      </p:sp>
      <p:sp>
        <p:nvSpPr>
          <p:cNvPr id="3" name="Text 1"/>
          <p:cNvSpPr/>
          <p:nvPr/>
        </p:nvSpPr>
        <p:spPr>
          <a:xfrm>
            <a:off x="914400" y="2880360"/>
            <a:ext cx="10058400" cy="914400"/>
          </a:xfrm>
          <a:prstGeom prst="rect">
            <a:avLst/>
          </a:prstGeom>
          <a:noFill/>
          <a:ln/>
        </p:spPr>
        <p:txBody>
          <a:bodyPr wrap="square" rtlCol="0" anchor="ctr"/>
          <a:lstStyle/>
          <a:p>
            <a:pPr indent="0" marL="0">
              <a:buNone/>
            </a:pPr>
            <a:r>
              <a:rPr lang="en-US" sz="3600" b="1" dirty="0">
                <a:solidFill>
                  <a:srgbClr val="FFFFFF"/>
                </a:solidFill>
              </a:rPr>
              <a:t>Results — Plotly Dash Dashboard</a:t>
            </a:r>
            <a:endParaRPr lang="en-US" sz="3600" dirty="0"/>
          </a:p>
        </p:txBody>
      </p:sp>
      <p:sp>
        <p:nvSpPr>
          <p:cNvPr id="4" name="Text 2"/>
          <p:cNvSpPr/>
          <p:nvPr/>
        </p:nvSpPr>
        <p:spPr>
          <a:xfrm>
            <a:off x="914400" y="3931920"/>
            <a:ext cx="10058400" cy="548640"/>
          </a:xfrm>
          <a:prstGeom prst="rect">
            <a:avLst/>
          </a:prstGeom>
          <a:noFill/>
          <a:ln/>
        </p:spPr>
        <p:txBody>
          <a:bodyPr wrap="square" rtlCol="0" anchor="ctr"/>
          <a:lstStyle/>
          <a:p>
            <a:pPr indent="0" marL="0">
              <a:buNone/>
            </a:pPr>
            <a:r>
              <a:rPr lang="en-US" sz="1400" dirty="0">
                <a:solidFill>
                  <a:srgbClr val="AAB4C8"/>
                </a:solidFill>
              </a:rPr>
              <a:t>Success-rate pie charts and payload versus outcome scatter</a:t>
            </a:r>
            <a:endParaRPr lang="en-US" sz="1400" dirty="0"/>
          </a:p>
        </p:txBody>
      </p:sp>
      <p:sp>
        <p:nvSpPr>
          <p:cNvPr id="5" name="Text 3"/>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AAB4C8"/>
                </a:solidFill>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PLOTLY DASH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Total Successful Landings by Site</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32</a:t>
            </a:r>
            <a:endParaRPr lang="en-US" sz="1000" dirty="0"/>
          </a:p>
        </p:txBody>
      </p:sp>
      <p:pic>
        <p:nvPicPr>
          <p:cNvPr id="5" name="Image 0" descr="C:\Users\USER\Documents\Coursera\repo\images\dash_pie_all_sites.png">    </p:cNvPr>
          <p:cNvPicPr>
            <a:picLocks noChangeAspect="1"/>
          </p:cNvPicPr>
          <p:nvPr/>
        </p:nvPicPr>
        <p:blipFill>
          <a:blip r:embed="rId1"/>
          <a:stretch>
            <a:fillRect/>
          </a:stretch>
        </p:blipFill>
        <p:spPr>
          <a:xfrm>
            <a:off x="457200" y="1371600"/>
            <a:ext cx="6949440" cy="4206240"/>
          </a:xfrm>
          <a:prstGeom prst="rect">
            <a:avLst/>
          </a:prstGeom>
        </p:spPr>
      </p:pic>
      <p:sp>
        <p:nvSpPr>
          <p:cNvPr id="6" name="Text 3"/>
          <p:cNvSpPr/>
          <p:nvPr/>
        </p:nvSpPr>
        <p:spPr>
          <a:xfrm>
            <a:off x="7680960" y="1463040"/>
            <a:ext cx="4023360" cy="4206240"/>
          </a:xfrm>
          <a:prstGeom prst="rect">
            <a:avLst/>
          </a:prstGeom>
          <a:noFill/>
          <a:ln/>
        </p:spPr>
        <p:txBody>
          <a:bodyPr wrap="square" rtlCol="0" anchor="ctr"/>
          <a:lstStyle/>
          <a:p>
            <a:pPr indent="0" marL="0">
              <a:lnSpc>
                <a:spcPts val="2000"/>
              </a:lnSpc>
              <a:buNone/>
            </a:pPr>
            <a:r>
              <a:rPr lang="en-US" sz="1300" b="1" dirty="0">
                <a:solidFill>
                  <a:srgbClr val="0B1F3A"/>
                </a:solidFill>
              </a:rPr>
              <a:t>Reading the pie chart
</a:t>
            </a:r>
            <a:pPr indent="0" marL="0">
              <a:lnSpc>
                <a:spcPts val="2000"/>
              </a:lnSpc>
              <a:buNone/>
            </a:pPr>
            <a:r>
              <a:rPr lang="en-US" sz="1300" dirty="0">
                <a:solidFill>
                  <a:srgbClr val="5B6472"/>
                </a:solidFill>
              </a:rPr>
              <a:t>With the dropdown set to All Sites, the pie shows each site's share of all successful landings. KSC LC-39A contributes the largest share despite launching far fewer missions than CCAFS LC-40 — a direct visual of the difference between launch volume and recovery reliability.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PLOTLY DASH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Success Ratio at the Highest-Volume Site</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33</a:t>
            </a:r>
            <a:endParaRPr lang="en-US" sz="1000" dirty="0"/>
          </a:p>
        </p:txBody>
      </p:sp>
      <p:pic>
        <p:nvPicPr>
          <p:cNvPr id="5" name="Image 0" descr="C:\Users\USER\Documents\Coursera\repo\images\dash_pie_top_site.png">    </p:cNvPr>
          <p:cNvPicPr>
            <a:picLocks noChangeAspect="1"/>
          </p:cNvPicPr>
          <p:nvPr/>
        </p:nvPicPr>
        <p:blipFill>
          <a:blip r:embed="rId1"/>
          <a:stretch>
            <a:fillRect/>
          </a:stretch>
        </p:blipFill>
        <p:spPr>
          <a:xfrm>
            <a:off x="457200" y="1371600"/>
            <a:ext cx="6949440" cy="4206240"/>
          </a:xfrm>
          <a:prstGeom prst="rect">
            <a:avLst/>
          </a:prstGeom>
        </p:spPr>
      </p:pic>
      <p:sp>
        <p:nvSpPr>
          <p:cNvPr id="6" name="Text 3"/>
          <p:cNvSpPr/>
          <p:nvPr/>
        </p:nvSpPr>
        <p:spPr>
          <a:xfrm>
            <a:off x="7680960" y="1463040"/>
            <a:ext cx="4023360" cy="4206240"/>
          </a:xfrm>
          <a:prstGeom prst="rect">
            <a:avLst/>
          </a:prstGeom>
          <a:noFill/>
          <a:ln/>
        </p:spPr>
        <p:txBody>
          <a:bodyPr wrap="square" rtlCol="0" anchor="ctr"/>
          <a:lstStyle/>
          <a:p>
            <a:pPr indent="0" marL="0">
              <a:lnSpc>
                <a:spcPts val="2000"/>
              </a:lnSpc>
              <a:buNone/>
            </a:pPr>
            <a:r>
              <a:rPr lang="en-US" sz="1300" b="1" dirty="0">
                <a:solidFill>
                  <a:srgbClr val="0B1F3A"/>
                </a:solidFill>
              </a:rPr>
              <a:t>Reading the pie chart
</a:t>
            </a:r>
            <a:pPr indent="0" marL="0">
              <a:lnSpc>
                <a:spcPts val="2000"/>
              </a:lnSpc>
              <a:buNone/>
            </a:pPr>
            <a:r>
              <a:rPr lang="en-US" sz="1300" dirty="0">
                <a:solidFill>
                  <a:srgbClr val="5B6472"/>
                </a:solidFill>
              </a:rPr>
              <a:t>Selecting CCAFS LC-40 in the dropdown redraws the pie as that site's own success-versus-failure split. Its ratio is the weakest of the four, which is expected: it flew the earliest missions, before drone-ship and ground-pad recovery worked.</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PLOTLY DASH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Payload Mass vs. Launch Outcome</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34</a:t>
            </a:r>
            <a:endParaRPr lang="en-US" sz="1000" dirty="0"/>
          </a:p>
        </p:txBody>
      </p:sp>
      <p:pic>
        <p:nvPicPr>
          <p:cNvPr id="5" name="Image 0" descr="C:\Users\USER\Documents\Coursera\repo\images\dash_payload_scatter.png">    </p:cNvPr>
          <p:cNvPicPr>
            <a:picLocks noChangeAspect="1"/>
          </p:cNvPicPr>
          <p:nvPr/>
        </p:nvPicPr>
        <p:blipFill>
          <a:blip r:embed="rId1"/>
          <a:stretch>
            <a:fillRect/>
          </a:stretch>
        </p:blipFill>
        <p:spPr>
          <a:xfrm>
            <a:off x="457200" y="1371600"/>
            <a:ext cx="6949440" cy="4206240"/>
          </a:xfrm>
          <a:prstGeom prst="rect">
            <a:avLst/>
          </a:prstGeom>
        </p:spPr>
      </p:pic>
      <p:sp>
        <p:nvSpPr>
          <p:cNvPr id="6" name="Text 3"/>
          <p:cNvSpPr/>
          <p:nvPr/>
        </p:nvSpPr>
        <p:spPr>
          <a:xfrm>
            <a:off x="7680960" y="1463040"/>
            <a:ext cx="4023360" cy="4206240"/>
          </a:xfrm>
          <a:prstGeom prst="rect">
            <a:avLst/>
          </a:prstGeom>
          <a:noFill/>
          <a:ln/>
        </p:spPr>
        <p:txBody>
          <a:bodyPr wrap="square" rtlCol="0" anchor="ctr"/>
          <a:lstStyle/>
          <a:p>
            <a:pPr indent="0" marL="0">
              <a:lnSpc>
                <a:spcPts val="2000"/>
              </a:lnSpc>
              <a:buNone/>
            </a:pPr>
            <a:r>
              <a:rPr lang="en-US" sz="1300" b="1" dirty="0">
                <a:solidFill>
                  <a:srgbClr val="0B1F3A"/>
                </a:solidFill>
              </a:rPr>
              <a:t>Reading the scatter plot
</a:t>
            </a:r>
            <a:pPr indent="0" marL="0">
              <a:lnSpc>
                <a:spcPts val="2000"/>
              </a:lnSpc>
              <a:buNone/>
            </a:pPr>
            <a:r>
              <a:rPr lang="en-US" sz="1300" dirty="0">
                <a:solidFill>
                  <a:srgbClr val="5B6472"/>
                </a:solidFill>
              </a:rPr>
              <a:t>The payload range slider narrows the mass window from 0 to 10,000 kg while the scatter recolors by booster version category. Newer generations (FT, B4, B5) succeed across a much wider payload range than v1.0 and v1.1 — booster maturity, not payload mass alone, drives the outcome.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914400" y="2377440"/>
            <a:ext cx="10058400" cy="457200"/>
          </a:xfrm>
          <a:prstGeom prst="rect">
            <a:avLst/>
          </a:prstGeom>
          <a:noFill/>
          <a:ln/>
        </p:spPr>
        <p:txBody>
          <a:bodyPr wrap="square" rtlCol="0" anchor="ctr"/>
          <a:lstStyle/>
          <a:p>
            <a:pPr indent="0" marL="0">
              <a:buNone/>
            </a:pPr>
            <a:r>
              <a:rPr lang="en-US" sz="1600" b="1" spc="200" kern="0" dirty="0">
                <a:solidFill>
                  <a:srgbClr val="17BEBB"/>
                </a:solidFill>
              </a:rPr>
              <a:t>Section 6</a:t>
            </a:r>
            <a:endParaRPr lang="en-US" sz="1600" dirty="0"/>
          </a:p>
        </p:txBody>
      </p:sp>
      <p:sp>
        <p:nvSpPr>
          <p:cNvPr id="3" name="Text 1"/>
          <p:cNvSpPr/>
          <p:nvPr/>
        </p:nvSpPr>
        <p:spPr>
          <a:xfrm>
            <a:off x="914400" y="2880360"/>
            <a:ext cx="10058400" cy="914400"/>
          </a:xfrm>
          <a:prstGeom prst="rect">
            <a:avLst/>
          </a:prstGeom>
          <a:noFill/>
          <a:ln/>
        </p:spPr>
        <p:txBody>
          <a:bodyPr wrap="square" rtlCol="0" anchor="ctr"/>
          <a:lstStyle/>
          <a:p>
            <a:pPr indent="0" marL="0">
              <a:buNone/>
            </a:pPr>
            <a:r>
              <a:rPr lang="en-US" sz="3600" b="1" dirty="0">
                <a:solidFill>
                  <a:srgbClr val="FFFFFF"/>
                </a:solidFill>
              </a:rPr>
              <a:t>Results — Predictive Analysis</a:t>
            </a:r>
            <a:endParaRPr lang="en-US" sz="3600" dirty="0"/>
          </a:p>
        </p:txBody>
      </p:sp>
      <p:sp>
        <p:nvSpPr>
          <p:cNvPr id="4" name="Text 2"/>
          <p:cNvSpPr/>
          <p:nvPr/>
        </p:nvSpPr>
        <p:spPr>
          <a:xfrm>
            <a:off x="914400" y="3931920"/>
            <a:ext cx="10058400" cy="548640"/>
          </a:xfrm>
          <a:prstGeom prst="rect">
            <a:avLst/>
          </a:prstGeom>
          <a:noFill/>
          <a:ln/>
        </p:spPr>
        <p:txBody>
          <a:bodyPr wrap="square" rtlCol="0" anchor="ctr"/>
          <a:lstStyle/>
          <a:p>
            <a:pPr indent="0" marL="0">
              <a:buNone/>
            </a:pPr>
            <a:r>
              <a:rPr lang="en-US" sz="1400" dirty="0">
                <a:solidFill>
                  <a:srgbClr val="AAB4C8"/>
                </a:solidFill>
              </a:rPr>
              <a:t>Classification models, evaluation and the best performer</a:t>
            </a:r>
            <a:endParaRPr lang="en-US" sz="1400" dirty="0"/>
          </a:p>
        </p:txBody>
      </p:sp>
      <p:sp>
        <p:nvSpPr>
          <p:cNvPr id="5" name="Text 3"/>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AAB4C8"/>
                </a:solidFill>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PREDICTIVE ANALYSIS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Classification Methodology</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36</a:t>
            </a:r>
            <a:endParaRPr lang="en-US" sz="1000" dirty="0"/>
          </a:p>
        </p:txBody>
      </p:sp>
      <p:sp>
        <p:nvSpPr>
          <p:cNvPr id="5" name="Text 3"/>
          <p:cNvSpPr/>
          <p:nvPr/>
        </p:nvSpPr>
        <p:spPr>
          <a:xfrm>
            <a:off x="457200" y="1371600"/>
            <a:ext cx="6400800" cy="4206240"/>
          </a:xfrm>
          <a:prstGeom prst="rect">
            <a:avLst/>
          </a:prstGeom>
          <a:noFill/>
          <a:ln/>
        </p:spPr>
        <p:txBody>
          <a:bodyPr wrap="square" rtlCol="0" anchor="ctr"/>
          <a:lstStyle/>
          <a:p>
            <a:pPr indent="0" marL="0">
              <a:lnSpc>
                <a:spcPts val="2000"/>
              </a:lnSpc>
              <a:buNone/>
            </a:pPr>
            <a:r>
              <a:rPr lang="en-US" sz="1300" b="1" dirty="0">
                <a:solidFill>
                  <a:srgbClr val="0B1F3A"/>
                </a:solidFill>
              </a:rPr>
              <a:t>Features. </a:t>
            </a:r>
            <a:pPr indent="0" marL="0">
              <a:lnSpc>
                <a:spcPts val="2000"/>
              </a:lnSpc>
              <a:buNone/>
            </a:pPr>
            <a:r>
              <a:rPr lang="en-US" sz="1300" dirty="0">
                <a:solidFill>
                  <a:srgbClr val="5B6472"/>
                </a:solidFill>
              </a:rPr>
              <a:t>80 one-hot-encoded columns covering orbit, launch site, landing pad and booster serial, plus flight number, payload mass, flights, grid fins, reused, legs and block. All standardized with StandardScaler.
</a:t>
            </a:r>
            <a:pPr indent="0" marL="0">
              <a:lnSpc>
                <a:spcPts val="2000"/>
              </a:lnSpc>
              <a:buNone/>
            </a:pPr>
            <a:r>
              <a:rPr lang="en-US" sz="1300" b="1" dirty="0">
                <a:solidFill>
                  <a:srgbClr val="0B1F3A"/>
                </a:solidFill>
              </a:rPr>
              <a:t>Split. </a:t>
            </a:r>
            <a:pPr indent="0" marL="0">
              <a:lnSpc>
                <a:spcPts val="2000"/>
              </a:lnSpc>
              <a:buNone/>
            </a:pPr>
            <a:r>
              <a:rPr lang="en-US" sz="1300" dirty="0">
                <a:solidFill>
                  <a:srgbClr val="5B6472"/>
                </a:solidFill>
              </a:rPr>
              <a:t>80/20 train-test, giving 72 training launches and 18 test launches.
</a:t>
            </a:r>
            <a:pPr indent="0" marL="0">
              <a:lnSpc>
                <a:spcPts val="2000"/>
              </a:lnSpc>
              <a:buNone/>
            </a:pPr>
            <a:r>
              <a:rPr lang="en-US" sz="1300" b="1" dirty="0">
                <a:solidFill>
                  <a:srgbClr val="0B1F3A"/>
                </a:solidFill>
              </a:rPr>
              <a:t>Tuning. </a:t>
            </a:r>
            <a:pPr indent="0" marL="0">
              <a:lnSpc>
                <a:spcPts val="2000"/>
              </a:lnSpc>
              <a:buNone/>
            </a:pPr>
            <a:r>
              <a:rPr lang="en-US" sz="1300" dirty="0">
                <a:solidFill>
                  <a:srgbClr val="5B6472"/>
                </a:solidFill>
              </a:rPr>
              <a:t>Each model tuned by 10-fold GridSearchCV over its own hyperparameter grid: Logistic Regression across C, penalty and solver; SVM across kernel, C and gamma; Decision Tree across criterion, max depth and minimum samples per split; KNN across n_neighbors and distance metric.</a:t>
            </a:r>
            <a:endParaRPr lang="en-US" sz="1300" dirty="0"/>
          </a:p>
        </p:txBody>
      </p:sp>
      <p:pic>
        <p:nvPicPr>
          <p:cNvPr id="6" name="Image 0" descr="C:\Users\USER\Documents\Coursera\repo\images\model_comparison.png">    </p:cNvPr>
          <p:cNvPicPr>
            <a:picLocks noChangeAspect="1"/>
          </p:cNvPicPr>
          <p:nvPr/>
        </p:nvPicPr>
        <p:blipFill>
          <a:blip r:embed="rId1"/>
          <a:stretch>
            <a:fillRect/>
          </a:stretch>
        </p:blipFill>
        <p:spPr>
          <a:xfrm>
            <a:off x="7223760" y="1463040"/>
            <a:ext cx="4480560" cy="36576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PREDICTIVE ANALYSIS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Model Evaluation Results</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37</a:t>
            </a:r>
            <a:endParaRPr lang="en-US" sz="1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6400800" cy="1737360"/>
        </p:xfrm>
        <a:graphic>
          <a:graphicData uri="http://schemas.openxmlformats.org/drawingml/2006/table">
            <a:tbl>
              <a:tblPr/>
              <a:tblGrid>
                <a:gridCol w="3108960"/>
                <a:gridCol w="1645920"/>
                <a:gridCol w="1645920"/>
              </a:tblGrid>
              <a:tr h="347472">
                <a:tc>
                  <a:txBody>
                    <a:bodyPr/>
                    <a:lstStyle/>
                    <a:p>
                      <a:pPr indent="0" marL="0">
                        <a:buNone/>
                      </a:pPr>
                      <a:r>
                        <a:rPr lang="en-US" sz="1300" b="1" dirty="0">
                          <a:solidFill>
                            <a:srgbClr val="FFFFFF"/>
                          </a:solidFill>
                        </a:rPr>
                        <a:t>Model</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E4572E"/>
                    </a:solidFill>
                  </a:tcPr>
                </a:tc>
                <a:tc>
                  <a:txBody>
                    <a:bodyPr/>
                    <a:lstStyle/>
                    <a:p>
                      <a:pPr indent="0" marL="0">
                        <a:buNone/>
                      </a:pPr>
                      <a:r>
                        <a:rPr lang="en-US" sz="1300" b="1" dirty="0">
                          <a:solidFill>
                            <a:srgbClr val="FFFFFF"/>
                          </a:solidFill>
                        </a:rPr>
                        <a:t>CV score</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E4572E"/>
                    </a:solidFill>
                  </a:tcPr>
                </a:tc>
                <a:tc>
                  <a:txBody>
                    <a:bodyPr/>
                    <a:lstStyle/>
                    <a:p>
                      <a:pPr indent="0" marL="0">
                        <a:buNone/>
                      </a:pPr>
                      <a:r>
                        <a:rPr lang="en-US" sz="1300" b="1" dirty="0">
                          <a:solidFill>
                            <a:srgbClr val="FFFFFF"/>
                          </a:solidFill>
                        </a:rPr>
                        <a:t>Test accuracy</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E4572E"/>
                    </a:solidFill>
                  </a:tcPr>
                </a:tc>
              </a:tr>
              <a:tr h="347472">
                <a:tc>
                  <a:txBody>
                    <a:bodyPr/>
                    <a:lstStyle/>
                    <a:p>
                      <a:pPr indent="0" marL="0">
                        <a:buNone/>
                      </a:pPr>
                      <a:r>
                        <a:rPr lang="en-US" sz="1300" dirty="0">
                          <a:solidFill>
                            <a:srgbClr val="0B1F3A"/>
                          </a:solidFill>
                        </a:rPr>
                        <a:t>Logistic Regression</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300" dirty="0">
                          <a:solidFill>
                            <a:srgbClr val="0B1F3A"/>
                          </a:solidFill>
                        </a:rPr>
                        <a:t>0.821</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300" dirty="0">
                          <a:solidFill>
                            <a:srgbClr val="0B1F3A"/>
                          </a:solidFill>
                        </a:rPr>
                        <a:t>0.833</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47472">
                <a:tc>
                  <a:txBody>
                    <a:bodyPr/>
                    <a:lstStyle/>
                    <a:p>
                      <a:pPr indent="0" marL="0">
                        <a:buNone/>
                      </a:pPr>
                      <a:r>
                        <a:rPr lang="en-US" sz="1300" dirty="0">
                          <a:solidFill>
                            <a:srgbClr val="0B1F3A"/>
                          </a:solidFill>
                        </a:rPr>
                        <a:t>Support Vector Machine</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300" dirty="0">
                          <a:solidFill>
                            <a:srgbClr val="0B1F3A"/>
                          </a:solidFill>
                        </a:rPr>
                        <a:t>0.834</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300" dirty="0">
                          <a:solidFill>
                            <a:srgbClr val="0B1F3A"/>
                          </a:solidFill>
                        </a:rPr>
                        <a:t>0.833</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47472">
                <a:tc>
                  <a:txBody>
                    <a:bodyPr/>
                    <a:lstStyle/>
                    <a:p>
                      <a:pPr indent="0" marL="0">
                        <a:buNone/>
                      </a:pPr>
                      <a:r>
                        <a:rPr lang="en-US" sz="1300" dirty="0">
                          <a:solidFill>
                            <a:srgbClr val="0B1F3A"/>
                          </a:solidFill>
                        </a:rPr>
                        <a:t>K-Nearest Neighbors</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300" dirty="0">
                          <a:solidFill>
                            <a:srgbClr val="0B1F3A"/>
                          </a:solidFill>
                        </a:rPr>
                        <a:t>0.834</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300" dirty="0">
                          <a:solidFill>
                            <a:srgbClr val="0B1F3A"/>
                          </a:solidFill>
                        </a:rPr>
                        <a:t>0.833</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47472">
                <a:tc>
                  <a:txBody>
                    <a:bodyPr/>
                    <a:lstStyle/>
                    <a:p>
                      <a:pPr indent="0" marL="0">
                        <a:buNone/>
                      </a:pPr>
                      <a:r>
                        <a:rPr lang="en-US" sz="1300" dirty="0">
                          <a:solidFill>
                            <a:srgbClr val="0B1F3A"/>
                          </a:solidFill>
                        </a:rPr>
                        <a:t>Decision Tree</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300" dirty="0">
                          <a:solidFill>
                            <a:srgbClr val="0B1F3A"/>
                          </a:solidFill>
                        </a:rPr>
                        <a:t>0.804</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300" dirty="0">
                          <a:solidFill>
                            <a:srgbClr val="0B1F3A"/>
                          </a:solidFill>
                        </a:rPr>
                        <a:t>0.778</a:t>
                      </a:r>
                      <a:endParaRPr lang="en-US" sz="13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bl>
          </a:graphicData>
        </a:graphic>
      </p:graphicFrame>
      <p:sp>
        <p:nvSpPr>
          <p:cNvPr id="6" name="Text 3"/>
          <p:cNvSpPr/>
          <p:nvPr/>
        </p:nvSpPr>
        <p:spPr>
          <a:xfrm>
            <a:off x="457200" y="3566160"/>
            <a:ext cx="6400800" cy="2286000"/>
          </a:xfrm>
          <a:prstGeom prst="rect">
            <a:avLst/>
          </a:prstGeom>
          <a:noFill/>
          <a:ln/>
        </p:spPr>
        <p:txBody>
          <a:bodyPr wrap="square" rtlCol="0" anchor="ctr"/>
          <a:lstStyle/>
          <a:p>
            <a:pPr indent="0" marL="0">
              <a:lnSpc>
                <a:spcPts val="2000"/>
              </a:lnSpc>
              <a:buNone/>
            </a:pPr>
            <a:r>
              <a:rPr lang="en-US" sz="1300" b="1" dirty="0">
                <a:solidFill>
                  <a:srgbClr val="0B1F3A"/>
                </a:solidFill>
              </a:rPr>
              <a:t>What the comparison shows
</a:t>
            </a:r>
            <a:pPr indent="0" marL="0">
              <a:lnSpc>
                <a:spcPts val="2000"/>
              </a:lnSpc>
              <a:buNone/>
            </a:pPr>
            <a:r>
              <a:rPr lang="en-US" sz="1300" dirty="0">
                <a:solidFill>
                  <a:srgbClr val="5B6472"/>
                </a:solidFill>
              </a:rPr>
              <a:t>Logistic Regression, SVM and KNN converge on exactly the same 83.3% test accuracy, and only the Decision Tree falls behind at 77.8%. When three very different algorithms agree to the decimal on a held-out set, the signal is coming from the engineered features rather than from any model's inductive bias — feature quality mattered far more here than model choice.</a:t>
            </a:r>
            <a:endParaRPr lang="en-US" sz="1300" dirty="0"/>
          </a:p>
        </p:txBody>
      </p:sp>
      <p:pic>
        <p:nvPicPr>
          <p:cNvPr id="7" name="Image 0" descr="C:\Users\USER\Documents\Coursera\repo\images\confusion_matrix_best.png">    </p:cNvPr>
          <p:cNvPicPr>
            <a:picLocks noChangeAspect="1"/>
          </p:cNvPicPr>
          <p:nvPr/>
        </p:nvPicPr>
        <p:blipFill>
          <a:blip r:embed="rId1"/>
          <a:stretch>
            <a:fillRect/>
          </a:stretch>
        </p:blipFill>
        <p:spPr>
          <a:xfrm>
            <a:off x="7223760" y="1463040"/>
            <a:ext cx="4480560" cy="36576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PREDICTIVE ANALYSIS · RESULTS</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Confusion Matrix and Best Model</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38</a:t>
            </a:r>
            <a:endParaRPr lang="en-US" sz="1000" dirty="0"/>
          </a:p>
        </p:txBody>
      </p:sp>
      <p:pic>
        <p:nvPicPr>
          <p:cNvPr id="5" name="Image 0" descr="C:\Users\USER\Documents\Coursera\repo\images\confusion_matrix_best.png">    </p:cNvPr>
          <p:cNvPicPr>
            <a:picLocks noChangeAspect="1"/>
          </p:cNvPicPr>
          <p:nvPr/>
        </p:nvPicPr>
        <p:blipFill>
          <a:blip r:embed="rId1"/>
          <a:stretch>
            <a:fillRect/>
          </a:stretch>
        </p:blipFill>
        <p:spPr>
          <a:xfrm>
            <a:off x="457200" y="1463040"/>
            <a:ext cx="5486400" cy="4114800"/>
          </a:xfrm>
          <a:prstGeom prst="rect">
            <a:avLst/>
          </a:prstGeom>
        </p:spPr>
      </p:pic>
      <p:sp>
        <p:nvSpPr>
          <p:cNvPr id="6" name="Text 3"/>
          <p:cNvSpPr/>
          <p:nvPr/>
        </p:nvSpPr>
        <p:spPr>
          <a:xfrm>
            <a:off x="6309360" y="1554480"/>
            <a:ext cx="5394960" cy="4206240"/>
          </a:xfrm>
          <a:prstGeom prst="rect">
            <a:avLst/>
          </a:prstGeom>
          <a:noFill/>
          <a:ln/>
        </p:spPr>
        <p:txBody>
          <a:bodyPr wrap="square" rtlCol="0" anchor="ctr"/>
          <a:lstStyle/>
          <a:p>
            <a:pPr indent="0" marL="0">
              <a:lnSpc>
                <a:spcPts val="1900"/>
              </a:lnSpc>
              <a:buNone/>
            </a:pPr>
            <a:r>
              <a:rPr lang="en-US" sz="1250" b="1" dirty="0">
                <a:solidFill>
                  <a:srgbClr val="0B1F3A"/>
                </a:solidFill>
              </a:rPr>
              <a:t>Reading the confusion matrix (18 test launches)
</a:t>
            </a:r>
            <a:pPr indent="0" marL="0">
              <a:lnSpc>
                <a:spcPts val="1900"/>
              </a:lnSpc>
              <a:buNone/>
            </a:pPr>
            <a:r>
              <a:rPr lang="en-US" sz="1250" dirty="0">
                <a:solidFill>
                  <a:srgbClr val="5B6472"/>
                </a:solidFill>
              </a:rPr>
              <a:t>12 successful landings correctly predicted, 3 unsuccessful correctly predicted, 3 unsuccessful misclassified as successful, and 0 successful landings missed. Every error is a false positive, so the model never fails to spot a booster that actually lands — the conservative direction for cost bidding.
</a:t>
            </a:r>
            <a:pPr indent="0" marL="0">
              <a:lnSpc>
                <a:spcPts val="1900"/>
              </a:lnSpc>
              <a:buNone/>
            </a:pPr>
            <a:r>
              <a:rPr lang="en-US" sz="1250" b="1" dirty="0">
                <a:solidFill>
                  <a:srgbClr val="0B1F3A"/>
                </a:solidFill>
              </a:rPr>
              <a:t>Best model: Logistic Regression
</a:t>
            </a:r>
            <a:pPr indent="0" marL="0">
              <a:lnSpc>
                <a:spcPts val="1900"/>
              </a:lnSpc>
              <a:buNone/>
            </a:pPr>
            <a:r>
              <a:rPr lang="en-US" sz="1250" dirty="0">
                <a:solidFill>
                  <a:srgbClr val="5B6472"/>
                </a:solidFill>
              </a:rPr>
              <a:t>Tuned to C=1 with an L2 penalty and the lbfgs solver. It ties SVM and KNN at 83.3% test accuracy, but it is the only one of the three whose coefficients directly express each feature's effect on landing-success odds — which is what lets a cost bid be explained to a non-technical stakeholder. It is also the cheapest of the four to retrain as new launches accumulate.</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WRAP-UP</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Conclusion</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39</a:t>
            </a:r>
            <a:endParaRPr lang="en-US" sz="1000" dirty="0"/>
          </a:p>
        </p:txBody>
      </p:sp>
      <p:sp>
        <p:nvSpPr>
          <p:cNvPr id="5" name="Shape 3"/>
          <p:cNvSpPr/>
          <p:nvPr/>
        </p:nvSpPr>
        <p:spPr>
          <a:xfrm>
            <a:off x="457200" y="1417320"/>
            <a:ext cx="457200" cy="457200"/>
          </a:xfrm>
          <a:prstGeom prst="roundRect">
            <a:avLst>
              <a:gd name="adj" fmla="val 100000"/>
            </a:avLst>
          </a:prstGeom>
          <a:solidFill>
            <a:srgbClr val="3B60E4"/>
          </a:solidFill>
          <a:ln/>
        </p:spPr>
      </p:sp>
      <p:sp>
        <p:nvSpPr>
          <p:cNvPr id="6" name="Text 4"/>
          <p:cNvSpPr/>
          <p:nvPr/>
        </p:nvSpPr>
        <p:spPr>
          <a:xfrm>
            <a:off x="457200" y="1417320"/>
            <a:ext cx="457200" cy="457200"/>
          </a:xfrm>
          <a:prstGeom prst="rect">
            <a:avLst/>
          </a:prstGeom>
          <a:noFill/>
          <a:ln/>
        </p:spPr>
        <p:txBody>
          <a:bodyPr wrap="square" rtlCol="0" anchor="ctr"/>
          <a:lstStyle/>
          <a:p>
            <a:pPr algn="ctr" indent="0" marL="0">
              <a:buNone/>
            </a:pPr>
            <a:r>
              <a:rPr lang="en-US" sz="1400" b="1" dirty="0">
                <a:solidFill>
                  <a:srgbClr val="FFFFFF"/>
                </a:solidFill>
              </a:rPr>
              <a:t>1</a:t>
            </a:r>
            <a:endParaRPr lang="en-US" sz="1400" dirty="0"/>
          </a:p>
        </p:txBody>
      </p:sp>
      <p:sp>
        <p:nvSpPr>
          <p:cNvPr id="7" name="Text 5"/>
          <p:cNvSpPr/>
          <p:nvPr/>
        </p:nvSpPr>
        <p:spPr>
          <a:xfrm>
            <a:off x="1051560" y="1371600"/>
            <a:ext cx="10607040" cy="566928"/>
          </a:xfrm>
          <a:prstGeom prst="rect">
            <a:avLst/>
          </a:prstGeom>
          <a:noFill/>
          <a:ln/>
        </p:spPr>
        <p:txBody>
          <a:bodyPr wrap="square" rtlCol="0" anchor="ctr"/>
          <a:lstStyle/>
          <a:p>
            <a:pPr indent="0" marL="0">
              <a:lnSpc>
                <a:spcPts val="1800"/>
              </a:lnSpc>
              <a:buNone/>
            </a:pPr>
            <a:r>
              <a:rPr lang="en-US" sz="1300" dirty="0">
                <a:solidFill>
                  <a:srgbClr val="0B1F3A"/>
                </a:solidFill>
              </a:rPr>
              <a:t>Landing success is highly learnable from public launch parameters — 83.3% test accuracy from a simple, interpretable Logistic Regression model.</a:t>
            </a:r>
            <a:endParaRPr lang="en-US" sz="1300" dirty="0"/>
          </a:p>
        </p:txBody>
      </p:sp>
      <p:sp>
        <p:nvSpPr>
          <p:cNvPr id="8" name="Shape 6"/>
          <p:cNvSpPr/>
          <p:nvPr/>
        </p:nvSpPr>
        <p:spPr>
          <a:xfrm>
            <a:off x="457200" y="2194560"/>
            <a:ext cx="457200" cy="457200"/>
          </a:xfrm>
          <a:prstGeom prst="roundRect">
            <a:avLst>
              <a:gd name="adj" fmla="val 100000"/>
            </a:avLst>
          </a:prstGeom>
          <a:solidFill>
            <a:srgbClr val="3B60E4"/>
          </a:solidFill>
          <a:ln/>
        </p:spPr>
      </p:sp>
      <p:sp>
        <p:nvSpPr>
          <p:cNvPr id="9" name="Text 7"/>
          <p:cNvSpPr/>
          <p:nvPr/>
        </p:nvSpPr>
        <p:spPr>
          <a:xfrm>
            <a:off x="457200" y="2194560"/>
            <a:ext cx="457200" cy="457200"/>
          </a:xfrm>
          <a:prstGeom prst="rect">
            <a:avLst/>
          </a:prstGeom>
          <a:noFill/>
          <a:ln/>
        </p:spPr>
        <p:txBody>
          <a:bodyPr wrap="square" rtlCol="0" anchor="ctr"/>
          <a:lstStyle/>
          <a:p>
            <a:pPr algn="ctr" indent="0" marL="0">
              <a:buNone/>
            </a:pPr>
            <a:r>
              <a:rPr lang="en-US" sz="1400" b="1" dirty="0">
                <a:solidFill>
                  <a:srgbClr val="FFFFFF"/>
                </a:solidFill>
              </a:rPr>
              <a:t>2</a:t>
            </a:r>
            <a:endParaRPr lang="en-US" sz="1400" dirty="0"/>
          </a:p>
        </p:txBody>
      </p:sp>
      <p:sp>
        <p:nvSpPr>
          <p:cNvPr id="10" name="Text 8"/>
          <p:cNvSpPr/>
          <p:nvPr/>
        </p:nvSpPr>
        <p:spPr>
          <a:xfrm>
            <a:off x="1051560" y="2148840"/>
            <a:ext cx="10607040" cy="566928"/>
          </a:xfrm>
          <a:prstGeom prst="rect">
            <a:avLst/>
          </a:prstGeom>
          <a:noFill/>
          <a:ln/>
        </p:spPr>
        <p:txBody>
          <a:bodyPr wrap="square" rtlCol="0" anchor="ctr"/>
          <a:lstStyle/>
          <a:p>
            <a:pPr indent="0" marL="0">
              <a:lnSpc>
                <a:spcPts val="1800"/>
              </a:lnSpc>
              <a:buNone/>
            </a:pPr>
            <a:r>
              <a:rPr lang="en-US" sz="1300" dirty="0">
                <a:solidFill>
                  <a:srgbClr val="0B1F3A"/>
                </a:solidFill>
              </a:rPr>
              <a:t>Orbit type is the strongest single predictor: high-energy GTO transfers land far less reliably than LEO, ISS and SSO missions.</a:t>
            </a:r>
            <a:endParaRPr lang="en-US" sz="1300" dirty="0"/>
          </a:p>
        </p:txBody>
      </p:sp>
      <p:sp>
        <p:nvSpPr>
          <p:cNvPr id="11" name="Shape 9"/>
          <p:cNvSpPr/>
          <p:nvPr/>
        </p:nvSpPr>
        <p:spPr>
          <a:xfrm>
            <a:off x="457200" y="2971800"/>
            <a:ext cx="457200" cy="457200"/>
          </a:xfrm>
          <a:prstGeom prst="roundRect">
            <a:avLst>
              <a:gd name="adj" fmla="val 100000"/>
            </a:avLst>
          </a:prstGeom>
          <a:solidFill>
            <a:srgbClr val="3B60E4"/>
          </a:solidFill>
          <a:ln/>
        </p:spPr>
      </p:sp>
      <p:sp>
        <p:nvSpPr>
          <p:cNvPr id="12" name="Text 10"/>
          <p:cNvSpPr/>
          <p:nvPr/>
        </p:nvSpPr>
        <p:spPr>
          <a:xfrm>
            <a:off x="457200" y="2971800"/>
            <a:ext cx="457200" cy="45720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sp>
        <p:nvSpPr>
          <p:cNvPr id="13" name="Text 11"/>
          <p:cNvSpPr/>
          <p:nvPr/>
        </p:nvSpPr>
        <p:spPr>
          <a:xfrm>
            <a:off x="1051560" y="2926080"/>
            <a:ext cx="10607040" cy="566928"/>
          </a:xfrm>
          <a:prstGeom prst="rect">
            <a:avLst/>
          </a:prstGeom>
          <a:noFill/>
          <a:ln/>
        </p:spPr>
        <p:txBody>
          <a:bodyPr wrap="square" rtlCol="0" anchor="ctr"/>
          <a:lstStyle/>
          <a:p>
            <a:pPr indent="0" marL="0">
              <a:lnSpc>
                <a:spcPts val="1800"/>
              </a:lnSpc>
              <a:buNone/>
            </a:pPr>
            <a:r>
              <a:rPr lang="en-US" sz="1300" dirty="0">
                <a:solidFill>
                  <a:srgbClr val="0B1F3A"/>
                </a:solidFill>
              </a:rPr>
              <a:t>Success improved dramatically from 2013 to 2020, so recovery reliability is a capability SpaceX built rather than a fixed property of the hardware.</a:t>
            </a:r>
            <a:endParaRPr lang="en-US" sz="1300" dirty="0"/>
          </a:p>
        </p:txBody>
      </p:sp>
      <p:sp>
        <p:nvSpPr>
          <p:cNvPr id="14" name="Shape 12"/>
          <p:cNvSpPr/>
          <p:nvPr/>
        </p:nvSpPr>
        <p:spPr>
          <a:xfrm>
            <a:off x="457200" y="3749040"/>
            <a:ext cx="457200" cy="457200"/>
          </a:xfrm>
          <a:prstGeom prst="roundRect">
            <a:avLst>
              <a:gd name="adj" fmla="val 100000"/>
            </a:avLst>
          </a:prstGeom>
          <a:solidFill>
            <a:srgbClr val="3B60E4"/>
          </a:solidFill>
          <a:ln/>
        </p:spPr>
      </p:sp>
      <p:sp>
        <p:nvSpPr>
          <p:cNvPr id="15" name="Text 13"/>
          <p:cNvSpPr/>
          <p:nvPr/>
        </p:nvSpPr>
        <p:spPr>
          <a:xfrm>
            <a:off x="457200" y="3749040"/>
            <a:ext cx="457200" cy="457200"/>
          </a:xfrm>
          <a:prstGeom prst="rect">
            <a:avLst/>
          </a:prstGeom>
          <a:noFill/>
          <a:ln/>
        </p:spPr>
        <p:txBody>
          <a:bodyPr wrap="square" rtlCol="0" anchor="ctr"/>
          <a:lstStyle/>
          <a:p>
            <a:pPr algn="ctr" indent="0" marL="0">
              <a:buNone/>
            </a:pPr>
            <a:r>
              <a:rPr lang="en-US" sz="1400" b="1" dirty="0">
                <a:solidFill>
                  <a:srgbClr val="FFFFFF"/>
                </a:solidFill>
              </a:rPr>
              <a:t>4</a:t>
            </a:r>
            <a:endParaRPr lang="en-US" sz="1400" dirty="0"/>
          </a:p>
        </p:txBody>
      </p:sp>
      <p:sp>
        <p:nvSpPr>
          <p:cNvPr id="16" name="Text 14"/>
          <p:cNvSpPr/>
          <p:nvPr/>
        </p:nvSpPr>
        <p:spPr>
          <a:xfrm>
            <a:off x="1051560" y="3703320"/>
            <a:ext cx="10607040" cy="566928"/>
          </a:xfrm>
          <a:prstGeom prst="rect">
            <a:avLst/>
          </a:prstGeom>
          <a:noFill/>
          <a:ln/>
        </p:spPr>
        <p:txBody>
          <a:bodyPr wrap="square" rtlCol="0" anchor="ctr"/>
          <a:lstStyle/>
          <a:p>
            <a:pPr indent="0" marL="0">
              <a:lnSpc>
                <a:spcPts val="1800"/>
              </a:lnSpc>
              <a:buNone/>
            </a:pPr>
            <a:r>
              <a:rPr lang="en-US" sz="1300" dirty="0">
                <a:solidFill>
                  <a:srgbClr val="0B1F3A"/>
                </a:solidFill>
              </a:rPr>
              <a:t>Booster generation matters more than payload mass alone: FT, B4 and B5 succeed across a much wider payload range than v1.0 and v1.1.</a:t>
            </a:r>
            <a:endParaRPr lang="en-US" sz="1300" dirty="0"/>
          </a:p>
        </p:txBody>
      </p:sp>
      <p:sp>
        <p:nvSpPr>
          <p:cNvPr id="17" name="Shape 15"/>
          <p:cNvSpPr/>
          <p:nvPr/>
        </p:nvSpPr>
        <p:spPr>
          <a:xfrm>
            <a:off x="457200" y="4526280"/>
            <a:ext cx="457200" cy="457200"/>
          </a:xfrm>
          <a:prstGeom prst="roundRect">
            <a:avLst>
              <a:gd name="adj" fmla="val 100000"/>
            </a:avLst>
          </a:prstGeom>
          <a:solidFill>
            <a:srgbClr val="3B60E4"/>
          </a:solidFill>
          <a:ln/>
        </p:spPr>
      </p:sp>
      <p:sp>
        <p:nvSpPr>
          <p:cNvPr id="18" name="Text 16"/>
          <p:cNvSpPr/>
          <p:nvPr/>
        </p:nvSpPr>
        <p:spPr>
          <a:xfrm>
            <a:off x="457200" y="4526280"/>
            <a:ext cx="457200" cy="457200"/>
          </a:xfrm>
          <a:prstGeom prst="rect">
            <a:avLst/>
          </a:prstGeom>
          <a:noFill/>
          <a:ln/>
        </p:spPr>
        <p:txBody>
          <a:bodyPr wrap="square" rtlCol="0" anchor="ctr"/>
          <a:lstStyle/>
          <a:p>
            <a:pPr algn="ctr" indent="0" marL="0">
              <a:buNone/>
            </a:pPr>
            <a:r>
              <a:rPr lang="en-US" sz="1400" b="1" dirty="0">
                <a:solidFill>
                  <a:srgbClr val="FFFFFF"/>
                </a:solidFill>
              </a:rPr>
              <a:t>5</a:t>
            </a:r>
            <a:endParaRPr lang="en-US" sz="1400" dirty="0"/>
          </a:p>
        </p:txBody>
      </p:sp>
      <p:sp>
        <p:nvSpPr>
          <p:cNvPr id="19" name="Text 17"/>
          <p:cNvSpPr/>
          <p:nvPr/>
        </p:nvSpPr>
        <p:spPr>
          <a:xfrm>
            <a:off x="1051560" y="4480560"/>
            <a:ext cx="10607040" cy="566928"/>
          </a:xfrm>
          <a:prstGeom prst="rect">
            <a:avLst/>
          </a:prstGeom>
          <a:noFill/>
          <a:ln/>
        </p:spPr>
        <p:txBody>
          <a:bodyPr wrap="square" rtlCol="0" anchor="ctr"/>
          <a:lstStyle/>
          <a:p>
            <a:pPr indent="0" marL="0">
              <a:lnSpc>
                <a:spcPts val="1800"/>
              </a:lnSpc>
              <a:buNone/>
            </a:pPr>
            <a:r>
              <a:rPr lang="en-US" sz="1300" dirty="0">
                <a:solidFill>
                  <a:srgbClr val="0B1F3A"/>
                </a:solidFill>
              </a:rPr>
              <a:t>Launch sites are measurably constrained — 7.43 km from the coast, within 0.85 km of rail and road, and 16.33 km from the nearest city.</a:t>
            </a:r>
            <a:endParaRPr lang="en-US" sz="1300" dirty="0"/>
          </a:p>
        </p:txBody>
      </p:sp>
      <p:sp>
        <p:nvSpPr>
          <p:cNvPr id="20" name="Shape 18"/>
          <p:cNvSpPr/>
          <p:nvPr/>
        </p:nvSpPr>
        <p:spPr>
          <a:xfrm>
            <a:off x="457200" y="5303520"/>
            <a:ext cx="457200" cy="457200"/>
          </a:xfrm>
          <a:prstGeom prst="roundRect">
            <a:avLst>
              <a:gd name="adj" fmla="val 100000"/>
            </a:avLst>
          </a:prstGeom>
          <a:solidFill>
            <a:srgbClr val="3B60E4"/>
          </a:solidFill>
          <a:ln/>
        </p:spPr>
      </p:sp>
      <p:sp>
        <p:nvSpPr>
          <p:cNvPr id="21" name="Text 19"/>
          <p:cNvSpPr/>
          <p:nvPr/>
        </p:nvSpPr>
        <p:spPr>
          <a:xfrm>
            <a:off x="457200" y="5303520"/>
            <a:ext cx="457200" cy="457200"/>
          </a:xfrm>
          <a:prstGeom prst="rect">
            <a:avLst/>
          </a:prstGeom>
          <a:noFill/>
          <a:ln/>
        </p:spPr>
        <p:txBody>
          <a:bodyPr wrap="square" rtlCol="0" anchor="ctr"/>
          <a:lstStyle/>
          <a:p>
            <a:pPr algn="ctr" indent="0" marL="0">
              <a:buNone/>
            </a:pPr>
            <a:r>
              <a:rPr lang="en-US" sz="1400" b="1" dirty="0">
                <a:solidFill>
                  <a:srgbClr val="FFFFFF"/>
                </a:solidFill>
              </a:rPr>
              <a:t>6</a:t>
            </a:r>
            <a:endParaRPr lang="en-US" sz="1400" dirty="0"/>
          </a:p>
        </p:txBody>
      </p:sp>
      <p:sp>
        <p:nvSpPr>
          <p:cNvPr id="22" name="Text 20"/>
          <p:cNvSpPr/>
          <p:nvPr/>
        </p:nvSpPr>
        <p:spPr>
          <a:xfrm>
            <a:off x="1051560" y="5257800"/>
            <a:ext cx="10607040" cy="566928"/>
          </a:xfrm>
          <a:prstGeom prst="rect">
            <a:avLst/>
          </a:prstGeom>
          <a:noFill/>
          <a:ln/>
        </p:spPr>
        <p:txBody>
          <a:bodyPr wrap="square" rtlCol="0" anchor="ctr"/>
          <a:lstStyle/>
          <a:p>
            <a:pPr indent="0" marL="0">
              <a:lnSpc>
                <a:spcPts val="1800"/>
              </a:lnSpc>
              <a:buNone/>
            </a:pPr>
            <a:r>
              <a:rPr lang="en-US" sz="1300" dirty="0">
                <a:solidFill>
                  <a:srgbClr val="0B1F3A"/>
                </a:solidFill>
              </a:rPr>
              <a:t>A competing bidder can use this model as a first-pass cost-risk estimator, retraining continuously rather than assuming a fixed success rate.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150" b="1" spc="200" kern="0" dirty="0">
                <a:solidFill>
                  <a:srgbClr val="3B60E4"/>
                </a:solidFill>
              </a:rPr>
              <a:t>APPENDIX</a:t>
            </a:r>
            <a:endParaRPr lang="en-US" sz="115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500" b="1" dirty="0">
                <a:solidFill>
                  <a:srgbClr val="0B1F3A"/>
                </a:solidFill>
              </a:rPr>
              <a:t>Project Repository</a:t>
            </a:r>
            <a:endParaRPr lang="en-US" sz="2500" dirty="0"/>
          </a:p>
        </p:txBody>
      </p:sp>
      <p:sp>
        <p:nvSpPr>
          <p:cNvPr id="4" name="Text 2"/>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40</a:t>
            </a:r>
            <a:endParaRPr lang="en-US" sz="1000" dirty="0"/>
          </a:p>
        </p:txBody>
      </p:sp>
      <p:sp>
        <p:nvSpPr>
          <p:cNvPr id="5" name="Text 3"/>
          <p:cNvSpPr/>
          <p:nvPr/>
        </p:nvSpPr>
        <p:spPr>
          <a:xfrm>
            <a:off x="457200" y="1463040"/>
            <a:ext cx="11247120" cy="731520"/>
          </a:xfrm>
          <a:prstGeom prst="rect">
            <a:avLst/>
          </a:prstGeom>
          <a:noFill/>
          <a:ln/>
        </p:spPr>
        <p:txBody>
          <a:bodyPr wrap="square" rtlCol="0" anchor="ctr"/>
          <a:lstStyle/>
          <a:p>
            <a:pPr indent="0" marL="0">
              <a:lnSpc>
                <a:spcPts val="2000"/>
              </a:lnSpc>
              <a:buNone/>
            </a:pPr>
            <a:r>
              <a:rPr lang="en-US" sz="1400" dirty="0">
                <a:solidFill>
                  <a:srgbClr val="5B6472"/>
                </a:solidFill>
              </a:rPr>
              <a:t>All completed notebooks and Python files for every stage of this project are published in the GitHub repository below, together with the datasets, the generated figures and the Plotly Dash application.</a:t>
            </a:r>
            <a:endParaRPr lang="en-US" sz="1400" dirty="0"/>
          </a:p>
        </p:txBody>
      </p:sp>
      <p:sp>
        <p:nvSpPr>
          <p:cNvPr id="6" name="Shape 4"/>
          <p:cNvSpPr/>
          <p:nvPr/>
        </p:nvSpPr>
        <p:spPr>
          <a:xfrm>
            <a:off x="457200" y="2377440"/>
            <a:ext cx="11247120" cy="777240"/>
          </a:xfrm>
          <a:prstGeom prst="roundRect">
            <a:avLst>
              <a:gd name="adj" fmla="val 11765"/>
            </a:avLst>
          </a:prstGeom>
          <a:solidFill>
            <a:srgbClr val="F4F7FC"/>
          </a:solidFill>
          <a:ln w="12700">
            <a:solidFill>
              <a:srgbClr val="E2E8F5"/>
            </a:solidFill>
            <a:prstDash val="solid"/>
          </a:ln>
        </p:spPr>
      </p:sp>
      <p:sp>
        <p:nvSpPr>
          <p:cNvPr id="7" name="Text 5">
            <a:hlinkClick r:id="rId1" tooltip=""/>
          </p:cNvPr>
          <p:cNvSpPr/>
          <p:nvPr/>
        </p:nvSpPr>
        <p:spPr>
          <a:xfrm>
            <a:off x="731520" y="2542032"/>
            <a:ext cx="10698480" cy="457200"/>
          </a:xfrm>
          <a:prstGeom prst="rect">
            <a:avLst/>
          </a:prstGeom>
          <a:noFill/>
          <a:ln/>
        </p:spPr>
        <p:txBody>
          <a:bodyPr wrap="square" rtlCol="0" anchor="ctr"/>
          <a:lstStyle/>
          <a:p>
            <a:pPr indent="0" marL="0">
              <a:buNone/>
            </a:pPr>
            <a:r>
              <a:rPr lang="en-US" sz="1700" b="1"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a:t>
            </a:r>
            <a:endParaRPr lang="en-US" sz="1700" dirty="0"/>
          </a:p>
        </p:txBody>
      </p:sp>
      <p:sp>
        <p:nvSpPr>
          <p:cNvPr id="8" name="Text 6"/>
          <p:cNvSpPr/>
          <p:nvPr/>
        </p:nvSpPr>
        <p:spPr>
          <a:xfrm>
            <a:off x="640080" y="3429000"/>
            <a:ext cx="4754880" cy="384048"/>
          </a:xfrm>
          <a:prstGeom prst="rect">
            <a:avLst/>
          </a:prstGeom>
          <a:noFill/>
          <a:ln/>
        </p:spPr>
        <p:txBody>
          <a:bodyPr wrap="square" rtlCol="0" anchor="ctr"/>
          <a:lstStyle/>
          <a:p>
            <a:pPr indent="0" marL="0">
              <a:buNone/>
            </a:pPr>
            <a:r>
              <a:rPr lang="en-US" sz="1250" dirty="0">
                <a:solidFill>
                  <a:srgbClr val="0B1F3A"/>
                </a:solidFill>
              </a:rPr>
              <a:t>Data collection — SpaceX API</a:t>
            </a:r>
            <a:endParaRPr lang="en-US" sz="1250" dirty="0"/>
          </a:p>
        </p:txBody>
      </p:sp>
      <p:sp>
        <p:nvSpPr>
          <p:cNvPr id="9" name="Text 7"/>
          <p:cNvSpPr/>
          <p:nvPr/>
        </p:nvSpPr>
        <p:spPr>
          <a:xfrm>
            <a:off x="5486400" y="3429000"/>
            <a:ext cx="6217920" cy="384048"/>
          </a:xfrm>
          <a:prstGeom prst="rect">
            <a:avLst/>
          </a:prstGeom>
          <a:noFill/>
          <a:ln/>
        </p:spPr>
        <p:txBody>
          <a:bodyPr wrap="square" rtlCol="0" anchor="ctr"/>
          <a:lstStyle/>
          <a:p>
            <a:pPr indent="0" marL="0">
              <a:buNone/>
            </a:pPr>
            <a:r>
              <a:rPr lang="en-US" sz="1200" dirty="0">
                <a:solidFill>
                  <a:srgbClr val="5B6472"/>
                </a:solidFill>
                <a:latin typeface="Courier New" pitchFamily="34" charset="0"/>
                <a:ea typeface="Courier New" pitchFamily="34" charset="-122"/>
                <a:cs typeface="Courier New" pitchFamily="34" charset="-120"/>
              </a:rPr>
              <a:t>notebooks/01_data_collection_api.py</a:t>
            </a:r>
            <a:endParaRPr lang="en-US" sz="1200" dirty="0"/>
          </a:p>
        </p:txBody>
      </p:sp>
      <p:sp>
        <p:nvSpPr>
          <p:cNvPr id="10" name="Text 8"/>
          <p:cNvSpPr/>
          <p:nvPr/>
        </p:nvSpPr>
        <p:spPr>
          <a:xfrm>
            <a:off x="640080" y="3886200"/>
            <a:ext cx="4754880" cy="384048"/>
          </a:xfrm>
          <a:prstGeom prst="rect">
            <a:avLst/>
          </a:prstGeom>
          <a:noFill/>
          <a:ln/>
        </p:spPr>
        <p:txBody>
          <a:bodyPr wrap="square" rtlCol="0" anchor="ctr"/>
          <a:lstStyle/>
          <a:p>
            <a:pPr indent="0" marL="0">
              <a:buNone/>
            </a:pPr>
            <a:r>
              <a:rPr lang="en-US" sz="1250" dirty="0">
                <a:solidFill>
                  <a:srgbClr val="0B1F3A"/>
                </a:solidFill>
              </a:rPr>
              <a:t>Data collection — web scraping</a:t>
            </a:r>
            <a:endParaRPr lang="en-US" sz="1250" dirty="0"/>
          </a:p>
        </p:txBody>
      </p:sp>
      <p:sp>
        <p:nvSpPr>
          <p:cNvPr id="11" name="Text 9"/>
          <p:cNvSpPr/>
          <p:nvPr/>
        </p:nvSpPr>
        <p:spPr>
          <a:xfrm>
            <a:off x="5486400" y="3886200"/>
            <a:ext cx="6217920" cy="384048"/>
          </a:xfrm>
          <a:prstGeom prst="rect">
            <a:avLst/>
          </a:prstGeom>
          <a:noFill/>
          <a:ln/>
        </p:spPr>
        <p:txBody>
          <a:bodyPr wrap="square" rtlCol="0" anchor="ctr"/>
          <a:lstStyle/>
          <a:p>
            <a:pPr indent="0" marL="0">
              <a:buNone/>
            </a:pPr>
            <a:r>
              <a:rPr lang="en-US" sz="1200" dirty="0">
                <a:solidFill>
                  <a:srgbClr val="5B6472"/>
                </a:solidFill>
                <a:latin typeface="Courier New" pitchFamily="34" charset="0"/>
                <a:ea typeface="Courier New" pitchFamily="34" charset="-122"/>
                <a:cs typeface="Courier New" pitchFamily="34" charset="-120"/>
              </a:rPr>
              <a:t>notebooks/02_web_scraping.py</a:t>
            </a:r>
            <a:endParaRPr lang="en-US" sz="1200" dirty="0"/>
          </a:p>
        </p:txBody>
      </p:sp>
      <p:sp>
        <p:nvSpPr>
          <p:cNvPr id="12" name="Text 10"/>
          <p:cNvSpPr/>
          <p:nvPr/>
        </p:nvSpPr>
        <p:spPr>
          <a:xfrm>
            <a:off x="640080" y="4343400"/>
            <a:ext cx="4754880" cy="384048"/>
          </a:xfrm>
          <a:prstGeom prst="rect">
            <a:avLst/>
          </a:prstGeom>
          <a:noFill/>
          <a:ln/>
        </p:spPr>
        <p:txBody>
          <a:bodyPr wrap="square" rtlCol="0" anchor="ctr"/>
          <a:lstStyle/>
          <a:p>
            <a:pPr indent="0" marL="0">
              <a:buNone/>
            </a:pPr>
            <a:r>
              <a:rPr lang="en-US" sz="1250" dirty="0">
                <a:solidFill>
                  <a:srgbClr val="0B1F3A"/>
                </a:solidFill>
              </a:rPr>
              <a:t>Data wrangling</a:t>
            </a:r>
            <a:endParaRPr lang="en-US" sz="1250" dirty="0"/>
          </a:p>
        </p:txBody>
      </p:sp>
      <p:sp>
        <p:nvSpPr>
          <p:cNvPr id="13" name="Text 11"/>
          <p:cNvSpPr/>
          <p:nvPr/>
        </p:nvSpPr>
        <p:spPr>
          <a:xfrm>
            <a:off x="5486400" y="4343400"/>
            <a:ext cx="6217920" cy="384048"/>
          </a:xfrm>
          <a:prstGeom prst="rect">
            <a:avLst/>
          </a:prstGeom>
          <a:noFill/>
          <a:ln/>
        </p:spPr>
        <p:txBody>
          <a:bodyPr wrap="square" rtlCol="0" anchor="ctr"/>
          <a:lstStyle/>
          <a:p>
            <a:pPr indent="0" marL="0">
              <a:buNone/>
            </a:pPr>
            <a:r>
              <a:rPr lang="en-US" sz="1200" dirty="0">
                <a:solidFill>
                  <a:srgbClr val="5B6472"/>
                </a:solidFill>
                <a:latin typeface="Courier New" pitchFamily="34" charset="0"/>
                <a:ea typeface="Courier New" pitchFamily="34" charset="-122"/>
                <a:cs typeface="Courier New" pitchFamily="34" charset="-120"/>
              </a:rPr>
              <a:t>notebooks/03_data_wrangling.py</a:t>
            </a:r>
            <a:endParaRPr lang="en-US" sz="1200" dirty="0"/>
          </a:p>
        </p:txBody>
      </p:sp>
      <p:sp>
        <p:nvSpPr>
          <p:cNvPr id="14" name="Text 12"/>
          <p:cNvSpPr/>
          <p:nvPr/>
        </p:nvSpPr>
        <p:spPr>
          <a:xfrm>
            <a:off x="640080" y="4800600"/>
            <a:ext cx="4754880" cy="384048"/>
          </a:xfrm>
          <a:prstGeom prst="rect">
            <a:avLst/>
          </a:prstGeom>
          <a:noFill/>
          <a:ln/>
        </p:spPr>
        <p:txBody>
          <a:bodyPr wrap="square" rtlCol="0" anchor="ctr"/>
          <a:lstStyle/>
          <a:p>
            <a:pPr indent="0" marL="0">
              <a:buNone/>
            </a:pPr>
            <a:r>
              <a:rPr lang="en-US" sz="1250" dirty="0">
                <a:solidFill>
                  <a:srgbClr val="0B1F3A"/>
                </a:solidFill>
              </a:rPr>
              <a:t>EDA, SQL and machine learning</a:t>
            </a:r>
            <a:endParaRPr lang="en-US" sz="1250" dirty="0"/>
          </a:p>
        </p:txBody>
      </p:sp>
      <p:sp>
        <p:nvSpPr>
          <p:cNvPr id="15" name="Text 13"/>
          <p:cNvSpPr/>
          <p:nvPr/>
        </p:nvSpPr>
        <p:spPr>
          <a:xfrm>
            <a:off x="5486400" y="4800600"/>
            <a:ext cx="6217920" cy="384048"/>
          </a:xfrm>
          <a:prstGeom prst="rect">
            <a:avLst/>
          </a:prstGeom>
          <a:noFill/>
          <a:ln/>
        </p:spPr>
        <p:txBody>
          <a:bodyPr wrap="square" rtlCol="0" anchor="ctr"/>
          <a:lstStyle/>
          <a:p>
            <a:pPr indent="0" marL="0">
              <a:buNone/>
            </a:pPr>
            <a:r>
              <a:rPr lang="en-US" sz="1200" dirty="0">
                <a:solidFill>
                  <a:srgbClr val="5B6472"/>
                </a:solidFill>
                <a:latin typeface="Courier New" pitchFamily="34" charset="0"/>
                <a:ea typeface="Courier New" pitchFamily="34" charset="-122"/>
                <a:cs typeface="Courier New" pitchFamily="34" charset="-120"/>
              </a:rPr>
              <a:t>notebooks/04_07_eda_sql_ml.py</a:t>
            </a:r>
            <a:endParaRPr lang="en-US" sz="1200" dirty="0"/>
          </a:p>
        </p:txBody>
      </p:sp>
      <p:sp>
        <p:nvSpPr>
          <p:cNvPr id="16" name="Text 14"/>
          <p:cNvSpPr/>
          <p:nvPr/>
        </p:nvSpPr>
        <p:spPr>
          <a:xfrm>
            <a:off x="640080" y="5257800"/>
            <a:ext cx="4754880" cy="384048"/>
          </a:xfrm>
          <a:prstGeom prst="rect">
            <a:avLst/>
          </a:prstGeom>
          <a:noFill/>
          <a:ln/>
        </p:spPr>
        <p:txBody>
          <a:bodyPr wrap="square" rtlCol="0" anchor="ctr"/>
          <a:lstStyle/>
          <a:p>
            <a:pPr indent="0" marL="0">
              <a:buNone/>
            </a:pPr>
            <a:r>
              <a:rPr lang="en-US" sz="1250" dirty="0">
                <a:solidFill>
                  <a:srgbClr val="0B1F3A"/>
                </a:solidFill>
              </a:rPr>
              <a:t>Folium map and proximity analysis</a:t>
            </a:r>
            <a:endParaRPr lang="en-US" sz="1250" dirty="0"/>
          </a:p>
        </p:txBody>
      </p:sp>
      <p:sp>
        <p:nvSpPr>
          <p:cNvPr id="17" name="Text 15"/>
          <p:cNvSpPr/>
          <p:nvPr/>
        </p:nvSpPr>
        <p:spPr>
          <a:xfrm>
            <a:off x="5486400" y="5257800"/>
            <a:ext cx="6217920" cy="384048"/>
          </a:xfrm>
          <a:prstGeom prst="rect">
            <a:avLst/>
          </a:prstGeom>
          <a:noFill/>
          <a:ln/>
        </p:spPr>
        <p:txBody>
          <a:bodyPr wrap="square" rtlCol="0" anchor="ctr"/>
          <a:lstStyle/>
          <a:p>
            <a:pPr indent="0" marL="0">
              <a:buNone/>
            </a:pPr>
            <a:r>
              <a:rPr lang="en-US" sz="1200" dirty="0">
                <a:solidFill>
                  <a:srgbClr val="5B6472"/>
                </a:solidFill>
                <a:latin typeface="Courier New" pitchFamily="34" charset="0"/>
                <a:ea typeface="Courier New" pitchFamily="34" charset="-122"/>
                <a:cs typeface="Courier New" pitchFamily="34" charset="-120"/>
              </a:rPr>
              <a:t>notebooks/06_folium_map.py</a:t>
            </a:r>
            <a:endParaRPr lang="en-US" sz="1200" dirty="0"/>
          </a:p>
        </p:txBody>
      </p:sp>
      <p:sp>
        <p:nvSpPr>
          <p:cNvPr id="18" name="Text 16"/>
          <p:cNvSpPr/>
          <p:nvPr/>
        </p:nvSpPr>
        <p:spPr>
          <a:xfrm>
            <a:off x="640080" y="5715000"/>
            <a:ext cx="4754880" cy="384048"/>
          </a:xfrm>
          <a:prstGeom prst="rect">
            <a:avLst/>
          </a:prstGeom>
          <a:noFill/>
          <a:ln/>
        </p:spPr>
        <p:txBody>
          <a:bodyPr wrap="square" rtlCol="0" anchor="ctr"/>
          <a:lstStyle/>
          <a:p>
            <a:pPr indent="0" marL="0">
              <a:buNone/>
            </a:pPr>
            <a:r>
              <a:rPr lang="en-US" sz="1250" dirty="0">
                <a:solidFill>
                  <a:srgbClr val="0B1F3A"/>
                </a:solidFill>
              </a:rPr>
              <a:t>Plotly Dash application</a:t>
            </a:r>
            <a:endParaRPr lang="en-US" sz="1250" dirty="0"/>
          </a:p>
        </p:txBody>
      </p:sp>
      <p:sp>
        <p:nvSpPr>
          <p:cNvPr id="19" name="Text 17"/>
          <p:cNvSpPr/>
          <p:nvPr/>
        </p:nvSpPr>
        <p:spPr>
          <a:xfrm>
            <a:off x="5486400" y="5715000"/>
            <a:ext cx="6217920" cy="384048"/>
          </a:xfrm>
          <a:prstGeom prst="rect">
            <a:avLst/>
          </a:prstGeom>
          <a:noFill/>
          <a:ln/>
        </p:spPr>
        <p:txBody>
          <a:bodyPr wrap="square" rtlCol="0" anchor="ctr"/>
          <a:lstStyle/>
          <a:p>
            <a:pPr indent="0" marL="0">
              <a:buNone/>
            </a:pPr>
            <a:r>
              <a:rPr lang="en-US" sz="1200" dirty="0">
                <a:solidFill>
                  <a:srgbClr val="5B6472"/>
                </a:solidFill>
                <a:latin typeface="Courier New" pitchFamily="34" charset="0"/>
                <a:ea typeface="Courier New" pitchFamily="34" charset="-122"/>
                <a:cs typeface="Courier New" pitchFamily="34" charset="-120"/>
              </a:rPr>
              <a:t>dashboard/app.py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2026-08-19T05:13:59Z</dcterms:created>
  <dcterms:modified xsi:type="dcterms:W3CDTF">2026-08-19T05:13:59Z</dcterms:modified>
</cp:coreProperties>
</file>