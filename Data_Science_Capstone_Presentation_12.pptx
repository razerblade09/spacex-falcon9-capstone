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razerblade09/spacex-falcon9-capstone" TargetMode="External"/><Relationship Id="rId2" Type="http://schemas.openxmlformats.org/officeDocument/2006/relationships/hyperlink" Target="https://github.com/razerblade09/spacex-falcon9-capstone" TargetMode="External"/><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github.com/razerblade09/spacex-falcon9-capstone"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github.com/razerblade09/spacex-falcon9-capstone/blob/main/notebooks/01_data_collection_api.py"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github.com/razerblade09/spacex-falcon9-capstone/blob/main/notebooks/02_web_scraping.py"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github.com/razerblade09/spacex-falcon9-capstone/blob/main/notebooks/03_data_wrangling.py"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4" Type="http://schemas.openxmlformats.org/officeDocument/2006/relationships/hyperlink" Target="https://github.com/razerblade09/spacex-falcon9-capstone/blob/main/notebooks/04_07_eda_sql_ml.py" TargetMode="Externa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ithub.com/razerblade09/spacex-falcon9-capstone/blob/main/notebooks/04_07_eda_sql_ml.py"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razerblade09/spacex-falcon9-capstone/blob/main/notebooks/06_folium_map.py" TargetMode="External"/><Relationship Id="rId1" Type="http://schemas.openxmlformats.org/officeDocument/2006/relationships/image" Target="../media/image-9-1.png"/><Relationship Id="rId2" Type="http://schemas.openxmlformats.org/officeDocument/2006/relationships/image" Target="../media/image-9-2.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4" Type="http://schemas.openxmlformats.org/officeDocument/2006/relationships/hyperlink" Target="https://github.com/razerblade09/spacex-falcon9-capstone/blob/main/dashboard/app.py" TargetMode="External"/><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razerblade09/spacex-falcon9-capstone/blob/main/notebooks/04_07_eda_sql_ml.py" TargetMode="External"/><Relationship Id="rId1" Type="http://schemas.openxmlformats.org/officeDocument/2006/relationships/image" Target="../media/image-11-1.png"/><Relationship Id="rId2" Type="http://schemas.openxmlformats.org/officeDocument/2006/relationships/image" Target="../media/image-11-2.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razerblade09/spacex-falcon9-capstone"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731520" y="1371600"/>
            <a:ext cx="10698480" cy="1554480"/>
          </a:xfrm>
          <a:prstGeom prst="rect">
            <a:avLst/>
          </a:prstGeom>
          <a:noFill/>
          <a:ln/>
        </p:spPr>
        <p:txBody>
          <a:bodyPr wrap="square" rtlCol="0" anchor="ctr"/>
          <a:lstStyle/>
          <a:p>
            <a:pPr indent="0" marL="0">
              <a:buNone/>
            </a:pPr>
            <a:r>
              <a:rPr lang="en-US" sz="3800" b="1" dirty="0">
                <a:solidFill>
                  <a:srgbClr val="FFFFFF"/>
                </a:solidFill>
              </a:rPr>
              <a:t>SpaceX Falcon 9</a:t>
            </a:r>
            <a:endParaRPr lang="en-US" sz="3800" dirty="0"/>
          </a:p>
          <a:p>
            <a:pPr indent="0" marL="0">
              <a:buNone/>
            </a:pPr>
            <a:r>
              <a:rPr lang="en-US" sz="3800" b="1" dirty="0">
                <a:solidFill>
                  <a:srgbClr val="FFFFFF"/>
                </a:solidFill>
              </a:rPr>
              <a:t>First-Stage Landing Prediction</a:t>
            </a:r>
            <a:endParaRPr lang="en-US" sz="3800" dirty="0"/>
          </a:p>
        </p:txBody>
      </p:sp>
      <p:sp>
        <p:nvSpPr>
          <p:cNvPr id="3" name="Text 1"/>
          <p:cNvSpPr/>
          <p:nvPr/>
        </p:nvSpPr>
        <p:spPr>
          <a:xfrm>
            <a:off x="731520" y="2971800"/>
            <a:ext cx="10058400" cy="411480"/>
          </a:xfrm>
          <a:prstGeom prst="rect">
            <a:avLst/>
          </a:prstGeom>
          <a:noFill/>
          <a:ln/>
        </p:spPr>
        <p:txBody>
          <a:bodyPr wrap="square" rtlCol="0" anchor="ctr"/>
          <a:lstStyle/>
          <a:p>
            <a:pPr indent="0" marL="0">
              <a:buNone/>
            </a:pPr>
            <a:r>
              <a:rPr lang="en-US" sz="2000" dirty="0">
                <a:solidFill>
                  <a:srgbClr val="17BEBB"/>
                </a:solidFill>
              </a:rPr>
              <a:t>Data Science Capstone Project Report</a:t>
            </a:r>
            <a:endParaRPr lang="en-US" sz="2000" dirty="0"/>
          </a:p>
        </p:txBody>
      </p:sp>
      <p:sp>
        <p:nvSpPr>
          <p:cNvPr id="4" name="Shape 2"/>
          <p:cNvSpPr/>
          <p:nvPr/>
        </p:nvSpPr>
        <p:spPr>
          <a:xfrm>
            <a:off x="731520" y="3520440"/>
            <a:ext cx="2011680" cy="54864"/>
          </a:xfrm>
          <a:prstGeom prst="rect">
            <a:avLst/>
          </a:prstGeom>
          <a:solidFill>
            <a:srgbClr val="3B60E4"/>
          </a:solidFill>
          <a:ln/>
        </p:spPr>
      </p:sp>
      <p:sp>
        <p:nvSpPr>
          <p:cNvPr id="5" name="Text 3"/>
          <p:cNvSpPr/>
          <p:nvPr/>
        </p:nvSpPr>
        <p:spPr>
          <a:xfrm>
            <a:off x="731520" y="3840480"/>
            <a:ext cx="10698480" cy="822960"/>
          </a:xfrm>
          <a:prstGeom prst="rect">
            <a:avLst/>
          </a:prstGeom>
          <a:noFill/>
          <a:ln/>
        </p:spPr>
        <p:txBody>
          <a:bodyPr wrap="square" rtlCol="0" anchor="ctr"/>
          <a:lstStyle/>
          <a:p>
            <a:pPr indent="0" marL="0">
              <a:lnSpc>
                <a:spcPts val="1800"/>
              </a:lnSpc>
              <a:buNone/>
            </a:pPr>
            <a:r>
              <a:rPr lang="en-US" sz="1300" dirty="0">
                <a:solidFill>
                  <a:srgbClr val="FFFFFF"/>
                </a:solidFill>
              </a:rPr>
              <a:t>Completed 12-slide presentation PDF — Executive Summary, Introduction, Data Collection, Data Wrangling, EDA with Visualization, EDA with SQL, Folium Map, Plotly Dash, Predictive Analysis, Conclusion — GitHub repository: </a:t>
            </a:r>
            <a:pPr indent="0" marL="0">
              <a:lnSpc>
                <a:spcPts val="1800"/>
              </a:lnSpc>
              <a:buNone/>
            </a:pPr>
            <a:r>
              <a:rPr lang="en-US" sz="1300" u="sng" dirty="0">
                <a:solidFill>
                  <a:srgbClr val="17BEBB"/>
                </a:solidFill>
                <a:hlinkClick r:id="rId1"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a:t>
            </a:r>
            <a:endParaRPr lang="en-US" sz="1300" dirty="0"/>
          </a:p>
        </p:txBody>
      </p:sp>
      <p:sp>
        <p:nvSpPr>
          <p:cNvPr id="6" name="Text 4"/>
          <p:cNvSpPr/>
          <p:nvPr/>
        </p:nvSpPr>
        <p:spPr>
          <a:xfrm>
            <a:off x="731520" y="4709160"/>
            <a:ext cx="10607040" cy="822960"/>
          </a:xfrm>
          <a:prstGeom prst="rect">
            <a:avLst/>
          </a:prstGeom>
          <a:noFill/>
          <a:ln/>
        </p:spPr>
        <p:txBody>
          <a:bodyPr wrap="square" rtlCol="0" anchor="ctr"/>
          <a:lstStyle/>
          <a:p>
            <a:pPr indent="0" marL="0">
              <a:lnSpc>
                <a:spcPts val="1700"/>
              </a:lnSpc>
              <a:buNone/>
            </a:pPr>
            <a:r>
              <a:rPr lang="en-US" sz="1200" dirty="0">
                <a:solidFill>
                  <a:srgbClr val="AAB4C8"/>
                </a:solidFill>
              </a:rPr>
              <a:t>Contains all completed notebooks, Python scripts (data collection, web scraping, wrangling, EDA, SQL, Folium, ML modeling) and the Plotly Dash dashboard app referenced in this presentation: </a:t>
            </a:r>
            <a:pPr indent="0" marL="0">
              <a:lnSpc>
                <a:spcPts val="1700"/>
              </a:lnSpc>
              <a:buNone/>
            </a:pPr>
            <a:r>
              <a:rPr lang="en-US" sz="1200" u="sng" dirty="0">
                <a:solidFill>
                  <a:srgbClr val="17BEBB"/>
                </a:solidFill>
                <a:hlinkClick r:id="rId2"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a:t>
            </a:r>
            <a:endParaRPr lang="en-US" sz="1200" dirty="0"/>
          </a:p>
        </p:txBody>
      </p:sp>
      <p:sp>
        <p:nvSpPr>
          <p:cNvPr id="7" name="Text 5"/>
          <p:cNvSpPr/>
          <p:nvPr/>
        </p:nvSpPr>
        <p:spPr>
          <a:xfrm>
            <a:off x="731520" y="5943600"/>
            <a:ext cx="10058400" cy="365760"/>
          </a:xfrm>
          <a:prstGeom prst="rect">
            <a:avLst/>
          </a:prstGeom>
          <a:noFill/>
          <a:ln/>
        </p:spPr>
        <p:txBody>
          <a:bodyPr wrap="square" rtlCol="0" anchor="ctr"/>
          <a:lstStyle/>
          <a:p>
            <a:pPr indent="0" marL="0">
              <a:buNone/>
            </a:pPr>
            <a:r>
              <a:rPr lang="en-US" sz="1300" dirty="0">
                <a:solidFill>
                  <a:srgbClr val="AAB4C8"/>
                </a:solidFill>
              </a:rPr>
              <a:t>Presented by: Aaron Vargas   |   2026-08-19</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92608"/>
            <a:ext cx="7315200" cy="274320"/>
          </a:xfrm>
          <a:prstGeom prst="rect">
            <a:avLst/>
          </a:prstGeom>
          <a:noFill/>
          <a:ln/>
        </p:spPr>
        <p:txBody>
          <a:bodyPr wrap="square" rtlCol="0" anchor="ctr"/>
          <a:lstStyle/>
          <a:p>
            <a:pPr indent="0" marL="0">
              <a:buNone/>
            </a:pPr>
            <a:r>
              <a:rPr lang="en-US" sz="1200" b="1" spc="200" kern="0" dirty="0">
                <a:solidFill>
                  <a:srgbClr val="3B60E4"/>
                </a:solidFill>
              </a:rPr>
              <a:t>OVERVIEW</a:t>
            </a:r>
            <a:endParaRPr lang="en-US" sz="120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600" b="1" dirty="0">
                <a:solidFill>
                  <a:srgbClr val="0B1F3A"/>
                </a:solidFill>
              </a:rPr>
              <a:t>Executive Summary</a:t>
            </a:r>
            <a:endParaRPr lang="en-US" sz="2600" dirty="0"/>
          </a:p>
        </p:txBody>
      </p:sp>
      <p:sp>
        <p:nvSpPr>
          <p:cNvPr id="4" name="Text 2"/>
          <p:cNvSpPr/>
          <p:nvPr/>
        </p:nvSpPr>
        <p:spPr>
          <a:xfrm>
            <a:off x="457200" y="1298448"/>
            <a:ext cx="11247120" cy="310896"/>
          </a:xfrm>
          <a:prstGeom prst="rect">
            <a:avLst/>
          </a:prstGeom>
          <a:noFill/>
          <a:ln/>
        </p:spPr>
        <p:txBody>
          <a:bodyPr wrap="square" rtlCol="0" anchor="ctr"/>
          <a:lstStyle/>
          <a:p>
            <a:pPr indent="0" marL="0">
              <a:buNone/>
            </a:pPr>
            <a:r>
              <a:rPr lang="en-US" sz="1100" b="1" dirty="0">
                <a:solidFill>
                  <a:srgbClr val="5B6472"/>
                </a:solidFill>
              </a:rPr>
              <a:t>Project links — GitHub repository:   </a:t>
            </a:r>
            <a:pPr indent="0" marL="0">
              <a:buNone/>
            </a:pPr>
            <a:r>
              <a:rPr lang="en-US" sz="1100" u="sng" dirty="0">
                <a:solidFill>
                  <a:srgbClr val="3B60E4"/>
                </a:solidFill>
                <a:hlinkClick r:id="rId1"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a:t>
            </a:r>
            <a:pPr indent="0" marL="0">
              <a:buNone/>
            </a:pPr>
            <a:r>
              <a:rPr lang="en-US" sz="1100" dirty="0">
                <a:solidFill>
                  <a:srgbClr val="5B6472"/>
                </a:solidFill>
              </a:rPr>
              <a:t>  (all notebooks, scripts, and dashboard code) — completed presentation, 90 launches, 66.7% landing success, 83.3% best-model accuracy</a:t>
            </a:r>
            <a:endParaRPr lang="en-US" sz="1100" dirty="0"/>
          </a:p>
        </p:txBody>
      </p:sp>
      <p:sp>
        <p:nvSpPr>
          <p:cNvPr id="5" name="Text 3"/>
          <p:cNvSpPr/>
          <p:nvPr/>
        </p:nvSpPr>
        <p:spPr>
          <a:xfrm>
            <a:off x="457200" y="1691640"/>
            <a:ext cx="5577840" cy="1737360"/>
          </a:xfrm>
          <a:prstGeom prst="rect">
            <a:avLst/>
          </a:prstGeom>
          <a:noFill/>
          <a:ln/>
        </p:spPr>
        <p:txBody>
          <a:bodyPr wrap="square" rtlCol="0" anchor="ctr"/>
          <a:lstStyle/>
          <a:p>
            <a:pPr indent="0" marL="0">
              <a:lnSpc>
                <a:spcPts val="1900"/>
              </a:lnSpc>
              <a:buNone/>
            </a:pPr>
            <a:r>
              <a:rPr lang="en-US" sz="1300" b="1" dirty="0">
                <a:solidFill>
                  <a:srgbClr val="0B1F3A"/>
                </a:solidFill>
              </a:rPr>
              <a:t>Methods used: </a:t>
            </a:r>
            <a:pPr indent="0" marL="0">
              <a:lnSpc>
                <a:spcPts val="1900"/>
              </a:lnSpc>
              <a:buNone/>
            </a:pPr>
            <a:r>
              <a:rPr lang="en-US" sz="1300" dirty="0">
                <a:solidFill>
                  <a:srgbClr val="5B6472"/>
                </a:solidFill>
              </a:rPr>
              <a:t>Data was collected via the SpaceX REST API and Wikipedia web scraping, cleaned and labeled, explored with visualization and SQL, mapped geospatially with Folium, presented interactively through a Plotly Dash dashboard, and modeled with four classifiers (Logistic Regression, SVM, Decision Tree, KNN) tuned via 10-fold GridSearchCV.</a:t>
            </a:r>
            <a:endParaRPr lang="en-US" sz="1300" dirty="0"/>
          </a:p>
        </p:txBody>
      </p:sp>
      <p:sp>
        <p:nvSpPr>
          <p:cNvPr id="6" name="Text 4"/>
          <p:cNvSpPr/>
          <p:nvPr/>
        </p:nvSpPr>
        <p:spPr>
          <a:xfrm>
            <a:off x="6217920" y="1691640"/>
            <a:ext cx="5486400" cy="1737360"/>
          </a:xfrm>
          <a:prstGeom prst="rect">
            <a:avLst/>
          </a:prstGeom>
          <a:noFill/>
          <a:ln/>
        </p:spPr>
        <p:txBody>
          <a:bodyPr wrap="square" rtlCol="0" anchor="ctr"/>
          <a:lstStyle/>
          <a:p>
            <a:pPr indent="0" marL="0">
              <a:lnSpc>
                <a:spcPts val="1900"/>
              </a:lnSpc>
              <a:buNone/>
            </a:pPr>
            <a:r>
              <a:rPr lang="en-US" sz="1300" b="1" dirty="0">
                <a:solidFill>
                  <a:srgbClr val="0B1F3A"/>
                </a:solidFill>
              </a:rPr>
              <a:t>Key results: </a:t>
            </a:r>
            <a:pPr indent="0" marL="0">
              <a:lnSpc>
                <a:spcPts val="1900"/>
              </a:lnSpc>
              <a:buNone/>
            </a:pPr>
            <a:r>
              <a:rPr lang="en-US" sz="1300" dirty="0">
                <a:solidFill>
                  <a:srgbClr val="5B6472"/>
                </a:solidFill>
              </a:rPr>
              <a:t>Across 90 Falcon 9 launches (2010–Nov 2020) the overall first-stage landing success rate was 66.7%. Logistic Regression, SVM and KNN each reached 83.3% test accuracy; the Decision Tree reached 77.8%. Landing success rises with booster maturity and falls with orbit energy.</a:t>
            </a:r>
            <a:endParaRPr lang="en-US" sz="1300" dirty="0"/>
          </a:p>
        </p:txBody>
      </p:sp>
      <p:sp>
        <p:nvSpPr>
          <p:cNvPr id="7" name="Shape 5"/>
          <p:cNvSpPr/>
          <p:nvPr/>
        </p:nvSpPr>
        <p:spPr>
          <a:xfrm>
            <a:off x="457200" y="3611880"/>
            <a:ext cx="2606040" cy="1234440"/>
          </a:xfrm>
          <a:prstGeom prst="roundRect">
            <a:avLst>
              <a:gd name="adj" fmla="val 7407"/>
            </a:avLst>
          </a:prstGeom>
          <a:solidFill>
            <a:srgbClr val="F4F7FC"/>
          </a:solidFill>
          <a:ln w="12700">
            <a:solidFill>
              <a:srgbClr val="E2E8F5"/>
            </a:solidFill>
            <a:prstDash val="solid"/>
          </a:ln>
        </p:spPr>
      </p:sp>
      <p:sp>
        <p:nvSpPr>
          <p:cNvPr id="8" name="Text 6"/>
          <p:cNvSpPr/>
          <p:nvPr/>
        </p:nvSpPr>
        <p:spPr>
          <a:xfrm>
            <a:off x="457200" y="3730752"/>
            <a:ext cx="2606040" cy="548640"/>
          </a:xfrm>
          <a:prstGeom prst="rect">
            <a:avLst/>
          </a:prstGeom>
          <a:noFill/>
          <a:ln/>
        </p:spPr>
        <p:txBody>
          <a:bodyPr wrap="square" rtlCol="0" anchor="ctr"/>
          <a:lstStyle/>
          <a:p>
            <a:pPr algn="ctr" indent="0" marL="0">
              <a:buNone/>
            </a:pPr>
            <a:r>
              <a:rPr lang="en-US" sz="2600" b="1" dirty="0">
                <a:solidFill>
                  <a:srgbClr val="3B60E4"/>
                </a:solidFill>
              </a:rPr>
              <a:t>90</a:t>
            </a:r>
            <a:endParaRPr lang="en-US" sz="2600" dirty="0"/>
          </a:p>
        </p:txBody>
      </p:sp>
      <p:sp>
        <p:nvSpPr>
          <p:cNvPr id="9" name="Text 7"/>
          <p:cNvSpPr/>
          <p:nvPr/>
        </p:nvSpPr>
        <p:spPr>
          <a:xfrm>
            <a:off x="457200" y="4279392"/>
            <a:ext cx="2606040" cy="457200"/>
          </a:xfrm>
          <a:prstGeom prst="rect">
            <a:avLst/>
          </a:prstGeom>
          <a:noFill/>
          <a:ln/>
        </p:spPr>
        <p:txBody>
          <a:bodyPr wrap="square" rtlCol="0" anchor="ctr"/>
          <a:lstStyle/>
          <a:p>
            <a:pPr algn="ctr" indent="0" marL="0">
              <a:buNone/>
            </a:pPr>
            <a:r>
              <a:rPr lang="en-US" sz="1100" dirty="0">
                <a:solidFill>
                  <a:srgbClr val="5B6472"/>
                </a:solidFill>
              </a:rPr>
              <a:t>Launches analyzed</a:t>
            </a:r>
            <a:endParaRPr lang="en-US" sz="1100" dirty="0"/>
          </a:p>
        </p:txBody>
      </p:sp>
      <p:sp>
        <p:nvSpPr>
          <p:cNvPr id="10" name="Shape 8"/>
          <p:cNvSpPr/>
          <p:nvPr/>
        </p:nvSpPr>
        <p:spPr>
          <a:xfrm>
            <a:off x="3291840" y="3611880"/>
            <a:ext cx="2606040" cy="1234440"/>
          </a:xfrm>
          <a:prstGeom prst="roundRect">
            <a:avLst>
              <a:gd name="adj" fmla="val 7407"/>
            </a:avLst>
          </a:prstGeom>
          <a:solidFill>
            <a:srgbClr val="F4F7FC"/>
          </a:solidFill>
          <a:ln w="12700">
            <a:solidFill>
              <a:srgbClr val="E2E8F5"/>
            </a:solidFill>
            <a:prstDash val="solid"/>
          </a:ln>
        </p:spPr>
      </p:sp>
      <p:sp>
        <p:nvSpPr>
          <p:cNvPr id="11" name="Text 9"/>
          <p:cNvSpPr/>
          <p:nvPr/>
        </p:nvSpPr>
        <p:spPr>
          <a:xfrm>
            <a:off x="3291840" y="3730752"/>
            <a:ext cx="2606040" cy="548640"/>
          </a:xfrm>
          <a:prstGeom prst="rect">
            <a:avLst/>
          </a:prstGeom>
          <a:noFill/>
          <a:ln/>
        </p:spPr>
        <p:txBody>
          <a:bodyPr wrap="square" rtlCol="0" anchor="ctr"/>
          <a:lstStyle/>
          <a:p>
            <a:pPr algn="ctr" indent="0" marL="0">
              <a:buNone/>
            </a:pPr>
            <a:r>
              <a:rPr lang="en-US" sz="2600" b="1" dirty="0">
                <a:solidFill>
                  <a:srgbClr val="3B60E4"/>
                </a:solidFill>
              </a:rPr>
              <a:t>66.7%</a:t>
            </a:r>
            <a:endParaRPr lang="en-US" sz="2600" dirty="0"/>
          </a:p>
        </p:txBody>
      </p:sp>
      <p:sp>
        <p:nvSpPr>
          <p:cNvPr id="12" name="Text 10"/>
          <p:cNvSpPr/>
          <p:nvPr/>
        </p:nvSpPr>
        <p:spPr>
          <a:xfrm>
            <a:off x="3291840" y="4279392"/>
            <a:ext cx="2606040" cy="457200"/>
          </a:xfrm>
          <a:prstGeom prst="rect">
            <a:avLst/>
          </a:prstGeom>
          <a:noFill/>
          <a:ln/>
        </p:spPr>
        <p:txBody>
          <a:bodyPr wrap="square" rtlCol="0" anchor="ctr"/>
          <a:lstStyle/>
          <a:p>
            <a:pPr algn="ctr" indent="0" marL="0">
              <a:buNone/>
            </a:pPr>
            <a:r>
              <a:rPr lang="en-US" sz="1100" dirty="0">
                <a:solidFill>
                  <a:srgbClr val="5B6472"/>
                </a:solidFill>
              </a:rPr>
              <a:t>Overall landing success</a:t>
            </a:r>
            <a:endParaRPr lang="en-US" sz="1100" dirty="0"/>
          </a:p>
        </p:txBody>
      </p:sp>
      <p:sp>
        <p:nvSpPr>
          <p:cNvPr id="13" name="Shape 11"/>
          <p:cNvSpPr/>
          <p:nvPr/>
        </p:nvSpPr>
        <p:spPr>
          <a:xfrm>
            <a:off x="6126480" y="3611880"/>
            <a:ext cx="2606040" cy="1234440"/>
          </a:xfrm>
          <a:prstGeom prst="roundRect">
            <a:avLst>
              <a:gd name="adj" fmla="val 7407"/>
            </a:avLst>
          </a:prstGeom>
          <a:solidFill>
            <a:srgbClr val="F4F7FC"/>
          </a:solidFill>
          <a:ln w="12700">
            <a:solidFill>
              <a:srgbClr val="E2E8F5"/>
            </a:solidFill>
            <a:prstDash val="solid"/>
          </a:ln>
        </p:spPr>
      </p:sp>
      <p:sp>
        <p:nvSpPr>
          <p:cNvPr id="14" name="Text 12"/>
          <p:cNvSpPr/>
          <p:nvPr/>
        </p:nvSpPr>
        <p:spPr>
          <a:xfrm>
            <a:off x="6126480" y="3730752"/>
            <a:ext cx="2606040" cy="548640"/>
          </a:xfrm>
          <a:prstGeom prst="rect">
            <a:avLst/>
          </a:prstGeom>
          <a:noFill/>
          <a:ln/>
        </p:spPr>
        <p:txBody>
          <a:bodyPr wrap="square" rtlCol="0" anchor="ctr"/>
          <a:lstStyle/>
          <a:p>
            <a:pPr algn="ctr" indent="0" marL="0">
              <a:buNone/>
            </a:pPr>
            <a:r>
              <a:rPr lang="en-US" sz="2600" b="1" dirty="0">
                <a:solidFill>
                  <a:srgbClr val="3B60E4"/>
                </a:solidFill>
              </a:rPr>
              <a:t>83.3%</a:t>
            </a:r>
            <a:endParaRPr lang="en-US" sz="2600" dirty="0"/>
          </a:p>
        </p:txBody>
      </p:sp>
      <p:sp>
        <p:nvSpPr>
          <p:cNvPr id="15" name="Text 13"/>
          <p:cNvSpPr/>
          <p:nvPr/>
        </p:nvSpPr>
        <p:spPr>
          <a:xfrm>
            <a:off x="6126480" y="4279392"/>
            <a:ext cx="2606040" cy="457200"/>
          </a:xfrm>
          <a:prstGeom prst="rect">
            <a:avLst/>
          </a:prstGeom>
          <a:noFill/>
          <a:ln/>
        </p:spPr>
        <p:txBody>
          <a:bodyPr wrap="square" rtlCol="0" anchor="ctr"/>
          <a:lstStyle/>
          <a:p>
            <a:pPr algn="ctr" indent="0" marL="0">
              <a:buNone/>
            </a:pPr>
            <a:r>
              <a:rPr lang="en-US" sz="1100" dirty="0">
                <a:solidFill>
                  <a:srgbClr val="5B6472"/>
                </a:solidFill>
              </a:rPr>
              <a:t>Best model test accuracy</a:t>
            </a:r>
            <a:endParaRPr lang="en-US" sz="1100" dirty="0"/>
          </a:p>
        </p:txBody>
      </p:sp>
      <p:sp>
        <p:nvSpPr>
          <p:cNvPr id="16" name="Shape 14"/>
          <p:cNvSpPr/>
          <p:nvPr/>
        </p:nvSpPr>
        <p:spPr>
          <a:xfrm>
            <a:off x="8961120" y="3611880"/>
            <a:ext cx="2606040" cy="1234440"/>
          </a:xfrm>
          <a:prstGeom prst="roundRect">
            <a:avLst>
              <a:gd name="adj" fmla="val 7407"/>
            </a:avLst>
          </a:prstGeom>
          <a:solidFill>
            <a:srgbClr val="F4F7FC"/>
          </a:solidFill>
          <a:ln w="12700">
            <a:solidFill>
              <a:srgbClr val="E2E8F5"/>
            </a:solidFill>
            <a:prstDash val="solid"/>
          </a:ln>
        </p:spPr>
      </p:sp>
      <p:sp>
        <p:nvSpPr>
          <p:cNvPr id="17" name="Text 15"/>
          <p:cNvSpPr/>
          <p:nvPr/>
        </p:nvSpPr>
        <p:spPr>
          <a:xfrm>
            <a:off x="8961120" y="3730752"/>
            <a:ext cx="2606040" cy="548640"/>
          </a:xfrm>
          <a:prstGeom prst="rect">
            <a:avLst/>
          </a:prstGeom>
          <a:noFill/>
          <a:ln/>
        </p:spPr>
        <p:txBody>
          <a:bodyPr wrap="square" rtlCol="0" anchor="ctr"/>
          <a:lstStyle/>
          <a:p>
            <a:pPr algn="ctr" indent="0" marL="0">
              <a:buNone/>
            </a:pPr>
            <a:r>
              <a:rPr lang="en-US" sz="2600" b="1" dirty="0">
                <a:solidFill>
                  <a:srgbClr val="3B60E4"/>
                </a:solidFill>
              </a:rPr>
              <a:t>4</a:t>
            </a:r>
            <a:endParaRPr lang="en-US" sz="2600" dirty="0"/>
          </a:p>
        </p:txBody>
      </p:sp>
      <p:sp>
        <p:nvSpPr>
          <p:cNvPr id="18" name="Text 16"/>
          <p:cNvSpPr/>
          <p:nvPr/>
        </p:nvSpPr>
        <p:spPr>
          <a:xfrm>
            <a:off x="8961120" y="4279392"/>
            <a:ext cx="2606040" cy="457200"/>
          </a:xfrm>
          <a:prstGeom prst="rect">
            <a:avLst/>
          </a:prstGeom>
          <a:noFill/>
          <a:ln/>
        </p:spPr>
        <p:txBody>
          <a:bodyPr wrap="square" rtlCol="0" anchor="ctr"/>
          <a:lstStyle/>
          <a:p>
            <a:pPr algn="ctr" indent="0" marL="0">
              <a:buNone/>
            </a:pPr>
            <a:r>
              <a:rPr lang="en-US" sz="1100" dirty="0">
                <a:solidFill>
                  <a:srgbClr val="5B6472"/>
                </a:solidFill>
              </a:rPr>
              <a:t>ML models compared</a:t>
            </a:r>
            <a:endParaRPr lang="en-US" sz="1100" dirty="0"/>
          </a:p>
        </p:txBody>
      </p:sp>
      <p:sp>
        <p:nvSpPr>
          <p:cNvPr id="19" name="Text 17"/>
          <p:cNvSpPr/>
          <p:nvPr/>
        </p:nvSpPr>
        <p:spPr>
          <a:xfrm>
            <a:off x="457200" y="4956048"/>
            <a:ext cx="11247120" cy="1371600"/>
          </a:xfrm>
          <a:prstGeom prst="rect">
            <a:avLst/>
          </a:prstGeom>
          <a:noFill/>
          <a:ln/>
        </p:spPr>
        <p:txBody>
          <a:bodyPr wrap="square" rtlCol="0" anchor="ctr"/>
          <a:lstStyle/>
          <a:p>
            <a:pPr indent="0" marL="0">
              <a:lnSpc>
                <a:spcPts val="1400"/>
              </a:lnSpc>
              <a:buNone/>
            </a:pPr>
            <a:r>
              <a:rPr lang="en-US" sz="1050" dirty="0">
                <a:solidFill>
                  <a:srgbClr val="0B1F3A"/>
                </a:solidFill>
              </a:rPr>
              <a:t>Executive summary of every completed section: Introduction — SpaceX bids $62M against $165M because it reuses the first stage. Data Collection — 90 launch records from the SpaceX API, cross-checked by scraping Wikipedia. Data Wrangling Methodology — PayloadMass mean-imputed at 5.6% missing and the free-text Outcome engineered into a binary Class, giving 60 landings and 30 failures. EDA with Data Visualization — six charts showing GTO lands least reliably and success rising from 0% in 2013 to near 100% by 2020. EDA with SQL — nine queries returning 4 launch sites, 45,596 kg for NASA CRS and the first ground-pad landing on 1 May 2017. Folium Map — 56 launch records mapped, 7.43 km to coastline and 0.69 km to rail. Plotly Dash — site dropdown, success-rate pie chart and payload scatter. Predictive Analysis — four classifiers at up to 83.3% test accuracy with a 12/3/3/0 confusion matrix. Conclusion — Logistic Regression selected for interpretability.</a:t>
            </a:r>
            <a:endParaRPr lang="en-US" sz="1050" dirty="0"/>
          </a:p>
        </p:txBody>
      </p:sp>
      <p:sp>
        <p:nvSpPr>
          <p:cNvPr id="20" name="Text 18"/>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92608"/>
            <a:ext cx="7315200" cy="274320"/>
          </a:xfrm>
          <a:prstGeom prst="rect">
            <a:avLst/>
          </a:prstGeom>
          <a:noFill/>
          <a:ln/>
        </p:spPr>
        <p:txBody>
          <a:bodyPr wrap="square" rtlCol="0" anchor="ctr"/>
          <a:lstStyle/>
          <a:p>
            <a:pPr indent="0" marL="0">
              <a:buNone/>
            </a:pPr>
            <a:r>
              <a:rPr lang="en-US" sz="1200" b="1" spc="200" kern="0" dirty="0">
                <a:solidFill>
                  <a:srgbClr val="3B60E4"/>
                </a:solidFill>
              </a:rPr>
              <a:t>BACKGROUND</a:t>
            </a:r>
            <a:endParaRPr lang="en-US" sz="120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600" b="1" dirty="0">
                <a:solidFill>
                  <a:srgbClr val="0B1F3A"/>
                </a:solidFill>
              </a:rPr>
              <a:t>Introduction</a:t>
            </a:r>
            <a:endParaRPr lang="en-US" sz="2600" dirty="0"/>
          </a:p>
        </p:txBody>
      </p:sp>
      <p:sp>
        <p:nvSpPr>
          <p:cNvPr id="4" name="Text 2"/>
          <p:cNvSpPr/>
          <p:nvPr/>
        </p:nvSpPr>
        <p:spPr>
          <a:xfrm>
            <a:off x="457200" y="1463040"/>
            <a:ext cx="6766560" cy="3017520"/>
          </a:xfrm>
          <a:prstGeom prst="rect">
            <a:avLst/>
          </a:prstGeom>
          <a:noFill/>
          <a:ln/>
        </p:spPr>
        <p:txBody>
          <a:bodyPr wrap="square" rtlCol="0" anchor="ctr"/>
          <a:lstStyle/>
          <a:p>
            <a:pPr indent="0" marL="0">
              <a:lnSpc>
                <a:spcPts val="2100"/>
              </a:lnSpc>
              <a:buNone/>
            </a:pPr>
            <a:r>
              <a:rPr lang="en-US" sz="1350" b="1" dirty="0">
                <a:solidFill>
                  <a:srgbClr val="0B1F3A"/>
                </a:solidFill>
              </a:rPr>
              <a:t>Introduction — background: </a:t>
            </a:r>
            <a:pPr indent="0" marL="0">
              <a:lnSpc>
                <a:spcPts val="2100"/>
              </a:lnSpc>
              <a:buNone/>
            </a:pPr>
            <a:r>
              <a:rPr lang="en-US" sz="1350" dirty="0">
                <a:solidFill>
                  <a:srgbClr val="5B6472"/>
                </a:solidFill>
              </a:rPr>
              <a:t>SpaceX advertises Falcon 9 launches at $62 million, versus $165 million or more from other providers — largely because SpaceX recovers and reuses the rocket's first stage instead of discarding it after every flight.
</a:t>
            </a:r>
            <a:pPr indent="0" marL="0">
              <a:lnSpc>
                <a:spcPts val="2100"/>
              </a:lnSpc>
              <a:buNone/>
            </a:pPr>
            <a:r>
              <a:rPr lang="en-US" sz="1350" b="1" dirty="0">
                <a:solidFill>
                  <a:srgbClr val="0B1F3A"/>
                </a:solidFill>
              </a:rPr>
              <a:t>Problem statement: </a:t>
            </a:r>
            <a:pPr indent="0" marL="0">
              <a:lnSpc>
                <a:spcPts val="2100"/>
              </a:lnSpc>
              <a:buNone/>
            </a:pPr>
            <a:r>
              <a:rPr lang="en-US" sz="1350" dirty="0">
                <a:solidFill>
                  <a:srgbClr val="5B6472"/>
                </a:solidFill>
              </a:rPr>
              <a:t>If the first stage does not land successfully, that launch's true cost changes substantially. Acting as a data scientist for a startup competing with SpaceX, this project predicts from public launch parameters whether the first stage will land, so a competing bid can be costed accurately.
</a:t>
            </a:r>
            <a:pPr indent="0" marL="0">
              <a:lnSpc>
                <a:spcPts val="2100"/>
              </a:lnSpc>
              <a:buNone/>
            </a:pPr>
            <a:r>
              <a:rPr lang="en-US" sz="1350" b="1" dirty="0">
                <a:solidFill>
                  <a:srgbClr val="0B1F3A"/>
                </a:solidFill>
              </a:rPr>
              <a:t>Objectives:</a:t>
            </a:r>
            <a:endParaRPr lang="en-US" sz="1350" dirty="0"/>
          </a:p>
        </p:txBody>
      </p:sp>
      <p:sp>
        <p:nvSpPr>
          <p:cNvPr id="5" name="Text 3"/>
          <p:cNvSpPr/>
          <p:nvPr/>
        </p:nvSpPr>
        <p:spPr>
          <a:xfrm>
            <a:off x="731520" y="4526280"/>
            <a:ext cx="6492240" cy="347472"/>
          </a:xfrm>
          <a:prstGeom prst="rect">
            <a:avLst/>
          </a:prstGeom>
          <a:noFill/>
          <a:ln/>
        </p:spPr>
        <p:txBody>
          <a:bodyPr wrap="square" rtlCol="0" anchor="ctr"/>
          <a:lstStyle/>
          <a:p>
            <a:pPr marL="342900" indent="-342900">
              <a:buSzPct val="100000"/>
              <a:buChar char="•"/>
            </a:pPr>
            <a:r>
              <a:rPr lang="en-US" sz="1250" dirty="0">
                <a:solidFill>
                  <a:srgbClr val="0B1F3A"/>
                </a:solidFill>
              </a:rPr>
              <a:t>Collect and clean historical Falcon 9 launch data from the SpaceX API and Wikipedia</a:t>
            </a:r>
            <a:endParaRPr lang="en-US" sz="1250" dirty="0"/>
          </a:p>
        </p:txBody>
      </p:sp>
      <p:sp>
        <p:nvSpPr>
          <p:cNvPr id="6" name="Text 4"/>
          <p:cNvSpPr/>
          <p:nvPr/>
        </p:nvSpPr>
        <p:spPr>
          <a:xfrm>
            <a:off x="731520" y="4892040"/>
            <a:ext cx="6492240" cy="347472"/>
          </a:xfrm>
          <a:prstGeom prst="rect">
            <a:avLst/>
          </a:prstGeom>
          <a:noFill/>
          <a:ln/>
        </p:spPr>
        <p:txBody>
          <a:bodyPr wrap="square" rtlCol="0" anchor="ctr"/>
          <a:lstStyle/>
          <a:p>
            <a:pPr marL="342900" indent="-342900">
              <a:buSzPct val="100000"/>
              <a:buChar char="•"/>
            </a:pPr>
            <a:r>
              <a:rPr lang="en-US" sz="1250" dirty="0">
                <a:solidFill>
                  <a:srgbClr val="0B1F3A"/>
                </a:solidFill>
              </a:rPr>
              <a:t>Identify which launch parameters correlate with landing success</a:t>
            </a:r>
            <a:endParaRPr lang="en-US" sz="1250" dirty="0"/>
          </a:p>
        </p:txBody>
      </p:sp>
      <p:sp>
        <p:nvSpPr>
          <p:cNvPr id="7" name="Text 5"/>
          <p:cNvSpPr/>
          <p:nvPr/>
        </p:nvSpPr>
        <p:spPr>
          <a:xfrm>
            <a:off x="731520" y="5257800"/>
            <a:ext cx="6492240" cy="347472"/>
          </a:xfrm>
          <a:prstGeom prst="rect">
            <a:avLst/>
          </a:prstGeom>
          <a:noFill/>
          <a:ln/>
        </p:spPr>
        <p:txBody>
          <a:bodyPr wrap="square" rtlCol="0" anchor="ctr"/>
          <a:lstStyle/>
          <a:p>
            <a:pPr marL="342900" indent="-342900">
              <a:buSzPct val="100000"/>
              <a:buChar char="•"/>
            </a:pPr>
            <a:r>
              <a:rPr lang="en-US" sz="1250" dirty="0">
                <a:solidFill>
                  <a:srgbClr val="0B1F3A"/>
                </a:solidFill>
              </a:rPr>
              <a:t>Visualize patterns across launch sites, orbits, payload mass and time</a:t>
            </a:r>
            <a:endParaRPr lang="en-US" sz="1250" dirty="0"/>
          </a:p>
        </p:txBody>
      </p:sp>
      <p:sp>
        <p:nvSpPr>
          <p:cNvPr id="8" name="Text 6"/>
          <p:cNvSpPr/>
          <p:nvPr/>
        </p:nvSpPr>
        <p:spPr>
          <a:xfrm>
            <a:off x="731520" y="5623560"/>
            <a:ext cx="6492240" cy="347472"/>
          </a:xfrm>
          <a:prstGeom prst="rect">
            <a:avLst/>
          </a:prstGeom>
          <a:noFill/>
          <a:ln/>
        </p:spPr>
        <p:txBody>
          <a:bodyPr wrap="square" rtlCol="0" anchor="ctr"/>
          <a:lstStyle/>
          <a:p>
            <a:pPr marL="342900" indent="-342900">
              <a:buSzPct val="100000"/>
              <a:buChar char="•"/>
            </a:pPr>
            <a:r>
              <a:rPr lang="en-US" sz="1250" dirty="0">
                <a:solidFill>
                  <a:srgbClr val="0B1F3A"/>
                </a:solidFill>
              </a:rPr>
              <a:t>Build, tune and evaluate a landing-outcome classifier</a:t>
            </a:r>
            <a:endParaRPr lang="en-US" sz="1250" dirty="0"/>
          </a:p>
        </p:txBody>
      </p:sp>
      <p:pic>
        <p:nvPicPr>
          <p:cNvPr id="9" name="Image 0" descr="C:\Users\USER\Documents\Coursera\repo\images\eda_yearly_trend.png">    </p:cNvPr>
          <p:cNvPicPr>
            <a:picLocks noChangeAspect="1"/>
          </p:cNvPicPr>
          <p:nvPr/>
        </p:nvPicPr>
        <p:blipFill>
          <a:blip r:embed="rId1"/>
          <a:stretch>
            <a:fillRect/>
          </a:stretch>
        </p:blipFill>
        <p:spPr>
          <a:xfrm>
            <a:off x="7498080" y="1463040"/>
            <a:ext cx="4206240" cy="2788920"/>
          </a:xfrm>
          <a:prstGeom prst="rect">
            <a:avLst/>
          </a:prstGeom>
        </p:spPr>
      </p:pic>
      <p:sp>
        <p:nvSpPr>
          <p:cNvPr id="10" name="Text 7"/>
          <p:cNvSpPr/>
          <p:nvPr/>
        </p:nvSpPr>
        <p:spPr>
          <a:xfrm>
            <a:off x="7498080" y="4389120"/>
            <a:ext cx="4206240" cy="1371600"/>
          </a:xfrm>
          <a:prstGeom prst="rect">
            <a:avLst/>
          </a:prstGeom>
          <a:noFill/>
          <a:ln/>
        </p:spPr>
        <p:txBody>
          <a:bodyPr wrap="square" rtlCol="0" anchor="ctr"/>
          <a:lstStyle/>
          <a:p>
            <a:pPr indent="0" marL="0">
              <a:lnSpc>
                <a:spcPts val="1700"/>
              </a:lnSpc>
              <a:buNone/>
            </a:pPr>
            <a:r>
              <a:rPr lang="en-US" sz="1150" i="1" dirty="0">
                <a:solidFill>
                  <a:srgbClr val="5B6472"/>
                </a:solidFill>
              </a:rPr>
              <a:t>Falcon 9 landing success climbed from roughly 0% across 2010–2013 to close to 100% by 2019–2020 as SpaceX matured its recovery process, which is what makes the outcome predictable at all.</a:t>
            </a:r>
            <a:endParaRPr lang="en-US" sz="1150" dirty="0"/>
          </a:p>
        </p:txBody>
      </p:sp>
      <p:sp>
        <p:nvSpPr>
          <p:cNvPr id="11" name="Text 8"/>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92608"/>
            <a:ext cx="7315200" cy="274320"/>
          </a:xfrm>
          <a:prstGeom prst="rect">
            <a:avLst/>
          </a:prstGeom>
          <a:noFill/>
          <a:ln/>
        </p:spPr>
        <p:txBody>
          <a:bodyPr wrap="square" rtlCol="0" anchor="ctr"/>
          <a:lstStyle/>
          <a:p>
            <a:pPr indent="0" marL="0">
              <a:buNone/>
            </a:pPr>
            <a:r>
              <a:rPr lang="en-US" sz="1200" b="1" spc="200" kern="0" dirty="0">
                <a:solidFill>
                  <a:srgbClr val="3B60E4"/>
                </a:solidFill>
              </a:rPr>
              <a:t>DATA COLLECTION · PART 1</a:t>
            </a:r>
            <a:endParaRPr lang="en-US" sz="120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600" b="1" dirty="0">
                <a:solidFill>
                  <a:srgbClr val="0B1F3A"/>
                </a:solidFill>
              </a:rPr>
              <a:t>Data Collection – SpaceX API</a:t>
            </a:r>
            <a:endParaRPr lang="en-US" sz="2600" dirty="0"/>
          </a:p>
        </p:txBody>
      </p:sp>
      <p:sp>
        <p:nvSpPr>
          <p:cNvPr id="4" name="Text 2"/>
          <p:cNvSpPr/>
          <p:nvPr/>
        </p:nvSpPr>
        <p:spPr>
          <a:xfrm>
            <a:off x="457200" y="1417320"/>
            <a:ext cx="5394960" cy="292608"/>
          </a:xfrm>
          <a:prstGeom prst="rect">
            <a:avLst/>
          </a:prstGeom>
          <a:noFill/>
          <a:ln/>
        </p:spPr>
        <p:txBody>
          <a:bodyPr wrap="square" rtlCol="0" anchor="ctr"/>
          <a:lstStyle/>
          <a:p>
            <a:pPr indent="0" marL="0">
              <a:buNone/>
            </a:pPr>
            <a:r>
              <a:rPr lang="en-US" sz="1350" b="1" dirty="0">
                <a:solidFill>
                  <a:srgbClr val="0B1F3A"/>
                </a:solidFill>
              </a:rPr>
              <a:t>Pipeline:</a:t>
            </a:r>
            <a:endParaRPr lang="en-US" sz="1350" dirty="0"/>
          </a:p>
        </p:txBody>
      </p:sp>
      <p:sp>
        <p:nvSpPr>
          <p:cNvPr id="5" name="Shape 3"/>
          <p:cNvSpPr/>
          <p:nvPr/>
        </p:nvSpPr>
        <p:spPr>
          <a:xfrm>
            <a:off x="457200" y="1810512"/>
            <a:ext cx="411480" cy="411480"/>
          </a:xfrm>
          <a:prstGeom prst="roundRect">
            <a:avLst>
              <a:gd name="adj" fmla="val 111111"/>
            </a:avLst>
          </a:prstGeom>
          <a:solidFill>
            <a:srgbClr val="3B60E4"/>
          </a:solidFill>
          <a:ln/>
        </p:spPr>
      </p:sp>
      <p:sp>
        <p:nvSpPr>
          <p:cNvPr id="6" name="Text 4"/>
          <p:cNvSpPr/>
          <p:nvPr/>
        </p:nvSpPr>
        <p:spPr>
          <a:xfrm>
            <a:off x="457200" y="1810512"/>
            <a:ext cx="411480" cy="411480"/>
          </a:xfrm>
          <a:prstGeom prst="rect">
            <a:avLst/>
          </a:prstGeom>
          <a:noFill/>
          <a:ln/>
        </p:spPr>
        <p:txBody>
          <a:bodyPr wrap="square" rtlCol="0" anchor="ctr"/>
          <a:lstStyle/>
          <a:p>
            <a:pPr algn="ctr" indent="0" marL="0">
              <a:buNone/>
            </a:pPr>
            <a:r>
              <a:rPr lang="en-US" sz="1400" b="1" dirty="0">
                <a:solidFill>
                  <a:srgbClr val="FFFFFF"/>
                </a:solidFill>
              </a:rPr>
              <a:t>1</a:t>
            </a:r>
            <a:endParaRPr lang="en-US" sz="1400" dirty="0"/>
          </a:p>
        </p:txBody>
      </p:sp>
      <p:sp>
        <p:nvSpPr>
          <p:cNvPr id="7" name="Text 5"/>
          <p:cNvSpPr/>
          <p:nvPr/>
        </p:nvSpPr>
        <p:spPr>
          <a:xfrm>
            <a:off x="1005840" y="1810512"/>
            <a:ext cx="4846320" cy="640080"/>
          </a:xfrm>
          <a:prstGeom prst="rect">
            <a:avLst/>
          </a:prstGeom>
          <a:noFill/>
          <a:ln/>
        </p:spPr>
        <p:txBody>
          <a:bodyPr wrap="square" rtlCol="0" anchor="ctr"/>
          <a:lstStyle/>
          <a:p>
            <a:pPr indent="0" marL="0">
              <a:buNone/>
            </a:pPr>
            <a:r>
              <a:rPr lang="en-US" sz="1250" dirty="0">
                <a:solidFill>
                  <a:srgbClr val="5B6472"/>
                </a:solidFill>
              </a:rPr>
              <a:t>GET /v4/launches/past → all historical launches</a:t>
            </a:r>
            <a:endParaRPr lang="en-US" sz="1250" dirty="0"/>
          </a:p>
        </p:txBody>
      </p:sp>
      <p:sp>
        <p:nvSpPr>
          <p:cNvPr id="8" name="Shape 6"/>
          <p:cNvSpPr/>
          <p:nvPr/>
        </p:nvSpPr>
        <p:spPr>
          <a:xfrm>
            <a:off x="457200" y="2523744"/>
            <a:ext cx="411480" cy="411480"/>
          </a:xfrm>
          <a:prstGeom prst="roundRect">
            <a:avLst>
              <a:gd name="adj" fmla="val 111111"/>
            </a:avLst>
          </a:prstGeom>
          <a:solidFill>
            <a:srgbClr val="3B60E4"/>
          </a:solidFill>
          <a:ln/>
        </p:spPr>
      </p:sp>
      <p:sp>
        <p:nvSpPr>
          <p:cNvPr id="9" name="Text 7"/>
          <p:cNvSpPr/>
          <p:nvPr/>
        </p:nvSpPr>
        <p:spPr>
          <a:xfrm>
            <a:off x="457200" y="2523744"/>
            <a:ext cx="411480" cy="411480"/>
          </a:xfrm>
          <a:prstGeom prst="rect">
            <a:avLst/>
          </a:prstGeom>
          <a:noFill/>
          <a:ln/>
        </p:spPr>
        <p:txBody>
          <a:bodyPr wrap="square" rtlCol="0" anchor="ctr"/>
          <a:lstStyle/>
          <a:p>
            <a:pPr algn="ctr" indent="0" marL="0">
              <a:buNone/>
            </a:pPr>
            <a:r>
              <a:rPr lang="en-US" sz="1400" b="1" dirty="0">
                <a:solidFill>
                  <a:srgbClr val="FFFFFF"/>
                </a:solidFill>
              </a:rPr>
              <a:t>2</a:t>
            </a:r>
            <a:endParaRPr lang="en-US" sz="1400" dirty="0"/>
          </a:p>
        </p:txBody>
      </p:sp>
      <p:sp>
        <p:nvSpPr>
          <p:cNvPr id="10" name="Text 8"/>
          <p:cNvSpPr/>
          <p:nvPr/>
        </p:nvSpPr>
        <p:spPr>
          <a:xfrm>
            <a:off x="1005840" y="2523744"/>
            <a:ext cx="4846320" cy="640080"/>
          </a:xfrm>
          <a:prstGeom prst="rect">
            <a:avLst/>
          </a:prstGeom>
          <a:noFill/>
          <a:ln/>
        </p:spPr>
        <p:txBody>
          <a:bodyPr wrap="square" rtlCol="0" anchor="ctr"/>
          <a:lstStyle/>
          <a:p>
            <a:pPr indent="0" marL="0">
              <a:buNone/>
            </a:pPr>
            <a:r>
              <a:rPr lang="en-US" sz="1250" dirty="0">
                <a:solidFill>
                  <a:srgbClr val="5B6472"/>
                </a:solidFill>
              </a:rPr>
              <a:t>Filter to single-core, single-payload Falcon 9 flights</a:t>
            </a:r>
            <a:endParaRPr lang="en-US" sz="1250" dirty="0"/>
          </a:p>
        </p:txBody>
      </p:sp>
      <p:sp>
        <p:nvSpPr>
          <p:cNvPr id="11" name="Shape 9"/>
          <p:cNvSpPr/>
          <p:nvPr/>
        </p:nvSpPr>
        <p:spPr>
          <a:xfrm>
            <a:off x="457200" y="3236976"/>
            <a:ext cx="411480" cy="411480"/>
          </a:xfrm>
          <a:prstGeom prst="roundRect">
            <a:avLst>
              <a:gd name="adj" fmla="val 111111"/>
            </a:avLst>
          </a:prstGeom>
          <a:solidFill>
            <a:srgbClr val="3B60E4"/>
          </a:solidFill>
          <a:ln/>
        </p:spPr>
      </p:sp>
      <p:sp>
        <p:nvSpPr>
          <p:cNvPr id="12" name="Text 10"/>
          <p:cNvSpPr/>
          <p:nvPr/>
        </p:nvSpPr>
        <p:spPr>
          <a:xfrm>
            <a:off x="457200" y="3236976"/>
            <a:ext cx="411480" cy="411480"/>
          </a:xfrm>
          <a:prstGeom prst="rect">
            <a:avLst/>
          </a:prstGeom>
          <a:noFill/>
          <a:ln/>
        </p:spPr>
        <p:txBody>
          <a:bodyPr wrap="square" rtlCol="0" anchor="ctr"/>
          <a:lstStyle/>
          <a:p>
            <a:pPr algn="ctr" indent="0" marL="0">
              <a:buNone/>
            </a:pPr>
            <a:r>
              <a:rPr lang="en-US" sz="1400" b="1" dirty="0">
                <a:solidFill>
                  <a:srgbClr val="FFFFFF"/>
                </a:solidFill>
              </a:rPr>
              <a:t>3</a:t>
            </a:r>
            <a:endParaRPr lang="en-US" sz="1400" dirty="0"/>
          </a:p>
        </p:txBody>
      </p:sp>
      <p:sp>
        <p:nvSpPr>
          <p:cNvPr id="13" name="Text 11"/>
          <p:cNvSpPr/>
          <p:nvPr/>
        </p:nvSpPr>
        <p:spPr>
          <a:xfrm>
            <a:off x="1005840" y="3236976"/>
            <a:ext cx="4846320" cy="640080"/>
          </a:xfrm>
          <a:prstGeom prst="rect">
            <a:avLst/>
          </a:prstGeom>
          <a:noFill/>
          <a:ln/>
        </p:spPr>
        <p:txBody>
          <a:bodyPr wrap="square" rtlCol="0" anchor="ctr"/>
          <a:lstStyle/>
          <a:p>
            <a:pPr indent="0" marL="0">
              <a:buNone/>
            </a:pPr>
            <a:r>
              <a:rPr lang="en-US" sz="1250" dirty="0">
                <a:solidFill>
                  <a:srgbClr val="5B6472"/>
                </a:solidFill>
              </a:rPr>
              <a:t>Call /rockets, /launchpads, /payloads and /cores per launch</a:t>
            </a:r>
            <a:endParaRPr lang="en-US" sz="1250" dirty="0"/>
          </a:p>
        </p:txBody>
      </p:sp>
      <p:sp>
        <p:nvSpPr>
          <p:cNvPr id="14" name="Shape 12"/>
          <p:cNvSpPr/>
          <p:nvPr/>
        </p:nvSpPr>
        <p:spPr>
          <a:xfrm>
            <a:off x="457200" y="3950208"/>
            <a:ext cx="411480" cy="411480"/>
          </a:xfrm>
          <a:prstGeom prst="roundRect">
            <a:avLst>
              <a:gd name="adj" fmla="val 111111"/>
            </a:avLst>
          </a:prstGeom>
          <a:solidFill>
            <a:srgbClr val="3B60E4"/>
          </a:solidFill>
          <a:ln/>
        </p:spPr>
      </p:sp>
      <p:sp>
        <p:nvSpPr>
          <p:cNvPr id="15" name="Text 13"/>
          <p:cNvSpPr/>
          <p:nvPr/>
        </p:nvSpPr>
        <p:spPr>
          <a:xfrm>
            <a:off x="457200" y="3950208"/>
            <a:ext cx="411480" cy="411480"/>
          </a:xfrm>
          <a:prstGeom prst="rect">
            <a:avLst/>
          </a:prstGeom>
          <a:noFill/>
          <a:ln/>
        </p:spPr>
        <p:txBody>
          <a:bodyPr wrap="square" rtlCol="0" anchor="ctr"/>
          <a:lstStyle/>
          <a:p>
            <a:pPr algn="ctr" indent="0" marL="0">
              <a:buNone/>
            </a:pPr>
            <a:r>
              <a:rPr lang="en-US" sz="1400" b="1" dirty="0">
                <a:solidFill>
                  <a:srgbClr val="FFFFFF"/>
                </a:solidFill>
              </a:rPr>
              <a:t>4</a:t>
            </a:r>
            <a:endParaRPr lang="en-US" sz="1400" dirty="0"/>
          </a:p>
        </p:txBody>
      </p:sp>
      <p:sp>
        <p:nvSpPr>
          <p:cNvPr id="16" name="Text 14"/>
          <p:cNvSpPr/>
          <p:nvPr/>
        </p:nvSpPr>
        <p:spPr>
          <a:xfrm>
            <a:off x="1005840" y="3950208"/>
            <a:ext cx="4846320" cy="640080"/>
          </a:xfrm>
          <a:prstGeom prst="rect">
            <a:avLst/>
          </a:prstGeom>
          <a:noFill/>
          <a:ln/>
        </p:spPr>
        <p:txBody>
          <a:bodyPr wrap="square" rtlCol="0" anchor="ctr"/>
          <a:lstStyle/>
          <a:p>
            <a:pPr indent="0" marL="0">
              <a:buNone/>
            </a:pPr>
            <a:r>
              <a:rPr lang="en-US" sz="1250" dirty="0">
                <a:solidFill>
                  <a:srgbClr val="5B6472"/>
                </a:solidFill>
              </a:rPr>
              <a:t>Assemble one row per launch: booster, orbit, site, outcome, mass</a:t>
            </a:r>
            <a:endParaRPr lang="en-US" sz="1250" dirty="0"/>
          </a:p>
        </p:txBody>
      </p:sp>
      <p:sp>
        <p:nvSpPr>
          <p:cNvPr id="17" name="Shape 15"/>
          <p:cNvSpPr/>
          <p:nvPr/>
        </p:nvSpPr>
        <p:spPr>
          <a:xfrm>
            <a:off x="6309360" y="1417320"/>
            <a:ext cx="5394960" cy="3931920"/>
          </a:xfrm>
          <a:prstGeom prst="roundRect">
            <a:avLst>
              <a:gd name="adj" fmla="val 1860"/>
            </a:avLst>
          </a:prstGeom>
          <a:solidFill>
            <a:srgbClr val="F4F7FC"/>
          </a:solidFill>
          <a:ln w="12700">
            <a:solidFill>
              <a:srgbClr val="E2E8F5"/>
            </a:solidFill>
            <a:prstDash val="solid"/>
          </a:ln>
        </p:spPr>
      </p:sp>
      <p:sp>
        <p:nvSpPr>
          <p:cNvPr id="18" name="Text 16"/>
          <p:cNvSpPr/>
          <p:nvPr/>
        </p:nvSpPr>
        <p:spPr>
          <a:xfrm>
            <a:off x="6537960" y="1600200"/>
            <a:ext cx="4937760" cy="320040"/>
          </a:xfrm>
          <a:prstGeom prst="rect">
            <a:avLst/>
          </a:prstGeom>
          <a:noFill/>
          <a:ln/>
        </p:spPr>
        <p:txBody>
          <a:bodyPr wrap="square" rtlCol="0" anchor="ctr"/>
          <a:lstStyle/>
          <a:p>
            <a:pPr indent="0" marL="0">
              <a:buNone/>
            </a:pPr>
            <a:r>
              <a:rPr lang="en-US" sz="1200" b="1" dirty="0">
                <a:solidFill>
                  <a:srgbClr val="3B60E4"/>
                </a:solidFill>
                <a:latin typeface="Courier New" pitchFamily="34" charset="0"/>
                <a:ea typeface="Courier New" pitchFamily="34" charset="-122"/>
                <a:cs typeface="Courier New" pitchFamily="34" charset="-120"/>
              </a:rPr>
              <a:t>api.spacexdata.com/v4/launches/past</a:t>
            </a:r>
            <a:endParaRPr lang="en-US" sz="1200" dirty="0"/>
          </a:p>
        </p:txBody>
      </p:sp>
      <p:sp>
        <p:nvSpPr>
          <p:cNvPr id="19" name="Text 17"/>
          <p:cNvSpPr/>
          <p:nvPr/>
        </p:nvSpPr>
        <p:spPr>
          <a:xfrm>
            <a:off x="6537960" y="2057400"/>
            <a:ext cx="4937760" cy="1920240"/>
          </a:xfrm>
          <a:prstGeom prst="rect">
            <a:avLst/>
          </a:prstGeom>
          <a:noFill/>
          <a:ln/>
        </p:spPr>
        <p:txBody>
          <a:bodyPr wrap="square" rtlCol="0" anchor="ctr"/>
          <a:lstStyle/>
          <a:p>
            <a:pPr indent="0" marL="0">
              <a:lnSpc>
                <a:spcPts val="1900"/>
              </a:lnSpc>
              <a:buNone/>
            </a:pPr>
            <a:r>
              <a:rPr lang="en-US" sz="1250" dirty="0">
                <a:solidFill>
                  <a:srgbClr val="0B1F3A"/>
                </a:solidFill>
              </a:rPr>
              <a:t>Result: 90 clean Falcon 9 launch records spanning 2010 to November 2020, one row per launch, each carrying booster version, payload mass, orbit, launch site with coordinates, flight count, grid fins, reused flag, legs, landing pad, booster block and serial, and landing outcome.</a:t>
            </a:r>
            <a:endParaRPr lang="en-US" sz="1250" dirty="0"/>
          </a:p>
        </p:txBody>
      </p:sp>
      <p:sp>
        <p:nvSpPr>
          <p:cNvPr id="20" name="Text 18"/>
          <p:cNvSpPr/>
          <p:nvPr/>
        </p:nvSpPr>
        <p:spPr>
          <a:xfrm>
            <a:off x="6537960" y="4297680"/>
            <a:ext cx="4937760" cy="822960"/>
          </a:xfrm>
          <a:prstGeom prst="rect">
            <a:avLst/>
          </a:prstGeom>
          <a:noFill/>
          <a:ln/>
        </p:spPr>
        <p:txBody>
          <a:bodyPr wrap="square" rtlCol="0" anchor="ctr"/>
          <a:lstStyle/>
          <a:p>
            <a:pPr indent="0" marL="0">
              <a:buNone/>
            </a:pPr>
            <a:r>
              <a:rPr lang="en-US" sz="1100" i="1" dirty="0">
                <a:solidFill>
                  <a:srgbClr val="5B6472"/>
                </a:solidFill>
              </a:rPr>
              <a:t>Falcon 1 launches were excluded — this project addresses only the Falcon 9 landing-prediction problem.</a:t>
            </a:r>
            <a:endParaRPr lang="en-US" sz="1100" dirty="0"/>
          </a:p>
        </p:txBody>
      </p:sp>
      <p:sp>
        <p:nvSpPr>
          <p:cNvPr id="21" name="Text 19"/>
          <p:cNvSpPr/>
          <p:nvPr/>
        </p:nvSpPr>
        <p:spPr>
          <a:xfrm>
            <a:off x="457200" y="6355080"/>
            <a:ext cx="11247120" cy="365760"/>
          </a:xfrm>
          <a:prstGeom prst="rect">
            <a:avLst/>
          </a:prstGeom>
          <a:noFill/>
          <a:ln/>
        </p:spPr>
        <p:txBody>
          <a:bodyPr wrap="square" rtlCol="0" anchor="ctr"/>
          <a:lstStyle/>
          <a:p>
            <a:pPr indent="0" marL="0">
              <a:lnSpc>
                <a:spcPts val="1200"/>
              </a:lnSpc>
              <a:buNone/>
            </a:pPr>
            <a:r>
              <a:rPr lang="en-US" sz="950" dirty="0">
                <a:solidFill>
                  <a:srgbClr val="0B1F3A"/>
                </a:solidFill>
              </a:rPr>
              <a:t>Completed Data Collection (SpaceX API) slide: 90 Falcon 9 records from /v4/launches/past — GitHub repository: </a:t>
            </a:r>
            <a:pPr indent="0" marL="0">
              <a:lnSpc>
                <a:spcPts val="1200"/>
              </a:lnSpc>
              <a:buNone/>
            </a:pPr>
            <a:r>
              <a:rPr lang="en-US" sz="950" u="sng" dirty="0">
                <a:solidFill>
                  <a:srgbClr val="3B60E4"/>
                </a:solidFill>
                <a:hlinkClick r:id="rId1"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https://github.com/razerblade09/spacex-falcon9-capstone/blob/main/notebooks/01_data_collection_api.py</a:t>
            </a:r>
            <a:endParaRPr lang="en-US" sz="950" dirty="0"/>
          </a:p>
        </p:txBody>
      </p:sp>
      <p:sp>
        <p:nvSpPr>
          <p:cNvPr id="22" name="Text 20"/>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92608"/>
            <a:ext cx="7315200" cy="274320"/>
          </a:xfrm>
          <a:prstGeom prst="rect">
            <a:avLst/>
          </a:prstGeom>
          <a:noFill/>
          <a:ln/>
        </p:spPr>
        <p:txBody>
          <a:bodyPr wrap="square" rtlCol="0" anchor="ctr"/>
          <a:lstStyle/>
          <a:p>
            <a:pPr indent="0" marL="0">
              <a:buNone/>
            </a:pPr>
            <a:r>
              <a:rPr lang="en-US" sz="1200" b="1" spc="200" kern="0" dirty="0">
                <a:solidFill>
                  <a:srgbClr val="3B60E4"/>
                </a:solidFill>
              </a:rPr>
              <a:t>DATA COLLECTION · PART 2</a:t>
            </a:r>
            <a:endParaRPr lang="en-US" sz="120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600" b="1" dirty="0">
                <a:solidFill>
                  <a:srgbClr val="0B1F3A"/>
                </a:solidFill>
              </a:rPr>
              <a:t>Data Collection – Web Scraping</a:t>
            </a:r>
            <a:endParaRPr lang="en-US" sz="2600" dirty="0"/>
          </a:p>
        </p:txBody>
      </p:sp>
      <p:sp>
        <p:nvSpPr>
          <p:cNvPr id="4" name="Text 2"/>
          <p:cNvSpPr/>
          <p:nvPr/>
        </p:nvSpPr>
        <p:spPr>
          <a:xfrm>
            <a:off x="457200" y="1417320"/>
            <a:ext cx="5394960" cy="292608"/>
          </a:xfrm>
          <a:prstGeom prst="rect">
            <a:avLst/>
          </a:prstGeom>
          <a:noFill/>
          <a:ln/>
        </p:spPr>
        <p:txBody>
          <a:bodyPr wrap="square" rtlCol="0" anchor="ctr"/>
          <a:lstStyle/>
          <a:p>
            <a:pPr indent="0" marL="0">
              <a:buNone/>
            </a:pPr>
            <a:r>
              <a:rPr lang="en-US" sz="1350" b="1" dirty="0">
                <a:solidFill>
                  <a:srgbClr val="0B1F3A"/>
                </a:solidFill>
              </a:rPr>
              <a:t>Pipeline:</a:t>
            </a:r>
            <a:endParaRPr lang="en-US" sz="1350" dirty="0"/>
          </a:p>
        </p:txBody>
      </p:sp>
      <p:sp>
        <p:nvSpPr>
          <p:cNvPr id="5" name="Shape 3"/>
          <p:cNvSpPr/>
          <p:nvPr/>
        </p:nvSpPr>
        <p:spPr>
          <a:xfrm>
            <a:off x="457200" y="1810512"/>
            <a:ext cx="411480" cy="411480"/>
          </a:xfrm>
          <a:prstGeom prst="roundRect">
            <a:avLst>
              <a:gd name="adj" fmla="val 111111"/>
            </a:avLst>
          </a:prstGeom>
          <a:solidFill>
            <a:srgbClr val="3B60E4"/>
          </a:solidFill>
          <a:ln/>
        </p:spPr>
      </p:sp>
      <p:sp>
        <p:nvSpPr>
          <p:cNvPr id="6" name="Text 4"/>
          <p:cNvSpPr/>
          <p:nvPr/>
        </p:nvSpPr>
        <p:spPr>
          <a:xfrm>
            <a:off x="457200" y="1810512"/>
            <a:ext cx="411480" cy="411480"/>
          </a:xfrm>
          <a:prstGeom prst="rect">
            <a:avLst/>
          </a:prstGeom>
          <a:noFill/>
          <a:ln/>
        </p:spPr>
        <p:txBody>
          <a:bodyPr wrap="square" rtlCol="0" anchor="ctr"/>
          <a:lstStyle/>
          <a:p>
            <a:pPr algn="ctr" indent="0" marL="0">
              <a:buNone/>
            </a:pPr>
            <a:r>
              <a:rPr lang="en-US" sz="1400" b="1" dirty="0">
                <a:solidFill>
                  <a:srgbClr val="FFFFFF"/>
                </a:solidFill>
              </a:rPr>
              <a:t>1</a:t>
            </a:r>
            <a:endParaRPr lang="en-US" sz="1400" dirty="0"/>
          </a:p>
        </p:txBody>
      </p:sp>
      <p:sp>
        <p:nvSpPr>
          <p:cNvPr id="7" name="Text 5"/>
          <p:cNvSpPr/>
          <p:nvPr/>
        </p:nvSpPr>
        <p:spPr>
          <a:xfrm>
            <a:off x="1005840" y="1810512"/>
            <a:ext cx="4846320" cy="640080"/>
          </a:xfrm>
          <a:prstGeom prst="rect">
            <a:avLst/>
          </a:prstGeom>
          <a:noFill/>
          <a:ln/>
        </p:spPr>
        <p:txBody>
          <a:bodyPr wrap="square" rtlCol="0" anchor="ctr"/>
          <a:lstStyle/>
          <a:p>
            <a:pPr indent="0" marL="0">
              <a:buNone/>
            </a:pPr>
            <a:r>
              <a:rPr lang="en-US" sz="1250" dirty="0">
                <a:solidFill>
                  <a:srgbClr val="5B6472"/>
                </a:solidFill>
              </a:rPr>
              <a:t>Request the Wikipedia "List of Falcon 9 and Falcon Heavy launches" page</a:t>
            </a:r>
            <a:endParaRPr lang="en-US" sz="1250" dirty="0"/>
          </a:p>
        </p:txBody>
      </p:sp>
      <p:sp>
        <p:nvSpPr>
          <p:cNvPr id="8" name="Shape 6"/>
          <p:cNvSpPr/>
          <p:nvPr/>
        </p:nvSpPr>
        <p:spPr>
          <a:xfrm>
            <a:off x="457200" y="2523744"/>
            <a:ext cx="411480" cy="411480"/>
          </a:xfrm>
          <a:prstGeom prst="roundRect">
            <a:avLst>
              <a:gd name="adj" fmla="val 111111"/>
            </a:avLst>
          </a:prstGeom>
          <a:solidFill>
            <a:srgbClr val="3B60E4"/>
          </a:solidFill>
          <a:ln/>
        </p:spPr>
      </p:sp>
      <p:sp>
        <p:nvSpPr>
          <p:cNvPr id="9" name="Text 7"/>
          <p:cNvSpPr/>
          <p:nvPr/>
        </p:nvSpPr>
        <p:spPr>
          <a:xfrm>
            <a:off x="457200" y="2523744"/>
            <a:ext cx="411480" cy="411480"/>
          </a:xfrm>
          <a:prstGeom prst="rect">
            <a:avLst/>
          </a:prstGeom>
          <a:noFill/>
          <a:ln/>
        </p:spPr>
        <p:txBody>
          <a:bodyPr wrap="square" rtlCol="0" anchor="ctr"/>
          <a:lstStyle/>
          <a:p>
            <a:pPr algn="ctr" indent="0" marL="0">
              <a:buNone/>
            </a:pPr>
            <a:r>
              <a:rPr lang="en-US" sz="1400" b="1" dirty="0">
                <a:solidFill>
                  <a:srgbClr val="FFFFFF"/>
                </a:solidFill>
              </a:rPr>
              <a:t>2</a:t>
            </a:r>
            <a:endParaRPr lang="en-US" sz="1400" dirty="0"/>
          </a:p>
        </p:txBody>
      </p:sp>
      <p:sp>
        <p:nvSpPr>
          <p:cNvPr id="10" name="Text 8"/>
          <p:cNvSpPr/>
          <p:nvPr/>
        </p:nvSpPr>
        <p:spPr>
          <a:xfrm>
            <a:off x="1005840" y="2523744"/>
            <a:ext cx="4846320" cy="640080"/>
          </a:xfrm>
          <a:prstGeom prst="rect">
            <a:avLst/>
          </a:prstGeom>
          <a:noFill/>
          <a:ln/>
        </p:spPr>
        <p:txBody>
          <a:bodyPr wrap="square" rtlCol="0" anchor="ctr"/>
          <a:lstStyle/>
          <a:p>
            <a:pPr indent="0" marL="0">
              <a:buNone/>
            </a:pPr>
            <a:r>
              <a:rPr lang="en-US" sz="1250" dirty="0">
                <a:solidFill>
                  <a:srgbClr val="5B6472"/>
                </a:solidFill>
              </a:rPr>
              <a:t>Parse HTML tables with BeautifulSoup, locating the wikitable elements</a:t>
            </a:r>
            <a:endParaRPr lang="en-US" sz="1250" dirty="0"/>
          </a:p>
        </p:txBody>
      </p:sp>
      <p:sp>
        <p:nvSpPr>
          <p:cNvPr id="11" name="Shape 9"/>
          <p:cNvSpPr/>
          <p:nvPr/>
        </p:nvSpPr>
        <p:spPr>
          <a:xfrm>
            <a:off x="457200" y="3236976"/>
            <a:ext cx="411480" cy="411480"/>
          </a:xfrm>
          <a:prstGeom prst="roundRect">
            <a:avLst>
              <a:gd name="adj" fmla="val 111111"/>
            </a:avLst>
          </a:prstGeom>
          <a:solidFill>
            <a:srgbClr val="3B60E4"/>
          </a:solidFill>
          <a:ln/>
        </p:spPr>
      </p:sp>
      <p:sp>
        <p:nvSpPr>
          <p:cNvPr id="12" name="Text 10"/>
          <p:cNvSpPr/>
          <p:nvPr/>
        </p:nvSpPr>
        <p:spPr>
          <a:xfrm>
            <a:off x="457200" y="3236976"/>
            <a:ext cx="411480" cy="411480"/>
          </a:xfrm>
          <a:prstGeom prst="rect">
            <a:avLst/>
          </a:prstGeom>
          <a:noFill/>
          <a:ln/>
        </p:spPr>
        <p:txBody>
          <a:bodyPr wrap="square" rtlCol="0" anchor="ctr"/>
          <a:lstStyle/>
          <a:p>
            <a:pPr algn="ctr" indent="0" marL="0">
              <a:buNone/>
            </a:pPr>
            <a:r>
              <a:rPr lang="en-US" sz="1400" b="1" dirty="0">
                <a:solidFill>
                  <a:srgbClr val="FFFFFF"/>
                </a:solidFill>
              </a:rPr>
              <a:t>3</a:t>
            </a:r>
            <a:endParaRPr lang="en-US" sz="1400" dirty="0"/>
          </a:p>
        </p:txBody>
      </p:sp>
      <p:sp>
        <p:nvSpPr>
          <p:cNvPr id="13" name="Text 11"/>
          <p:cNvSpPr/>
          <p:nvPr/>
        </p:nvSpPr>
        <p:spPr>
          <a:xfrm>
            <a:off x="1005840" y="3236976"/>
            <a:ext cx="4846320" cy="640080"/>
          </a:xfrm>
          <a:prstGeom prst="rect">
            <a:avLst/>
          </a:prstGeom>
          <a:noFill/>
          <a:ln/>
        </p:spPr>
        <p:txBody>
          <a:bodyPr wrap="square" rtlCol="0" anchor="ctr"/>
          <a:lstStyle/>
          <a:p>
            <a:pPr indent="0" marL="0">
              <a:buNone/>
            </a:pPr>
            <a:r>
              <a:rPr lang="en-US" sz="1250" dirty="0">
                <a:solidFill>
                  <a:srgbClr val="5B6472"/>
                </a:solidFill>
              </a:rPr>
              <a:t>Extract column headers, then walk each row of launch data</a:t>
            </a:r>
            <a:endParaRPr lang="en-US" sz="1250" dirty="0"/>
          </a:p>
        </p:txBody>
      </p:sp>
      <p:sp>
        <p:nvSpPr>
          <p:cNvPr id="14" name="Shape 12"/>
          <p:cNvSpPr/>
          <p:nvPr/>
        </p:nvSpPr>
        <p:spPr>
          <a:xfrm>
            <a:off x="457200" y="3950208"/>
            <a:ext cx="411480" cy="411480"/>
          </a:xfrm>
          <a:prstGeom prst="roundRect">
            <a:avLst>
              <a:gd name="adj" fmla="val 111111"/>
            </a:avLst>
          </a:prstGeom>
          <a:solidFill>
            <a:srgbClr val="3B60E4"/>
          </a:solidFill>
          <a:ln/>
        </p:spPr>
      </p:sp>
      <p:sp>
        <p:nvSpPr>
          <p:cNvPr id="15" name="Text 13"/>
          <p:cNvSpPr/>
          <p:nvPr/>
        </p:nvSpPr>
        <p:spPr>
          <a:xfrm>
            <a:off x="457200" y="3950208"/>
            <a:ext cx="411480" cy="411480"/>
          </a:xfrm>
          <a:prstGeom prst="rect">
            <a:avLst/>
          </a:prstGeom>
          <a:noFill/>
          <a:ln/>
        </p:spPr>
        <p:txBody>
          <a:bodyPr wrap="square" rtlCol="0" anchor="ctr"/>
          <a:lstStyle/>
          <a:p>
            <a:pPr algn="ctr" indent="0" marL="0">
              <a:buNone/>
            </a:pPr>
            <a:r>
              <a:rPr lang="en-US" sz="1400" b="1" dirty="0">
                <a:solidFill>
                  <a:srgbClr val="FFFFFF"/>
                </a:solidFill>
              </a:rPr>
              <a:t>4</a:t>
            </a:r>
            <a:endParaRPr lang="en-US" sz="1400" dirty="0"/>
          </a:p>
        </p:txBody>
      </p:sp>
      <p:sp>
        <p:nvSpPr>
          <p:cNvPr id="16" name="Text 14"/>
          <p:cNvSpPr/>
          <p:nvPr/>
        </p:nvSpPr>
        <p:spPr>
          <a:xfrm>
            <a:off x="1005840" y="3950208"/>
            <a:ext cx="4846320" cy="640080"/>
          </a:xfrm>
          <a:prstGeom prst="rect">
            <a:avLst/>
          </a:prstGeom>
          <a:noFill/>
          <a:ln/>
        </p:spPr>
        <p:txBody>
          <a:bodyPr wrap="square" rtlCol="0" anchor="ctr"/>
          <a:lstStyle/>
          <a:p>
            <a:pPr indent="0" marL="0">
              <a:buNone/>
            </a:pPr>
            <a:r>
              <a:rPr lang="en-US" sz="1250" dirty="0">
                <a:solidFill>
                  <a:srgbClr val="5B6472"/>
                </a:solidFill>
              </a:rPr>
              <a:t>Clean dates, booster serials and payload mass into a dataframe</a:t>
            </a:r>
            <a:endParaRPr lang="en-US" sz="1250" dirty="0"/>
          </a:p>
        </p:txBody>
      </p:sp>
      <p:sp>
        <p:nvSpPr>
          <p:cNvPr id="17" name="Shape 15"/>
          <p:cNvSpPr/>
          <p:nvPr/>
        </p:nvSpPr>
        <p:spPr>
          <a:xfrm>
            <a:off x="6309360" y="1417320"/>
            <a:ext cx="5394960" cy="3931920"/>
          </a:xfrm>
          <a:prstGeom prst="roundRect">
            <a:avLst>
              <a:gd name="adj" fmla="val 1860"/>
            </a:avLst>
          </a:prstGeom>
          <a:solidFill>
            <a:srgbClr val="F4F7FC"/>
          </a:solidFill>
          <a:ln w="12700">
            <a:solidFill>
              <a:srgbClr val="E2E8F5"/>
            </a:solidFill>
            <a:prstDash val="solid"/>
          </a:ln>
        </p:spPr>
      </p:sp>
      <p:sp>
        <p:nvSpPr>
          <p:cNvPr id="18" name="Text 16"/>
          <p:cNvSpPr/>
          <p:nvPr/>
        </p:nvSpPr>
        <p:spPr>
          <a:xfrm>
            <a:off x="6537960" y="1600200"/>
            <a:ext cx="4937760" cy="320040"/>
          </a:xfrm>
          <a:prstGeom prst="rect">
            <a:avLst/>
          </a:prstGeom>
          <a:noFill/>
          <a:ln/>
        </p:spPr>
        <p:txBody>
          <a:bodyPr wrap="square" rtlCol="0" anchor="ctr"/>
          <a:lstStyle/>
          <a:p>
            <a:pPr indent="0" marL="0">
              <a:buNone/>
            </a:pPr>
            <a:r>
              <a:rPr lang="en-US" sz="1200" b="1" dirty="0">
                <a:solidFill>
                  <a:srgbClr val="3B60E4"/>
                </a:solidFill>
                <a:latin typeface="Courier New" pitchFamily="34" charset="0"/>
                <a:ea typeface="Courier New" pitchFamily="34" charset="-122"/>
                <a:cs typeface="Courier New" pitchFamily="34" charset="-120"/>
              </a:rPr>
              <a:t>BeautifulSoup(response.text, 'html.parser')</a:t>
            </a:r>
            <a:endParaRPr lang="en-US" sz="1200" dirty="0"/>
          </a:p>
        </p:txBody>
      </p:sp>
      <p:sp>
        <p:nvSpPr>
          <p:cNvPr id="19" name="Text 17"/>
          <p:cNvSpPr/>
          <p:nvPr/>
        </p:nvSpPr>
        <p:spPr>
          <a:xfrm>
            <a:off x="6537960" y="2057400"/>
            <a:ext cx="4937760" cy="1737360"/>
          </a:xfrm>
          <a:prstGeom prst="rect">
            <a:avLst/>
          </a:prstGeom>
          <a:noFill/>
          <a:ln/>
        </p:spPr>
        <p:txBody>
          <a:bodyPr wrap="square" rtlCol="0" anchor="ctr"/>
          <a:lstStyle/>
          <a:p>
            <a:pPr indent="0" marL="0">
              <a:lnSpc>
                <a:spcPts val="1900"/>
              </a:lnSpc>
              <a:buNone/>
            </a:pPr>
            <a:r>
              <a:rPr lang="en-US" sz="1250" dirty="0">
                <a:solidFill>
                  <a:srgbClr val="0B1F3A"/>
                </a:solidFill>
              </a:rPr>
              <a:t>This gives an independent, cross-checked source for the launch records: it validates the API dataset, fills in fields the API does not expose such as payload customer, and supplies the table that is loaded into SQL for the EDA-with-SQL section.</a:t>
            </a:r>
            <a:endParaRPr lang="en-US" sz="1250" dirty="0"/>
          </a:p>
        </p:txBody>
      </p:sp>
      <p:sp>
        <p:nvSpPr>
          <p:cNvPr id="20" name="Text 18"/>
          <p:cNvSpPr/>
          <p:nvPr/>
        </p:nvSpPr>
        <p:spPr>
          <a:xfrm>
            <a:off x="6537960" y="3977640"/>
            <a:ext cx="4937760" cy="1097280"/>
          </a:xfrm>
          <a:prstGeom prst="rect">
            <a:avLst/>
          </a:prstGeom>
          <a:noFill/>
          <a:ln/>
        </p:spPr>
        <p:txBody>
          <a:bodyPr wrap="square" rtlCol="0" anchor="ctr"/>
          <a:lstStyle/>
          <a:p>
            <a:pPr indent="0" marL="0">
              <a:lnSpc>
                <a:spcPts val="1600"/>
              </a:lnSpc>
              <a:buNone/>
            </a:pPr>
            <a:r>
              <a:rPr lang="en-US" sz="1100" i="1" dirty="0">
                <a:solidFill>
                  <a:srgbClr val="5B6472"/>
                </a:solidFill>
              </a:rPr>
              <a:t>Key techniques: regex and Unicode cleanup of payload-mass strings, plus helper functions that pull booster version and landing status out of merged table cells.</a:t>
            </a:r>
            <a:endParaRPr lang="en-US" sz="1100" dirty="0"/>
          </a:p>
        </p:txBody>
      </p:sp>
      <p:sp>
        <p:nvSpPr>
          <p:cNvPr id="21" name="Text 19"/>
          <p:cNvSpPr/>
          <p:nvPr/>
        </p:nvSpPr>
        <p:spPr>
          <a:xfrm>
            <a:off x="457200" y="6355080"/>
            <a:ext cx="11247120" cy="365760"/>
          </a:xfrm>
          <a:prstGeom prst="rect">
            <a:avLst/>
          </a:prstGeom>
          <a:noFill/>
          <a:ln/>
        </p:spPr>
        <p:txBody>
          <a:bodyPr wrap="square" rtlCol="0" anchor="ctr"/>
          <a:lstStyle/>
          <a:p>
            <a:pPr indent="0" marL="0">
              <a:lnSpc>
                <a:spcPts val="1200"/>
              </a:lnSpc>
              <a:buNone/>
            </a:pPr>
            <a:r>
              <a:rPr lang="en-US" sz="950" dirty="0">
                <a:solidFill>
                  <a:srgbClr val="0B1F3A"/>
                </a:solidFill>
              </a:rPr>
              <a:t>Completed Data Collection (web scraping) slide: Wikipedia launch tables parsed with BeautifulSoup — GitHub repository: </a:t>
            </a:r>
            <a:pPr indent="0" marL="0">
              <a:lnSpc>
                <a:spcPts val="1200"/>
              </a:lnSpc>
              <a:buNone/>
            </a:pPr>
            <a:r>
              <a:rPr lang="en-US" sz="950" u="sng" dirty="0">
                <a:solidFill>
                  <a:srgbClr val="3B60E4"/>
                </a:solidFill>
                <a:hlinkClick r:id="rId1"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https://github.com/razerblade09/spacex-falcon9-capstone/blob/main/notebooks/02_web_scraping.py</a:t>
            </a:r>
            <a:endParaRPr lang="en-US" sz="950" dirty="0"/>
          </a:p>
        </p:txBody>
      </p:sp>
      <p:sp>
        <p:nvSpPr>
          <p:cNvPr id="22" name="Text 20"/>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92608"/>
            <a:ext cx="7315200" cy="274320"/>
          </a:xfrm>
          <a:prstGeom prst="rect">
            <a:avLst/>
          </a:prstGeom>
          <a:noFill/>
          <a:ln/>
        </p:spPr>
        <p:txBody>
          <a:bodyPr wrap="square" rtlCol="0" anchor="ctr"/>
          <a:lstStyle/>
          <a:p>
            <a:pPr indent="0" marL="0">
              <a:buNone/>
            </a:pPr>
            <a:r>
              <a:rPr lang="en-US" sz="1200" b="1" spc="200" kern="0" dirty="0">
                <a:solidFill>
                  <a:srgbClr val="3B60E4"/>
                </a:solidFill>
              </a:rPr>
              <a:t>PREPARATION</a:t>
            </a:r>
            <a:endParaRPr lang="en-US" sz="120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600" b="1" dirty="0">
                <a:solidFill>
                  <a:srgbClr val="0B1F3A"/>
                </a:solidFill>
              </a:rPr>
              <a:t>Data Wrangling Methodology</a:t>
            </a:r>
            <a:endParaRPr lang="en-US" sz="2600" dirty="0"/>
          </a:p>
        </p:txBody>
      </p:sp>
      <p:sp>
        <p:nvSpPr>
          <p:cNvPr id="4" name="Text 2"/>
          <p:cNvSpPr/>
          <p:nvPr/>
        </p:nvSpPr>
        <p:spPr>
          <a:xfrm>
            <a:off x="457200" y="1463040"/>
            <a:ext cx="7315200" cy="4480560"/>
          </a:xfrm>
          <a:prstGeom prst="rect">
            <a:avLst/>
          </a:prstGeom>
          <a:noFill/>
          <a:ln/>
        </p:spPr>
        <p:txBody>
          <a:bodyPr wrap="square" rtlCol="0" anchor="ctr"/>
          <a:lstStyle/>
          <a:p>
            <a:pPr indent="0" marL="0">
              <a:lnSpc>
                <a:spcPts val="2100"/>
              </a:lnSpc>
              <a:buNone/>
            </a:pPr>
            <a:r>
              <a:rPr lang="en-US" sz="1300" b="1" dirty="0">
                <a:solidFill>
                  <a:srgbClr val="0B1F3A"/>
                </a:solidFill>
              </a:rPr>
              <a:t>Data wrangling methodology — missing values: </a:t>
            </a:r>
            <a:pPr indent="0" marL="0">
              <a:lnSpc>
                <a:spcPts val="2100"/>
              </a:lnSpc>
              <a:buNone/>
            </a:pPr>
            <a:r>
              <a:rPr lang="en-US" sz="1300" dirty="0">
                <a:solidFill>
                  <a:srgbClr val="5B6472"/>
                </a:solidFill>
              </a:rPr>
              <a:t>PayloadMass was missing for 5.6% of records and was filled with the column mean. LandingPad was missing for 28.9% and was deliberately kept as-is, because a null pad legitimately means no ground or drone-ship landing was attempted.
</a:t>
            </a:r>
            <a:pPr indent="0" marL="0">
              <a:lnSpc>
                <a:spcPts val="2100"/>
              </a:lnSpc>
              <a:buNone/>
            </a:pPr>
            <a:r>
              <a:rPr lang="en-US" sz="1300" b="1" dirty="0">
                <a:solidFill>
                  <a:srgbClr val="0B1F3A"/>
                </a:solidFill>
              </a:rPr>
              <a:t>Label engineering: </a:t>
            </a:r>
            <a:pPr indent="0" marL="0">
              <a:lnSpc>
                <a:spcPts val="2100"/>
              </a:lnSpc>
              <a:buNone/>
            </a:pPr>
            <a:r>
              <a:rPr lang="en-US" sz="1300" dirty="0">
                <a:solidFill>
                  <a:srgbClr val="5B6472"/>
                </a:solidFill>
              </a:rPr>
              <a:t>The raw Outcome field — free text such as "True ASDS", "False Ocean" or "None None" — was converted into a binary Class label: 1 if the booster landed successfully by any method (drone ship, ground pad, RTLS return or controlled ocean), 0 if it did not land or no attempt was made.
</a:t>
            </a:r>
            <a:pPr indent="0" marL="0">
              <a:lnSpc>
                <a:spcPts val="2100"/>
              </a:lnSpc>
              <a:buNone/>
            </a:pPr>
            <a:r>
              <a:rPr lang="en-US" sz="1300" b="1" dirty="0">
                <a:solidFill>
                  <a:srgbClr val="0B1F3A"/>
                </a:solidFill>
              </a:rPr>
              <a:t>Result: </a:t>
            </a:r>
            <a:pPr indent="0" marL="0">
              <a:lnSpc>
                <a:spcPts val="2100"/>
              </a:lnSpc>
              <a:buNone/>
            </a:pPr>
            <a:r>
              <a:rPr lang="en-US" sz="1300" dirty="0">
                <a:solidFill>
                  <a:srgbClr val="5B6472"/>
                </a:solidFill>
              </a:rPr>
              <a:t>of 90 launches, 60 (66.7%) ended in a successful first-stage landing and 30 (33.3%) did not. This Class column is the target variable for the predictive model.</a:t>
            </a:r>
            <a:endParaRPr lang="en-US" sz="1300" dirty="0"/>
          </a:p>
        </p:txBody>
      </p:sp>
      <p:sp>
        <p:nvSpPr>
          <p:cNvPr id="5" name="Shape 3"/>
          <p:cNvSpPr/>
          <p:nvPr/>
        </p:nvSpPr>
        <p:spPr>
          <a:xfrm>
            <a:off x="8138160" y="1737360"/>
            <a:ext cx="3566160" cy="3108960"/>
          </a:xfrm>
          <a:prstGeom prst="roundRect">
            <a:avLst>
              <a:gd name="adj" fmla="val 2941"/>
            </a:avLst>
          </a:prstGeom>
          <a:solidFill>
            <a:srgbClr val="F4F7FC"/>
          </a:solidFill>
          <a:ln w="12700">
            <a:solidFill>
              <a:srgbClr val="E2E8F5"/>
            </a:solidFill>
            <a:prstDash val="solid"/>
          </a:ln>
        </p:spPr>
      </p:sp>
      <p:sp>
        <p:nvSpPr>
          <p:cNvPr id="6" name="Text 4"/>
          <p:cNvSpPr/>
          <p:nvPr/>
        </p:nvSpPr>
        <p:spPr>
          <a:xfrm>
            <a:off x="8138160" y="2011680"/>
            <a:ext cx="3566160" cy="731520"/>
          </a:xfrm>
          <a:prstGeom prst="rect">
            <a:avLst/>
          </a:prstGeom>
          <a:noFill/>
          <a:ln/>
        </p:spPr>
        <p:txBody>
          <a:bodyPr wrap="square" rtlCol="0" anchor="ctr"/>
          <a:lstStyle/>
          <a:p>
            <a:pPr algn="ctr" indent="0" marL="0">
              <a:buNone/>
            </a:pPr>
            <a:r>
              <a:rPr lang="en-US" sz="4200" b="1" dirty="0">
                <a:solidFill>
                  <a:srgbClr val="17BEBB"/>
                </a:solidFill>
              </a:rPr>
              <a:t>60</a:t>
            </a:r>
            <a:endParaRPr lang="en-US" sz="4200" dirty="0"/>
          </a:p>
        </p:txBody>
      </p:sp>
      <p:sp>
        <p:nvSpPr>
          <p:cNvPr id="7" name="Text 5"/>
          <p:cNvSpPr/>
          <p:nvPr/>
        </p:nvSpPr>
        <p:spPr>
          <a:xfrm>
            <a:off x="8138160" y="2743200"/>
            <a:ext cx="3566160" cy="320040"/>
          </a:xfrm>
          <a:prstGeom prst="rect">
            <a:avLst/>
          </a:prstGeom>
          <a:noFill/>
          <a:ln/>
        </p:spPr>
        <p:txBody>
          <a:bodyPr wrap="square" rtlCol="0" anchor="ctr"/>
          <a:lstStyle/>
          <a:p>
            <a:pPr algn="ctr" indent="0" marL="0">
              <a:buNone/>
            </a:pPr>
            <a:r>
              <a:rPr lang="en-US" sz="1200" dirty="0">
                <a:solidFill>
                  <a:srgbClr val="5B6472"/>
                </a:solidFill>
              </a:rPr>
              <a:t>successful landings</a:t>
            </a:r>
            <a:endParaRPr lang="en-US" sz="1200" dirty="0"/>
          </a:p>
        </p:txBody>
      </p:sp>
      <p:sp>
        <p:nvSpPr>
          <p:cNvPr id="8" name="Text 6"/>
          <p:cNvSpPr/>
          <p:nvPr/>
        </p:nvSpPr>
        <p:spPr>
          <a:xfrm>
            <a:off x="8138160" y="3200400"/>
            <a:ext cx="3566160" cy="731520"/>
          </a:xfrm>
          <a:prstGeom prst="rect">
            <a:avLst/>
          </a:prstGeom>
          <a:noFill/>
          <a:ln/>
        </p:spPr>
        <p:txBody>
          <a:bodyPr wrap="square" rtlCol="0" anchor="ctr"/>
          <a:lstStyle/>
          <a:p>
            <a:pPr algn="ctr" indent="0" marL="0">
              <a:buNone/>
            </a:pPr>
            <a:r>
              <a:rPr lang="en-US" sz="4200" b="1" dirty="0">
                <a:solidFill>
                  <a:srgbClr val="E4572E"/>
                </a:solidFill>
              </a:rPr>
              <a:t>30</a:t>
            </a:r>
            <a:endParaRPr lang="en-US" sz="4200" dirty="0"/>
          </a:p>
        </p:txBody>
      </p:sp>
      <p:sp>
        <p:nvSpPr>
          <p:cNvPr id="9" name="Text 7"/>
          <p:cNvSpPr/>
          <p:nvPr/>
        </p:nvSpPr>
        <p:spPr>
          <a:xfrm>
            <a:off x="8138160" y="3931920"/>
            <a:ext cx="3566160" cy="320040"/>
          </a:xfrm>
          <a:prstGeom prst="rect">
            <a:avLst/>
          </a:prstGeom>
          <a:noFill/>
          <a:ln/>
        </p:spPr>
        <p:txBody>
          <a:bodyPr wrap="square" rtlCol="0" anchor="ctr"/>
          <a:lstStyle/>
          <a:p>
            <a:pPr algn="ctr" indent="0" marL="0">
              <a:buNone/>
            </a:pPr>
            <a:r>
              <a:rPr lang="en-US" sz="1200" dirty="0">
                <a:solidFill>
                  <a:srgbClr val="5B6472"/>
                </a:solidFill>
              </a:rPr>
              <a:t>unsuccessful</a:t>
            </a:r>
            <a:endParaRPr lang="en-US" sz="1200" dirty="0"/>
          </a:p>
        </p:txBody>
      </p:sp>
      <p:sp>
        <p:nvSpPr>
          <p:cNvPr id="10" name="Text 8"/>
          <p:cNvSpPr/>
          <p:nvPr/>
        </p:nvSpPr>
        <p:spPr>
          <a:xfrm>
            <a:off x="457200" y="6355080"/>
            <a:ext cx="11247120" cy="365760"/>
          </a:xfrm>
          <a:prstGeom prst="rect">
            <a:avLst/>
          </a:prstGeom>
          <a:noFill/>
          <a:ln/>
        </p:spPr>
        <p:txBody>
          <a:bodyPr wrap="square" rtlCol="0" anchor="ctr"/>
          <a:lstStyle/>
          <a:p>
            <a:pPr indent="0" marL="0">
              <a:lnSpc>
                <a:spcPts val="1200"/>
              </a:lnSpc>
              <a:buNone/>
            </a:pPr>
            <a:r>
              <a:rPr lang="en-US" sz="950" dirty="0">
                <a:solidFill>
                  <a:srgbClr val="0B1F3A"/>
                </a:solidFill>
              </a:rPr>
              <a:t>Completed Data Wrangling slide: Outcome text to binary Class, 60 landings and 30 failures of 90 — GitHub repository: </a:t>
            </a:r>
            <a:pPr indent="0" marL="0">
              <a:lnSpc>
                <a:spcPts val="1200"/>
              </a:lnSpc>
              <a:buNone/>
            </a:pPr>
            <a:r>
              <a:rPr lang="en-US" sz="950" u="sng" dirty="0">
                <a:solidFill>
                  <a:srgbClr val="3B60E4"/>
                </a:solidFill>
                <a:hlinkClick r:id="rId1"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https://github.com/razerblade09/spacex-falcon9-capstone/blob/main/notebooks/03_data_wrangling.py</a:t>
            </a:r>
            <a:endParaRPr lang="en-US" sz="950" dirty="0"/>
          </a:p>
        </p:txBody>
      </p:sp>
      <p:sp>
        <p:nvSpPr>
          <p:cNvPr id="11" name="Text 9"/>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92608"/>
            <a:ext cx="7315200" cy="274320"/>
          </a:xfrm>
          <a:prstGeom prst="rect">
            <a:avLst/>
          </a:prstGeom>
          <a:noFill/>
          <a:ln/>
        </p:spPr>
        <p:txBody>
          <a:bodyPr wrap="square" rtlCol="0" anchor="ctr"/>
          <a:lstStyle/>
          <a:p>
            <a:pPr indent="0" marL="0">
              <a:buNone/>
            </a:pPr>
            <a:r>
              <a:rPr lang="en-US" sz="1200" b="1" spc="200" kern="0" dirty="0">
                <a:solidFill>
                  <a:srgbClr val="3B60E4"/>
                </a:solidFill>
              </a:rPr>
              <a:t>EXPLORATORY ANALYSIS</a:t>
            </a:r>
            <a:endParaRPr lang="en-US" sz="120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600" b="1" dirty="0">
                <a:solidFill>
                  <a:srgbClr val="0B1F3A"/>
                </a:solidFill>
              </a:rPr>
              <a:t>EDA with Data Visualization</a:t>
            </a:r>
            <a:endParaRPr lang="en-US" sz="2600" dirty="0"/>
          </a:p>
        </p:txBody>
      </p:sp>
      <p:sp>
        <p:nvSpPr>
          <p:cNvPr id="4" name="Text 2"/>
          <p:cNvSpPr/>
          <p:nvPr/>
        </p:nvSpPr>
        <p:spPr>
          <a:xfrm>
            <a:off x="457200" y="1371600"/>
            <a:ext cx="11247120" cy="685800"/>
          </a:xfrm>
          <a:prstGeom prst="rect">
            <a:avLst/>
          </a:prstGeom>
          <a:noFill/>
          <a:ln/>
        </p:spPr>
        <p:txBody>
          <a:bodyPr wrap="square" rtlCol="0" anchor="ctr"/>
          <a:lstStyle/>
          <a:p>
            <a:pPr indent="0" marL="0">
              <a:lnSpc>
                <a:spcPts val="1700"/>
              </a:lnSpc>
              <a:buNone/>
            </a:pPr>
            <a:r>
              <a:rPr lang="en-US" sz="1250" dirty="0">
                <a:solidFill>
                  <a:srgbClr val="5B6472"/>
                </a:solidFill>
              </a:rPr>
              <a:t>EDA with data visualization methodology: flight number, payload mass, orbit type and launch year were plotted against landing outcome to surface which factors correlate with success. Six charts were produced: scatter plots of flight number against launch site and against orbit, scatter plots of payload mass against launch site and against orbit, a bar chart of success rate by orbit, and a line chart of success rate by year.</a:t>
            </a:r>
            <a:endParaRPr lang="en-US" sz="1250" dirty="0"/>
          </a:p>
        </p:txBody>
      </p:sp>
      <p:pic>
        <p:nvPicPr>
          <p:cNvPr id="5" name="Image 0" descr="C:\Users\USER\Documents\Coursera\repo\images\eda_flightnum_site.png">    </p:cNvPr>
          <p:cNvPicPr>
            <a:picLocks noChangeAspect="1"/>
          </p:cNvPicPr>
          <p:nvPr/>
        </p:nvPicPr>
        <p:blipFill>
          <a:blip r:embed="rId1"/>
          <a:stretch>
            <a:fillRect/>
          </a:stretch>
        </p:blipFill>
        <p:spPr>
          <a:xfrm>
            <a:off x="457200" y="2148840"/>
            <a:ext cx="3566160" cy="2148840"/>
          </a:xfrm>
          <a:prstGeom prst="rect">
            <a:avLst/>
          </a:prstGeom>
        </p:spPr>
      </p:pic>
      <p:sp>
        <p:nvSpPr>
          <p:cNvPr id="6" name="Text 3"/>
          <p:cNvSpPr/>
          <p:nvPr/>
        </p:nvSpPr>
        <p:spPr>
          <a:xfrm>
            <a:off x="457200" y="4315968"/>
            <a:ext cx="3566160" cy="274320"/>
          </a:xfrm>
          <a:prstGeom prst="rect">
            <a:avLst/>
          </a:prstGeom>
          <a:noFill/>
          <a:ln/>
        </p:spPr>
        <p:txBody>
          <a:bodyPr wrap="square" rtlCol="0" anchor="ctr"/>
          <a:lstStyle/>
          <a:p>
            <a:pPr algn="ctr" indent="0" marL="0">
              <a:buNone/>
            </a:pPr>
            <a:r>
              <a:rPr lang="en-US" sz="1100" b="1" dirty="0">
                <a:solidFill>
                  <a:srgbClr val="0B1F3A"/>
                </a:solidFill>
              </a:rPr>
              <a:t>Flight # vs Launch Site</a:t>
            </a:r>
            <a:endParaRPr lang="en-US" sz="1100" dirty="0"/>
          </a:p>
        </p:txBody>
      </p:sp>
      <p:pic>
        <p:nvPicPr>
          <p:cNvPr id="7" name="Image 1" descr="C:\Users\USER\Documents\Coursera\repo\images\eda_payload_site.png">    </p:cNvPr>
          <p:cNvPicPr>
            <a:picLocks noChangeAspect="1"/>
          </p:cNvPicPr>
          <p:nvPr/>
        </p:nvPicPr>
        <p:blipFill>
          <a:blip r:embed="rId2"/>
          <a:stretch>
            <a:fillRect/>
          </a:stretch>
        </p:blipFill>
        <p:spPr>
          <a:xfrm>
            <a:off x="4251960" y="2148840"/>
            <a:ext cx="3566160" cy="2148840"/>
          </a:xfrm>
          <a:prstGeom prst="rect">
            <a:avLst/>
          </a:prstGeom>
        </p:spPr>
      </p:pic>
      <p:sp>
        <p:nvSpPr>
          <p:cNvPr id="8" name="Text 4"/>
          <p:cNvSpPr/>
          <p:nvPr/>
        </p:nvSpPr>
        <p:spPr>
          <a:xfrm>
            <a:off x="4251960" y="4315968"/>
            <a:ext cx="3566160" cy="274320"/>
          </a:xfrm>
          <a:prstGeom prst="rect">
            <a:avLst/>
          </a:prstGeom>
          <a:noFill/>
          <a:ln/>
        </p:spPr>
        <p:txBody>
          <a:bodyPr wrap="square" rtlCol="0" anchor="ctr"/>
          <a:lstStyle/>
          <a:p>
            <a:pPr algn="ctr" indent="0" marL="0">
              <a:buNone/>
            </a:pPr>
            <a:r>
              <a:rPr lang="en-US" sz="1100" b="1" dirty="0">
                <a:solidFill>
                  <a:srgbClr val="0B1F3A"/>
                </a:solidFill>
              </a:rPr>
              <a:t>Payload vs Launch Site</a:t>
            </a:r>
            <a:endParaRPr lang="en-US" sz="1100" dirty="0"/>
          </a:p>
        </p:txBody>
      </p:sp>
      <p:pic>
        <p:nvPicPr>
          <p:cNvPr id="9" name="Image 2" descr="C:\Users\USER\Documents\Coursera\repo\images\eda_orbit_success.png">    </p:cNvPr>
          <p:cNvPicPr>
            <a:picLocks noChangeAspect="1"/>
          </p:cNvPicPr>
          <p:nvPr/>
        </p:nvPicPr>
        <p:blipFill>
          <a:blip r:embed="rId3"/>
          <a:stretch>
            <a:fillRect/>
          </a:stretch>
        </p:blipFill>
        <p:spPr>
          <a:xfrm>
            <a:off x="8046720" y="2148840"/>
            <a:ext cx="3566160" cy="2148840"/>
          </a:xfrm>
          <a:prstGeom prst="rect">
            <a:avLst/>
          </a:prstGeom>
        </p:spPr>
      </p:pic>
      <p:sp>
        <p:nvSpPr>
          <p:cNvPr id="10" name="Text 5"/>
          <p:cNvSpPr/>
          <p:nvPr/>
        </p:nvSpPr>
        <p:spPr>
          <a:xfrm>
            <a:off x="8046720" y="4315968"/>
            <a:ext cx="3566160" cy="274320"/>
          </a:xfrm>
          <a:prstGeom prst="rect">
            <a:avLst/>
          </a:prstGeom>
          <a:noFill/>
          <a:ln/>
        </p:spPr>
        <p:txBody>
          <a:bodyPr wrap="square" rtlCol="0" anchor="ctr"/>
          <a:lstStyle/>
          <a:p>
            <a:pPr algn="ctr" indent="0" marL="0">
              <a:buNone/>
            </a:pPr>
            <a:r>
              <a:rPr lang="en-US" sz="1100" b="1" dirty="0">
                <a:solidFill>
                  <a:srgbClr val="0B1F3A"/>
                </a:solidFill>
              </a:rPr>
              <a:t>Success Rate by Orbit</a:t>
            </a:r>
            <a:endParaRPr lang="en-US" sz="1100" dirty="0"/>
          </a:p>
        </p:txBody>
      </p:sp>
      <p:sp>
        <p:nvSpPr>
          <p:cNvPr id="11" name="Text 6"/>
          <p:cNvSpPr/>
          <p:nvPr/>
        </p:nvSpPr>
        <p:spPr>
          <a:xfrm>
            <a:off x="457200" y="4754880"/>
            <a:ext cx="11247120" cy="1371600"/>
          </a:xfrm>
          <a:prstGeom prst="rect">
            <a:avLst/>
          </a:prstGeom>
          <a:noFill/>
          <a:ln/>
        </p:spPr>
        <p:txBody>
          <a:bodyPr wrap="square" rtlCol="0" anchor="ctr"/>
          <a:lstStyle/>
          <a:p>
            <a:pPr indent="0" marL="0">
              <a:lnSpc>
                <a:spcPts val="1800"/>
              </a:lnSpc>
              <a:buNone/>
            </a:pPr>
            <a:r>
              <a:rPr lang="en-US" sz="1250" dirty="0">
                <a:solidFill>
                  <a:srgbClr val="0B1F3A"/>
                </a:solidFill>
              </a:rPr>
              <a:t>EDA with data visualization results: heavier, higher-energy GTO and ISS missions land least reliably, while light LEO, SSO and GEO missions land most reliably. Success rate climbs steadily with flight number at every site, and rises from roughly 0% across 2010–2013 to close to 100% by 2019–2020 — landing success is a maturing process, not a fixed property of the hardware.</a:t>
            </a:r>
            <a:endParaRPr lang="en-US" sz="1250" dirty="0"/>
          </a:p>
        </p:txBody>
      </p:sp>
      <p:sp>
        <p:nvSpPr>
          <p:cNvPr id="12" name="Text 7"/>
          <p:cNvSpPr/>
          <p:nvPr/>
        </p:nvSpPr>
        <p:spPr>
          <a:xfrm>
            <a:off x="457200" y="6355080"/>
            <a:ext cx="11247120" cy="365760"/>
          </a:xfrm>
          <a:prstGeom prst="rect">
            <a:avLst/>
          </a:prstGeom>
          <a:noFill/>
          <a:ln/>
        </p:spPr>
        <p:txBody>
          <a:bodyPr wrap="square" rtlCol="0" anchor="ctr"/>
          <a:lstStyle/>
          <a:p>
            <a:pPr indent="0" marL="0">
              <a:lnSpc>
                <a:spcPts val="1200"/>
              </a:lnSpc>
              <a:buNone/>
            </a:pPr>
            <a:r>
              <a:rPr lang="en-US" sz="950" dirty="0">
                <a:solidFill>
                  <a:srgbClr val="0B1F3A"/>
                </a:solidFill>
              </a:rPr>
              <a:t>Completed EDA with Data Visualization slide: 6 charts, GTO lands least reliably, success near 100% by 2020 — GitHub repository: </a:t>
            </a:r>
            <a:pPr indent="0" marL="0">
              <a:lnSpc>
                <a:spcPts val="1200"/>
              </a:lnSpc>
              <a:buNone/>
            </a:pPr>
            <a:r>
              <a:rPr lang="en-US" sz="950" u="sng" dirty="0">
                <a:solidFill>
                  <a:srgbClr val="3B60E4"/>
                </a:solidFill>
                <a:hlinkClick r:id="rId4"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https://github.com/razerblade09/spacex-falcon9-capstone/blob/main/notebooks/04_07_eda_sql_ml.py</a:t>
            </a:r>
            <a:endParaRPr lang="en-US" sz="950" dirty="0"/>
          </a:p>
        </p:txBody>
      </p:sp>
      <p:sp>
        <p:nvSpPr>
          <p:cNvPr id="13" name="Text 8"/>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92608"/>
            <a:ext cx="7315200" cy="274320"/>
          </a:xfrm>
          <a:prstGeom prst="rect">
            <a:avLst/>
          </a:prstGeom>
          <a:noFill/>
          <a:ln/>
        </p:spPr>
        <p:txBody>
          <a:bodyPr wrap="square" rtlCol="0" anchor="ctr"/>
          <a:lstStyle/>
          <a:p>
            <a:pPr indent="0" marL="0">
              <a:buNone/>
            </a:pPr>
            <a:r>
              <a:rPr lang="en-US" sz="1200" b="1" spc="200" kern="0" dirty="0">
                <a:solidFill>
                  <a:srgbClr val="3B60E4"/>
                </a:solidFill>
              </a:rPr>
              <a:t>EXPLORATORY ANALYSIS</a:t>
            </a:r>
            <a:endParaRPr lang="en-US" sz="120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600" b="1" dirty="0">
                <a:solidFill>
                  <a:srgbClr val="0B1F3A"/>
                </a:solidFill>
              </a:rPr>
              <a:t>EDA with SQL</a:t>
            </a:r>
            <a:endParaRPr lang="en-US" sz="2600" dirty="0"/>
          </a:p>
        </p:txBody>
      </p:sp>
      <p:sp>
        <p:nvSpPr>
          <p:cNvPr id="4" name="Text 2"/>
          <p:cNvSpPr/>
          <p:nvPr/>
        </p:nvSpPr>
        <p:spPr>
          <a:xfrm>
            <a:off x="457200" y="1325880"/>
            <a:ext cx="11247120" cy="365760"/>
          </a:xfrm>
          <a:prstGeom prst="rect">
            <a:avLst/>
          </a:prstGeom>
          <a:noFill/>
          <a:ln/>
        </p:spPr>
        <p:txBody>
          <a:bodyPr wrap="square" rtlCol="0" anchor="ctr"/>
          <a:lstStyle/>
          <a:p>
            <a:pPr indent="0" marL="0">
              <a:buNone/>
            </a:pPr>
            <a:r>
              <a:rPr lang="en-US" sz="1250" dirty="0">
                <a:solidFill>
                  <a:srgbClr val="5B6472"/>
                </a:solidFill>
              </a:rPr>
              <a:t>The scraped launch table was loaded into a SQL database (SQLite / IBM Db2) as SPACEXTABLE and queried to answer specific business questions:</a:t>
            </a:r>
            <a:endParaRPr lang="en-US" sz="1250" dirty="0"/>
          </a:p>
        </p:txBody>
      </p:sp>
      <p:sp>
        <p:nvSpPr>
          <p:cNvPr id="5" name="Text 3"/>
          <p:cNvSpPr/>
          <p:nvPr/>
        </p:nvSpPr>
        <p:spPr>
          <a:xfrm>
            <a:off x="548640" y="1783080"/>
            <a:ext cx="4937760" cy="310896"/>
          </a:xfrm>
          <a:prstGeom prst="rect">
            <a:avLst/>
          </a:prstGeom>
          <a:noFill/>
          <a:ln/>
        </p:spPr>
        <p:txBody>
          <a:bodyPr wrap="square" rtlCol="0" anchor="ctr"/>
          <a:lstStyle/>
          <a:p>
            <a:pPr marL="342900" indent="-342900">
              <a:buSzPct val="100000"/>
              <a:buChar char="•"/>
            </a:pPr>
            <a:r>
              <a:rPr lang="en-US" sz="1150" dirty="0">
                <a:solidFill>
                  <a:srgbClr val="0B1F3A"/>
                </a:solidFill>
              </a:rPr>
              <a:t>Distinct launch sites used</a:t>
            </a:r>
            <a:endParaRPr lang="en-US" sz="1150" dirty="0"/>
          </a:p>
        </p:txBody>
      </p:sp>
      <p:sp>
        <p:nvSpPr>
          <p:cNvPr id="6" name="Text 4"/>
          <p:cNvSpPr/>
          <p:nvPr/>
        </p:nvSpPr>
        <p:spPr>
          <a:xfrm>
            <a:off x="548640" y="2112264"/>
            <a:ext cx="4937760" cy="310896"/>
          </a:xfrm>
          <a:prstGeom prst="rect">
            <a:avLst/>
          </a:prstGeom>
          <a:noFill/>
          <a:ln/>
        </p:spPr>
        <p:txBody>
          <a:bodyPr wrap="square" rtlCol="0" anchor="ctr"/>
          <a:lstStyle/>
          <a:p>
            <a:pPr marL="342900" indent="-342900">
              <a:buSzPct val="100000"/>
              <a:buChar char="•"/>
            </a:pPr>
            <a:r>
              <a:rPr lang="en-US" sz="1150" dirty="0">
                <a:solidFill>
                  <a:srgbClr val="0B1F3A"/>
                </a:solidFill>
              </a:rPr>
              <a:t>Total payload mass carried for NASA (CRS)</a:t>
            </a:r>
            <a:endParaRPr lang="en-US" sz="1150" dirty="0"/>
          </a:p>
        </p:txBody>
      </p:sp>
      <p:sp>
        <p:nvSpPr>
          <p:cNvPr id="7" name="Text 5"/>
          <p:cNvSpPr/>
          <p:nvPr/>
        </p:nvSpPr>
        <p:spPr>
          <a:xfrm>
            <a:off x="548640" y="2441448"/>
            <a:ext cx="4937760" cy="310896"/>
          </a:xfrm>
          <a:prstGeom prst="rect">
            <a:avLst/>
          </a:prstGeom>
          <a:noFill/>
          <a:ln/>
        </p:spPr>
        <p:txBody>
          <a:bodyPr wrap="square" rtlCol="0" anchor="ctr"/>
          <a:lstStyle/>
          <a:p>
            <a:pPr marL="342900" indent="-342900">
              <a:buSzPct val="100000"/>
              <a:buChar char="•"/>
            </a:pPr>
            <a:r>
              <a:rPr lang="en-US" sz="1150" dirty="0">
                <a:solidFill>
                  <a:srgbClr val="0B1F3A"/>
                </a:solidFill>
              </a:rPr>
              <a:t>Average payload mass for F9 v1.1 boosters</a:t>
            </a:r>
            <a:endParaRPr lang="en-US" sz="1150" dirty="0"/>
          </a:p>
        </p:txBody>
      </p:sp>
      <p:sp>
        <p:nvSpPr>
          <p:cNvPr id="8" name="Text 6"/>
          <p:cNvSpPr/>
          <p:nvPr/>
        </p:nvSpPr>
        <p:spPr>
          <a:xfrm>
            <a:off x="548640" y="2770632"/>
            <a:ext cx="4937760" cy="310896"/>
          </a:xfrm>
          <a:prstGeom prst="rect">
            <a:avLst/>
          </a:prstGeom>
          <a:noFill/>
          <a:ln/>
        </p:spPr>
        <p:txBody>
          <a:bodyPr wrap="square" rtlCol="0" anchor="ctr"/>
          <a:lstStyle/>
          <a:p>
            <a:pPr marL="342900" indent="-342900">
              <a:buSzPct val="100000"/>
              <a:buChar char="•"/>
            </a:pPr>
            <a:r>
              <a:rPr lang="en-US" sz="1150" dirty="0">
                <a:solidFill>
                  <a:srgbClr val="0B1F3A"/>
                </a:solidFill>
              </a:rPr>
              <a:t>Date of the first successful ground-pad landing</a:t>
            </a:r>
            <a:endParaRPr lang="en-US" sz="1150" dirty="0"/>
          </a:p>
        </p:txBody>
      </p:sp>
      <p:sp>
        <p:nvSpPr>
          <p:cNvPr id="9" name="Text 7"/>
          <p:cNvSpPr/>
          <p:nvPr/>
        </p:nvSpPr>
        <p:spPr>
          <a:xfrm>
            <a:off x="548640" y="3099816"/>
            <a:ext cx="4937760" cy="310896"/>
          </a:xfrm>
          <a:prstGeom prst="rect">
            <a:avLst/>
          </a:prstGeom>
          <a:noFill/>
          <a:ln/>
        </p:spPr>
        <p:txBody>
          <a:bodyPr wrap="square" rtlCol="0" anchor="ctr"/>
          <a:lstStyle/>
          <a:p>
            <a:pPr marL="342900" indent="-342900">
              <a:buSzPct val="100000"/>
              <a:buChar char="•"/>
            </a:pPr>
            <a:r>
              <a:rPr lang="en-US" sz="1150" dirty="0">
                <a:solidFill>
                  <a:srgbClr val="0B1F3A"/>
                </a:solidFill>
              </a:rPr>
              <a:t>Drone-ship successes carrying 4,000–6,000 kg</a:t>
            </a:r>
            <a:endParaRPr lang="en-US" sz="1150" dirty="0"/>
          </a:p>
        </p:txBody>
      </p:sp>
      <p:sp>
        <p:nvSpPr>
          <p:cNvPr id="10" name="Text 8"/>
          <p:cNvSpPr/>
          <p:nvPr/>
        </p:nvSpPr>
        <p:spPr>
          <a:xfrm>
            <a:off x="548640" y="3429000"/>
            <a:ext cx="4937760" cy="310896"/>
          </a:xfrm>
          <a:prstGeom prst="rect">
            <a:avLst/>
          </a:prstGeom>
          <a:noFill/>
          <a:ln/>
        </p:spPr>
        <p:txBody>
          <a:bodyPr wrap="square" rtlCol="0" anchor="ctr"/>
          <a:lstStyle/>
          <a:p>
            <a:pPr marL="342900" indent="-342900">
              <a:buSzPct val="100000"/>
              <a:buChar char="•"/>
            </a:pPr>
            <a:r>
              <a:rPr lang="en-US" sz="1150" dirty="0">
                <a:solidFill>
                  <a:srgbClr val="0B1F3A"/>
                </a:solidFill>
              </a:rPr>
              <a:t>Count of each mission outcome</a:t>
            </a:r>
            <a:endParaRPr lang="en-US" sz="1150" dirty="0"/>
          </a:p>
        </p:txBody>
      </p:sp>
      <p:sp>
        <p:nvSpPr>
          <p:cNvPr id="11" name="Text 9"/>
          <p:cNvSpPr/>
          <p:nvPr/>
        </p:nvSpPr>
        <p:spPr>
          <a:xfrm>
            <a:off x="548640" y="3758184"/>
            <a:ext cx="4937760" cy="310896"/>
          </a:xfrm>
          <a:prstGeom prst="rect">
            <a:avLst/>
          </a:prstGeom>
          <a:noFill/>
          <a:ln/>
        </p:spPr>
        <p:txBody>
          <a:bodyPr wrap="square" rtlCol="0" anchor="ctr"/>
          <a:lstStyle/>
          <a:p>
            <a:pPr marL="342900" indent="-342900">
              <a:buSzPct val="100000"/>
              <a:buChar char="•"/>
            </a:pPr>
            <a:r>
              <a:rPr lang="en-US" sz="1150" dirty="0">
                <a:solidFill>
                  <a:srgbClr val="0B1F3A"/>
                </a:solidFill>
              </a:rPr>
              <a:t>Booster(s) carrying the maximum payload mass</a:t>
            </a:r>
            <a:endParaRPr lang="en-US" sz="1150" dirty="0"/>
          </a:p>
        </p:txBody>
      </p:sp>
      <p:sp>
        <p:nvSpPr>
          <p:cNvPr id="12" name="Text 10"/>
          <p:cNvSpPr/>
          <p:nvPr/>
        </p:nvSpPr>
        <p:spPr>
          <a:xfrm>
            <a:off x="548640" y="4087368"/>
            <a:ext cx="4937760" cy="310896"/>
          </a:xfrm>
          <a:prstGeom prst="rect">
            <a:avLst/>
          </a:prstGeom>
          <a:noFill/>
          <a:ln/>
        </p:spPr>
        <p:txBody>
          <a:bodyPr wrap="square" rtlCol="0" anchor="ctr"/>
          <a:lstStyle/>
          <a:p>
            <a:pPr marL="342900" indent="-342900">
              <a:buSzPct val="100000"/>
              <a:buChar char="•"/>
            </a:pPr>
            <a:r>
              <a:rPr lang="en-US" sz="1150" dirty="0">
                <a:solidFill>
                  <a:srgbClr val="0B1F3A"/>
                </a:solidFill>
              </a:rPr>
              <a:t>Failed drone-ship landings during 2015</a:t>
            </a:r>
            <a:endParaRPr lang="en-US" sz="1150" dirty="0"/>
          </a:p>
        </p:txBody>
      </p:sp>
      <p:sp>
        <p:nvSpPr>
          <p:cNvPr id="13" name="Text 11"/>
          <p:cNvSpPr/>
          <p:nvPr/>
        </p:nvSpPr>
        <p:spPr>
          <a:xfrm>
            <a:off x="548640" y="4416552"/>
            <a:ext cx="4937760" cy="310896"/>
          </a:xfrm>
          <a:prstGeom prst="rect">
            <a:avLst/>
          </a:prstGeom>
          <a:noFill/>
          <a:ln/>
        </p:spPr>
        <p:txBody>
          <a:bodyPr wrap="square" rtlCol="0" anchor="ctr"/>
          <a:lstStyle/>
          <a:p>
            <a:pPr marL="342900" indent="-342900">
              <a:buSzPct val="100000"/>
              <a:buChar char="•"/>
            </a:pPr>
            <a:r>
              <a:rPr lang="en-US" sz="1150" dirty="0">
                <a:solidFill>
                  <a:srgbClr val="0B1F3A"/>
                </a:solidFill>
              </a:rPr>
              <a:t>Ranking of landing outcomes, 2010–2017</a:t>
            </a:r>
            <a:endParaRPr lang="en-US" sz="11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852160" y="1783080"/>
          <a:ext cx="5852160" cy="2834640"/>
        </p:xfrm>
        <a:graphic>
          <a:graphicData uri="http://schemas.openxmlformats.org/drawingml/2006/table">
            <a:tbl>
              <a:tblPr/>
              <a:tblGrid>
                <a:gridCol w="2286000"/>
                <a:gridCol w="3566160"/>
              </a:tblGrid>
              <a:tr h="354330">
                <a:tc>
                  <a:txBody>
                    <a:bodyPr/>
                    <a:lstStyle/>
                    <a:p>
                      <a:pPr indent="0" marL="0">
                        <a:buNone/>
                      </a:pPr>
                      <a:r>
                        <a:rPr lang="en-US" sz="1100" b="1" dirty="0">
                          <a:solidFill>
                            <a:srgbClr val="FFFFFF"/>
                          </a:solidFill>
                        </a:rPr>
                        <a:t>Query</a:t>
                      </a:r>
                      <a:endParaRPr lang="en-US" sz="11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solidFill>
                      <a:srgbClr val="E4572E"/>
                    </a:solidFill>
                  </a:tcPr>
                </a:tc>
                <a:tc>
                  <a:txBody>
                    <a:bodyPr/>
                    <a:lstStyle/>
                    <a:p>
                      <a:pPr indent="0" marL="0">
                        <a:buNone/>
                      </a:pPr>
                      <a:r>
                        <a:rPr lang="en-US" sz="1100" b="1" dirty="0">
                          <a:solidFill>
                            <a:srgbClr val="FFFFFF"/>
                          </a:solidFill>
                        </a:rPr>
                        <a:t>Result</a:t>
                      </a:r>
                      <a:endParaRPr lang="en-US" sz="11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solidFill>
                      <a:srgbClr val="E4572E"/>
                    </a:solidFill>
                  </a:tcPr>
                </a:tc>
              </a:tr>
              <a:tr h="354330">
                <a:tc>
                  <a:txBody>
                    <a:bodyPr/>
                    <a:lstStyle/>
                    <a:p>
                      <a:pPr indent="0" marL="0">
                        <a:buNone/>
                      </a:pPr>
                      <a:r>
                        <a:rPr lang="en-US" sz="1100" dirty="0">
                          <a:solidFill>
                            <a:srgbClr val="0B1F3A"/>
                          </a:solidFill>
                        </a:rPr>
                        <a:t>Distinct launch sites</a:t>
                      </a:r>
                      <a:endParaRPr lang="en-US" sz="11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indent="0" marL="0">
                        <a:buNone/>
                      </a:pPr>
                      <a:r>
                        <a:rPr lang="en-US" sz="1100" dirty="0">
                          <a:solidFill>
                            <a:srgbClr val="0B1F3A"/>
                          </a:solidFill>
                        </a:rPr>
                        <a:t>CCAFS LC-40, CCAFS SLC-40, KSC LC-39A, VAFB SLC-4E</a:t>
                      </a:r>
                      <a:endParaRPr lang="en-US" sz="11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354330">
                <a:tc>
                  <a:txBody>
                    <a:bodyPr/>
                    <a:lstStyle/>
                    <a:p>
                      <a:pPr indent="0" marL="0">
                        <a:buNone/>
                      </a:pPr>
                      <a:r>
                        <a:rPr lang="en-US" sz="1100" dirty="0">
                          <a:solidFill>
                            <a:srgbClr val="0B1F3A"/>
                          </a:solidFill>
                        </a:rPr>
                        <a:t>Total payload, NASA (CRS)</a:t>
                      </a:r>
                      <a:endParaRPr lang="en-US" sz="11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indent="0" marL="0">
                        <a:buNone/>
                      </a:pPr>
                      <a:r>
                        <a:rPr lang="en-US" sz="1100" dirty="0">
                          <a:solidFill>
                            <a:srgbClr val="0B1F3A"/>
                          </a:solidFill>
                        </a:rPr>
                        <a:t>45,596 kg</a:t>
                      </a:r>
                      <a:endParaRPr lang="en-US" sz="11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354330">
                <a:tc>
                  <a:txBody>
                    <a:bodyPr/>
                    <a:lstStyle/>
                    <a:p>
                      <a:pPr indent="0" marL="0">
                        <a:buNone/>
                      </a:pPr>
                      <a:r>
                        <a:rPr lang="en-US" sz="1100" dirty="0">
                          <a:solidFill>
                            <a:srgbClr val="0B1F3A"/>
                          </a:solidFill>
                        </a:rPr>
                        <a:t>Avg. payload, F9 v1.1</a:t>
                      </a:r>
                      <a:endParaRPr lang="en-US" sz="11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indent="0" marL="0">
                        <a:buNone/>
                      </a:pPr>
                      <a:r>
                        <a:rPr lang="en-US" sz="1100" dirty="0">
                          <a:solidFill>
                            <a:srgbClr val="0B1F3A"/>
                          </a:solidFill>
                        </a:rPr>
                        <a:t>2,534.7 kg</a:t>
                      </a:r>
                      <a:endParaRPr lang="en-US" sz="11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354330">
                <a:tc>
                  <a:txBody>
                    <a:bodyPr/>
                    <a:lstStyle/>
                    <a:p>
                      <a:pPr indent="0" marL="0">
                        <a:buNone/>
                      </a:pPr>
                      <a:r>
                        <a:rPr lang="en-US" sz="1100" dirty="0">
                          <a:solidFill>
                            <a:srgbClr val="0B1F3A"/>
                          </a:solidFill>
                        </a:rPr>
                        <a:t>First ground-pad landing</a:t>
                      </a:r>
                      <a:endParaRPr lang="en-US" sz="11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indent="0" marL="0">
                        <a:buNone/>
                      </a:pPr>
                      <a:r>
                        <a:rPr lang="en-US" sz="1100" dirty="0">
                          <a:solidFill>
                            <a:srgbClr val="0B1F3A"/>
                          </a:solidFill>
                        </a:rPr>
                        <a:t>1 May 2017</a:t>
                      </a:r>
                      <a:endParaRPr lang="en-US" sz="11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354330">
                <a:tc>
                  <a:txBody>
                    <a:bodyPr/>
                    <a:lstStyle/>
                    <a:p>
                      <a:pPr indent="0" marL="0">
                        <a:buNone/>
                      </a:pPr>
                      <a:r>
                        <a:rPr lang="en-US" sz="1100" dirty="0">
                          <a:solidFill>
                            <a:srgbClr val="0B1F3A"/>
                          </a:solidFill>
                        </a:rPr>
                        <a:t>Max payload carried</a:t>
                      </a:r>
                      <a:endParaRPr lang="en-US" sz="11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indent="0" marL="0">
                        <a:buNone/>
                      </a:pPr>
                      <a:r>
                        <a:rPr lang="en-US" sz="1100" dirty="0">
                          <a:solidFill>
                            <a:srgbClr val="0B1F3A"/>
                          </a:solidFill>
                        </a:rPr>
                        <a:t>15,600 kg (F9 B5)</a:t>
                      </a:r>
                      <a:endParaRPr lang="en-US" sz="11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354330">
                <a:tc>
                  <a:txBody>
                    <a:bodyPr/>
                    <a:lstStyle/>
                    <a:p>
                      <a:pPr indent="0" marL="0">
                        <a:buNone/>
                      </a:pPr>
                      <a:r>
                        <a:rPr lang="en-US" sz="1100" dirty="0">
                          <a:solidFill>
                            <a:srgbClr val="0B1F3A"/>
                          </a:solidFill>
                        </a:rPr>
                        <a:t>Failed drone-ship, 2015</a:t>
                      </a:r>
                      <a:endParaRPr lang="en-US" sz="11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indent="0" marL="0">
                        <a:buNone/>
                      </a:pPr>
                      <a:r>
                        <a:rPr lang="en-US" sz="1100" dirty="0">
                          <a:solidFill>
                            <a:srgbClr val="0B1F3A"/>
                          </a:solidFill>
                        </a:rPr>
                        <a:t>2 (B1012, B1015)</a:t>
                      </a:r>
                      <a:endParaRPr lang="en-US" sz="11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354330">
                <a:tc>
                  <a:txBody>
                    <a:bodyPr/>
                    <a:lstStyle/>
                    <a:p>
                      <a:pPr indent="0" marL="0">
                        <a:buNone/>
                      </a:pPr>
                      <a:r>
                        <a:rPr lang="en-US" sz="1100" dirty="0">
                          <a:solidFill>
                            <a:srgbClr val="0B1F3A"/>
                          </a:solidFill>
                        </a:rPr>
                        <a:t>Top outcome, 2010–2017</a:t>
                      </a:r>
                      <a:endParaRPr lang="en-US" sz="11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indent="0" marL="0">
                        <a:buNone/>
                      </a:pPr>
                      <a:r>
                        <a:rPr lang="en-US" sz="1100" dirty="0">
                          <a:solidFill>
                            <a:srgbClr val="0B1F3A"/>
                          </a:solidFill>
                        </a:rPr>
                        <a:t>Success (20), No attempt (10)</a:t>
                      </a:r>
                      <a:endParaRPr lang="en-US" sz="110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bl>
          </a:graphicData>
        </a:graphic>
      </p:graphicFrame>
      <p:sp>
        <p:nvSpPr>
          <p:cNvPr id="15" name="Text 12"/>
          <p:cNvSpPr/>
          <p:nvPr/>
        </p:nvSpPr>
        <p:spPr>
          <a:xfrm>
            <a:off x="457200" y="4892040"/>
            <a:ext cx="11247120" cy="1280160"/>
          </a:xfrm>
          <a:prstGeom prst="rect">
            <a:avLst/>
          </a:prstGeom>
          <a:noFill/>
          <a:ln/>
        </p:spPr>
        <p:txBody>
          <a:bodyPr wrap="square" rtlCol="0" anchor="ctr"/>
          <a:lstStyle/>
          <a:p>
            <a:pPr indent="0" marL="0">
              <a:lnSpc>
                <a:spcPts val="1600"/>
              </a:lnSpc>
              <a:buNone/>
            </a:pPr>
            <a:r>
              <a:rPr lang="en-US" sz="1150" dirty="0">
                <a:solidFill>
                  <a:srgbClr val="0B1F3A"/>
                </a:solidFill>
              </a:rPr>
              <a:t>EDA with SQL results: the nine queries returned four distinct launch sites (CCAFS LC-40, CCAFS SLC-40, KSC LC-39A and VAFB SLC-4E); 45,596 kg of total payload flown for NASA CRS; an average payload of 2,534.7 kg for F9 v1.1 boosters; 1 May 2017 as the date of the first successful ground-pad landing; a maximum payload of 15,600 kg carried by the F9 B5 series; two failed drone-ship landings during 2015, both v1.1 boosters from CCAFS LC-40; and a 2010–2017 landing-outcome ranking led by 20 outright successes against 10 no-attempts.</a:t>
            </a:r>
            <a:endParaRPr lang="en-US" sz="1150" dirty="0"/>
          </a:p>
        </p:txBody>
      </p:sp>
      <p:sp>
        <p:nvSpPr>
          <p:cNvPr id="16" name="Text 13"/>
          <p:cNvSpPr/>
          <p:nvPr/>
        </p:nvSpPr>
        <p:spPr>
          <a:xfrm>
            <a:off x="457200" y="6355080"/>
            <a:ext cx="11247120" cy="365760"/>
          </a:xfrm>
          <a:prstGeom prst="rect">
            <a:avLst/>
          </a:prstGeom>
          <a:noFill/>
          <a:ln/>
        </p:spPr>
        <p:txBody>
          <a:bodyPr wrap="square" rtlCol="0" anchor="ctr"/>
          <a:lstStyle/>
          <a:p>
            <a:pPr indent="0" marL="0">
              <a:lnSpc>
                <a:spcPts val="1200"/>
              </a:lnSpc>
              <a:buNone/>
            </a:pPr>
            <a:r>
              <a:rPr lang="en-US" sz="950" dirty="0">
                <a:solidFill>
                  <a:srgbClr val="0B1F3A"/>
                </a:solidFill>
              </a:rPr>
              <a:t>Completed EDA with SQL slide: 9 queries, 4 launch sites, 45,596 kg for NASA CRS, first pad landing 1 May 2017 — GitHub repository: </a:t>
            </a:r>
            <a:pPr indent="0" marL="0">
              <a:lnSpc>
                <a:spcPts val="1200"/>
              </a:lnSpc>
              <a:buNone/>
            </a:pPr>
            <a:r>
              <a:rPr lang="en-US" sz="950" u="sng" dirty="0">
                <a:solidFill>
                  <a:srgbClr val="3B60E4"/>
                </a:solidFill>
                <a:hlinkClick r:id="rId1"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https://github.com/razerblade09/spacex-falcon9-capstone/blob/main/notebooks/04_07_eda_sql_ml.py</a:t>
            </a:r>
            <a:endParaRPr lang="en-US" sz="950" dirty="0"/>
          </a:p>
        </p:txBody>
      </p:sp>
      <p:sp>
        <p:nvSpPr>
          <p:cNvPr id="17" name="Text 14"/>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92608"/>
            <a:ext cx="7315200" cy="274320"/>
          </a:xfrm>
          <a:prstGeom prst="rect">
            <a:avLst/>
          </a:prstGeom>
          <a:noFill/>
          <a:ln/>
        </p:spPr>
        <p:txBody>
          <a:bodyPr wrap="square" rtlCol="0" anchor="ctr"/>
          <a:lstStyle/>
          <a:p>
            <a:pPr indent="0" marL="0">
              <a:buNone/>
            </a:pPr>
            <a:r>
              <a:rPr lang="en-US" sz="1200" b="1" spc="200" kern="0" dirty="0">
                <a:solidFill>
                  <a:srgbClr val="3B60E4"/>
                </a:solidFill>
              </a:rPr>
              <a:t>INTERACTIVE VISUAL ANALYTICS</a:t>
            </a:r>
            <a:endParaRPr lang="en-US" sz="120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600" b="1" dirty="0">
                <a:solidFill>
                  <a:srgbClr val="0B1F3A"/>
                </a:solidFill>
              </a:rPr>
              <a:t>Folium Map</a:t>
            </a:r>
            <a:endParaRPr lang="en-US" sz="2600" dirty="0"/>
          </a:p>
        </p:txBody>
      </p:sp>
      <p:sp>
        <p:nvSpPr>
          <p:cNvPr id="4" name="Text 2"/>
          <p:cNvSpPr/>
          <p:nvPr/>
        </p:nvSpPr>
        <p:spPr>
          <a:xfrm>
            <a:off x="457200" y="1371600"/>
            <a:ext cx="5760720" cy="4846320"/>
          </a:xfrm>
          <a:prstGeom prst="rect">
            <a:avLst/>
          </a:prstGeom>
          <a:noFill/>
          <a:ln/>
        </p:spPr>
        <p:txBody>
          <a:bodyPr wrap="square" rtlCol="0" anchor="ctr"/>
          <a:lstStyle/>
          <a:p>
            <a:pPr indent="0" marL="0">
              <a:lnSpc>
                <a:spcPts val="1700"/>
              </a:lnSpc>
              <a:buNone/>
            </a:pPr>
            <a:r>
              <a:rPr lang="en-US" sz="1200" dirty="0">
                <a:solidFill>
                  <a:srgbClr val="5B6472"/>
                </a:solidFill>
              </a:rPr>
              <a:t>All 4 launch sites are plotted with markers, and every individual launch (56 records) is plotted as a marker colored green for a successful landing and red for a failed or no-attempt landing, so denser green clusters are visible per site.
</a:t>
            </a:r>
            <a:pPr indent="0" marL="0">
              <a:lnSpc>
                <a:spcPts val="1700"/>
              </a:lnSpc>
              <a:buNone/>
            </a:pPr>
            <a:r>
              <a:rPr lang="en-US" sz="1200" b="1" dirty="0">
                <a:solidFill>
                  <a:srgbClr val="0B1F3A"/>
                </a:solidFill>
              </a:rPr>
              <a:t>Observation: </a:t>
            </a:r>
            <a:pPr indent="0" marL="0">
              <a:lnSpc>
                <a:spcPts val="1700"/>
              </a:lnSpc>
              <a:buNone/>
            </a:pPr>
            <a:r>
              <a:rPr lang="en-US" sz="1200" dirty="0">
                <a:solidFill>
                  <a:srgbClr val="5B6472"/>
                </a:solidFill>
              </a:rPr>
              <a:t>KSC LC-39A shows the densest green cluster, landing 10 of 13 launches (77%), while CCAFS LC-40 — the earliest and highest-volume pad — landed only 7 of 26 (27%), because most of its records predate a working recovery process.
</a:t>
            </a:r>
            <a:pPr indent="0" marL="0">
              <a:lnSpc>
                <a:spcPts val="1700"/>
              </a:lnSpc>
              <a:buNone/>
            </a:pPr>
            <a:r>
              <a:rPr lang="en-US" sz="1200" b="1" dirty="0">
                <a:solidFill>
                  <a:srgbClr val="0B1F3A"/>
                </a:solidFill>
              </a:rPr>
              <a:t>Proximity analysis </a:t>
            </a:r>
            <a:pPr indent="0" marL="0">
              <a:lnSpc>
                <a:spcPts val="1700"/>
              </a:lnSpc>
              <a:buNone/>
            </a:pPr>
            <a:r>
              <a:rPr lang="en-US" sz="1200" dirty="0">
                <a:solidFill>
                  <a:srgbClr val="5B6472"/>
                </a:solidFill>
              </a:rPr>
              <a:t>(haversine distance from KSC LC-39A): nearest coastline 7.43 km, nearest city Titusville 16.33 km, nearest railway the NASA Railroad 0.69 km, nearest highway Kennedy Parkway North 0.85 km. Launch sites sit close to open water for downrange safety and within a kilometre of rail and road links, since boosters arrive overland, yet well clear of population centres — a siting constraint any competing provider must replicate.</a:t>
            </a:r>
            <a:endParaRPr lang="en-US" sz="1200" dirty="0"/>
          </a:p>
        </p:txBody>
      </p:sp>
      <p:pic>
        <p:nvPicPr>
          <p:cNvPr id="5" name="Image 0" descr="C:\Users\USER\Documents\Coursera\repo\images\folium_static_view.png">    </p:cNvPr>
          <p:cNvPicPr>
            <a:picLocks noChangeAspect="1"/>
          </p:cNvPicPr>
          <p:nvPr/>
        </p:nvPicPr>
        <p:blipFill>
          <a:blip r:embed="rId1"/>
          <a:stretch>
            <a:fillRect/>
          </a:stretch>
        </p:blipFill>
        <p:spPr>
          <a:xfrm>
            <a:off x="6400800" y="1371600"/>
            <a:ext cx="5303520" cy="2304288"/>
          </a:xfrm>
          <a:prstGeom prst="rect">
            <a:avLst/>
          </a:prstGeom>
        </p:spPr>
      </p:pic>
      <p:pic>
        <p:nvPicPr>
          <p:cNvPr id="6" name="Image 1" descr="C:\Users\USER\Documents\Coursera\repo\images\folium_map_screenshot.png">    </p:cNvPr>
          <p:cNvPicPr>
            <a:picLocks noChangeAspect="1"/>
          </p:cNvPicPr>
          <p:nvPr/>
        </p:nvPicPr>
        <p:blipFill>
          <a:blip r:embed="rId2"/>
          <a:stretch>
            <a:fillRect/>
          </a:stretch>
        </p:blipFill>
        <p:spPr>
          <a:xfrm>
            <a:off x="7635240" y="3794760"/>
            <a:ext cx="2834640" cy="2450592"/>
          </a:xfrm>
          <a:prstGeom prst="rect">
            <a:avLst/>
          </a:prstGeom>
        </p:spPr>
      </p:pic>
      <p:sp>
        <p:nvSpPr>
          <p:cNvPr id="7" name="Text 3"/>
          <p:cNvSpPr/>
          <p:nvPr/>
        </p:nvSpPr>
        <p:spPr>
          <a:xfrm>
            <a:off x="457200" y="6355080"/>
            <a:ext cx="11247120" cy="365760"/>
          </a:xfrm>
          <a:prstGeom prst="rect">
            <a:avLst/>
          </a:prstGeom>
          <a:noFill/>
          <a:ln/>
        </p:spPr>
        <p:txBody>
          <a:bodyPr wrap="square" rtlCol="0" anchor="ctr"/>
          <a:lstStyle/>
          <a:p>
            <a:pPr indent="0" marL="0">
              <a:lnSpc>
                <a:spcPts val="1200"/>
              </a:lnSpc>
              <a:buNone/>
            </a:pPr>
            <a:r>
              <a:rPr lang="en-US" sz="950" dirty="0">
                <a:solidFill>
                  <a:srgbClr val="0B1F3A"/>
                </a:solidFill>
              </a:rPr>
              <a:t>Completed Folium Map slide: 4 sites, 56 launch records, 7.43 km coast and 0.69 km rail — GitHub repository: </a:t>
            </a:r>
            <a:pPr indent="0" marL="0">
              <a:lnSpc>
                <a:spcPts val="1200"/>
              </a:lnSpc>
              <a:buNone/>
            </a:pPr>
            <a:r>
              <a:rPr lang="en-US" sz="950" u="sng" dirty="0">
                <a:solidFill>
                  <a:srgbClr val="3B60E4"/>
                </a:solidFill>
                <a:hlinkClick r:id="rId3"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https://github.com/razerblade09/spacex-falcon9-capstone/blob/main/notebooks/06_folium_map.py</a:t>
            </a:r>
            <a:endParaRPr lang="en-US" sz="950" dirty="0"/>
          </a:p>
        </p:txBody>
      </p:sp>
      <p:sp>
        <p:nvSpPr>
          <p:cNvPr id="8" name="Text 4"/>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292608"/>
            <a:ext cx="7315200" cy="274320"/>
          </a:xfrm>
          <a:prstGeom prst="rect">
            <a:avLst/>
          </a:prstGeom>
          <a:noFill/>
          <a:ln/>
        </p:spPr>
        <p:txBody>
          <a:bodyPr wrap="square" rtlCol="0" anchor="ctr"/>
          <a:lstStyle/>
          <a:p>
            <a:pPr indent="0" marL="0">
              <a:buNone/>
            </a:pPr>
            <a:r>
              <a:rPr lang="en-US" sz="1200" b="1" spc="200" kern="0" dirty="0">
                <a:solidFill>
                  <a:srgbClr val="3B60E4"/>
                </a:solidFill>
              </a:rPr>
              <a:t>INTERACTIVE VISUAL ANALYTICS</a:t>
            </a:r>
            <a:endParaRPr lang="en-US" sz="120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600" b="1" dirty="0">
                <a:solidFill>
                  <a:srgbClr val="0B1F3A"/>
                </a:solidFill>
              </a:rPr>
              <a:t>Plotly Dash App</a:t>
            </a:r>
            <a:endParaRPr lang="en-US" sz="2600" dirty="0"/>
          </a:p>
        </p:txBody>
      </p:sp>
      <p:sp>
        <p:nvSpPr>
          <p:cNvPr id="4" name="Text 2"/>
          <p:cNvSpPr/>
          <p:nvPr/>
        </p:nvSpPr>
        <p:spPr>
          <a:xfrm>
            <a:off x="457200" y="1325880"/>
            <a:ext cx="11247120" cy="731520"/>
          </a:xfrm>
          <a:prstGeom prst="rect">
            <a:avLst/>
          </a:prstGeom>
          <a:noFill/>
          <a:ln/>
        </p:spPr>
        <p:txBody>
          <a:bodyPr wrap="square" rtlCol="0" anchor="ctr"/>
          <a:lstStyle/>
          <a:p>
            <a:pPr indent="0" marL="0">
              <a:lnSpc>
                <a:spcPts val="1700"/>
              </a:lnSpc>
              <a:buNone/>
            </a:pPr>
            <a:r>
              <a:rPr lang="en-US" sz="1250" dirty="0">
                <a:solidFill>
                  <a:srgbClr val="5B6472"/>
                </a:solidFill>
              </a:rPr>
              <a:t>Dropdown to filter by launch site drives a live-updating success-rate pie chart (left: share of successful landings per site; center: success/failure split at the top-volume site, CCAFS LC-40) and a RangeSlider (0–10,000 kg) narrows the payload window on the scatter plot (right), which recolors by booster version (v1.0 / v1.1 / FT / B4 / B5).</a:t>
            </a:r>
            <a:endParaRPr lang="en-US" sz="1250" dirty="0"/>
          </a:p>
        </p:txBody>
      </p:sp>
      <p:pic>
        <p:nvPicPr>
          <p:cNvPr id="5" name="Image 0" descr="C:\Users\USER\Documents\Coursera\repo\images\dash_pie_all_sites.png">    </p:cNvPr>
          <p:cNvPicPr>
            <a:picLocks noChangeAspect="1"/>
          </p:cNvPicPr>
          <p:nvPr/>
        </p:nvPicPr>
        <p:blipFill>
          <a:blip r:embed="rId1"/>
          <a:stretch>
            <a:fillRect/>
          </a:stretch>
        </p:blipFill>
        <p:spPr>
          <a:xfrm>
            <a:off x="548640" y="2194560"/>
            <a:ext cx="3291840" cy="2194560"/>
          </a:xfrm>
          <a:prstGeom prst="rect">
            <a:avLst/>
          </a:prstGeom>
        </p:spPr>
      </p:pic>
      <p:pic>
        <p:nvPicPr>
          <p:cNvPr id="6" name="Image 1" descr="C:\Users\USER\Documents\Coursera\repo\images\dash_pie_top_site.png">    </p:cNvPr>
          <p:cNvPicPr>
            <a:picLocks noChangeAspect="1"/>
          </p:cNvPicPr>
          <p:nvPr/>
        </p:nvPicPr>
        <p:blipFill>
          <a:blip r:embed="rId2"/>
          <a:stretch>
            <a:fillRect/>
          </a:stretch>
        </p:blipFill>
        <p:spPr>
          <a:xfrm>
            <a:off x="4114800" y="2194560"/>
            <a:ext cx="3291840" cy="2194560"/>
          </a:xfrm>
          <a:prstGeom prst="rect">
            <a:avLst/>
          </a:prstGeom>
        </p:spPr>
      </p:pic>
      <p:pic>
        <p:nvPicPr>
          <p:cNvPr id="7" name="Image 2" descr="C:\Users\USER\Documents\Coursera\repo\images\dash_payload_scatter.png">    </p:cNvPr>
          <p:cNvPicPr>
            <a:picLocks noChangeAspect="1"/>
          </p:cNvPicPr>
          <p:nvPr/>
        </p:nvPicPr>
        <p:blipFill>
          <a:blip r:embed="rId3"/>
          <a:stretch>
            <a:fillRect/>
          </a:stretch>
        </p:blipFill>
        <p:spPr>
          <a:xfrm>
            <a:off x="7680960" y="2194560"/>
            <a:ext cx="4023360" cy="2194560"/>
          </a:xfrm>
          <a:prstGeom prst="rect">
            <a:avLst/>
          </a:prstGeom>
        </p:spPr>
      </p:pic>
      <p:sp>
        <p:nvSpPr>
          <p:cNvPr id="8" name="Text 3"/>
          <p:cNvSpPr/>
          <p:nvPr/>
        </p:nvSpPr>
        <p:spPr>
          <a:xfrm>
            <a:off x="457200" y="4709160"/>
            <a:ext cx="11247120" cy="1371600"/>
          </a:xfrm>
          <a:prstGeom prst="rect">
            <a:avLst/>
          </a:prstGeom>
          <a:noFill/>
          <a:ln/>
        </p:spPr>
        <p:txBody>
          <a:bodyPr wrap="square" rtlCol="0" anchor="ctr"/>
          <a:lstStyle/>
          <a:p>
            <a:pPr indent="0" marL="0">
              <a:lnSpc>
                <a:spcPts val="1800"/>
              </a:lnSpc>
              <a:buNone/>
            </a:pPr>
            <a:r>
              <a:rPr lang="en-US" sz="1250" b="1" dirty="0">
                <a:solidFill>
                  <a:srgbClr val="0B1F3A"/>
                </a:solidFill>
              </a:rPr>
              <a:t>Insight: </a:t>
            </a:r>
            <a:pPr indent="0" marL="0">
              <a:lnSpc>
                <a:spcPts val="1800"/>
              </a:lnSpc>
              <a:buNone/>
            </a:pPr>
            <a:r>
              <a:rPr lang="en-US" sz="1250" dirty="0">
                <a:solidFill>
                  <a:srgbClr val="5B6472"/>
                </a:solidFill>
              </a:rPr>
              <a:t>newer booster generations (FT, B4, B5) succeed reliably across a much wider payload range than the early v1.0 and v1.1 boosters — reusability maturity, not payload size alone, drives landing success. KSC LC-39A contributes the largest share of all successful landings despite launching far fewer missions than CCAFS LC-40.</a:t>
            </a:r>
            <a:endParaRPr lang="en-US" sz="1250" dirty="0"/>
          </a:p>
        </p:txBody>
      </p:sp>
      <p:sp>
        <p:nvSpPr>
          <p:cNvPr id="9" name="Text 4"/>
          <p:cNvSpPr/>
          <p:nvPr/>
        </p:nvSpPr>
        <p:spPr>
          <a:xfrm>
            <a:off x="457200" y="6355080"/>
            <a:ext cx="11247120" cy="365760"/>
          </a:xfrm>
          <a:prstGeom prst="rect">
            <a:avLst/>
          </a:prstGeom>
          <a:noFill/>
          <a:ln/>
        </p:spPr>
        <p:txBody>
          <a:bodyPr wrap="square" rtlCol="0" anchor="ctr"/>
          <a:lstStyle/>
          <a:p>
            <a:pPr indent="0" marL="0">
              <a:lnSpc>
                <a:spcPts val="1200"/>
              </a:lnSpc>
              <a:buNone/>
            </a:pPr>
            <a:r>
              <a:rPr lang="en-US" sz="950" dirty="0">
                <a:solidFill>
                  <a:srgbClr val="0B1F3A"/>
                </a:solidFill>
              </a:rPr>
              <a:t>Completed Plotly Dash slide: site dropdown, success-rate pie chart, payload-outcome scatter — GitHub repository: </a:t>
            </a:r>
            <a:pPr indent="0" marL="0">
              <a:lnSpc>
                <a:spcPts val="1200"/>
              </a:lnSpc>
              <a:buNone/>
            </a:pPr>
            <a:r>
              <a:rPr lang="en-US" sz="950" u="sng" dirty="0">
                <a:solidFill>
                  <a:srgbClr val="3B60E4"/>
                </a:solidFill>
                <a:hlinkClick r:id="rId4"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https://github.com/razerblade09/spacex-falcon9-capstone/blob/main/dashboard/app.py</a:t>
            </a:r>
            <a:endParaRPr lang="en-US" sz="950" dirty="0"/>
          </a:p>
        </p:txBody>
      </p:sp>
      <p:sp>
        <p:nvSpPr>
          <p:cNvPr id="10" name="Text 5"/>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292608"/>
            <a:ext cx="7315200" cy="274320"/>
          </a:xfrm>
          <a:prstGeom prst="rect">
            <a:avLst/>
          </a:prstGeom>
          <a:noFill/>
          <a:ln/>
        </p:spPr>
        <p:txBody>
          <a:bodyPr wrap="square" rtlCol="0" anchor="ctr"/>
          <a:lstStyle/>
          <a:p>
            <a:pPr indent="0" marL="0">
              <a:buNone/>
            </a:pPr>
            <a:r>
              <a:rPr lang="en-US" sz="1200" b="1" spc="200" kern="0" dirty="0">
                <a:solidFill>
                  <a:srgbClr val="3B60E4"/>
                </a:solidFill>
              </a:rPr>
              <a:t>PREDICTIVE ANALYSIS</a:t>
            </a:r>
            <a:endParaRPr lang="en-US" sz="120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600" b="1" dirty="0">
                <a:solidFill>
                  <a:srgbClr val="0B1F3A"/>
                </a:solidFill>
              </a:rPr>
              <a:t>Methodology, Results &amp; Best Model</a:t>
            </a:r>
            <a:endParaRPr lang="en-US" sz="2600" dirty="0"/>
          </a:p>
        </p:txBody>
      </p:sp>
      <p:sp>
        <p:nvSpPr>
          <p:cNvPr id="4" name="Text 2"/>
          <p:cNvSpPr/>
          <p:nvPr/>
        </p:nvSpPr>
        <p:spPr>
          <a:xfrm>
            <a:off x="457200" y="1371600"/>
            <a:ext cx="5669280" cy="2377440"/>
          </a:xfrm>
          <a:prstGeom prst="rect">
            <a:avLst/>
          </a:prstGeom>
          <a:noFill/>
          <a:ln/>
        </p:spPr>
        <p:txBody>
          <a:bodyPr wrap="square" rtlCol="0" anchor="ctr"/>
          <a:lstStyle/>
          <a:p>
            <a:pPr indent="0" marL="0">
              <a:lnSpc>
                <a:spcPts val="1700"/>
              </a:lnSpc>
              <a:buNone/>
            </a:pPr>
            <a:r>
              <a:rPr lang="en-US" sz="1200" b="1" dirty="0">
                <a:solidFill>
                  <a:srgbClr val="0B1F3A"/>
                </a:solidFill>
              </a:rPr>
              <a:t>Features: </a:t>
            </a:r>
            <a:pPr indent="0" marL="0">
              <a:lnSpc>
                <a:spcPts val="1700"/>
              </a:lnSpc>
              <a:buNone/>
            </a:pPr>
            <a:r>
              <a:rPr lang="en-US" sz="1200" dirty="0">
                <a:solidFill>
                  <a:srgbClr val="5B6472"/>
                </a:solidFill>
              </a:rPr>
              <a:t>80 one-hot-encoded columns (orbit, launch site, landing pad, booster serial) plus flight number, payload mass, flights, grid fins, reused, legs and block, standardized with StandardScaler.
</a:t>
            </a:r>
            <a:pPr indent="0" marL="0">
              <a:lnSpc>
                <a:spcPts val="1700"/>
              </a:lnSpc>
              <a:buNone/>
            </a:pPr>
            <a:r>
              <a:rPr lang="en-US" sz="1200" b="1" dirty="0">
                <a:solidFill>
                  <a:srgbClr val="0B1F3A"/>
                </a:solidFill>
              </a:rPr>
              <a:t>Split: </a:t>
            </a:r>
            <a:pPr indent="0" marL="0">
              <a:lnSpc>
                <a:spcPts val="1700"/>
              </a:lnSpc>
              <a:buNone/>
            </a:pPr>
            <a:r>
              <a:rPr lang="en-US" sz="1200" dirty="0">
                <a:solidFill>
                  <a:srgbClr val="5B6472"/>
                </a:solidFill>
              </a:rPr>
              <a:t>80/20 train-test (72 / 18 launches).
</a:t>
            </a:r>
            <a:pPr indent="0" marL="0">
              <a:lnSpc>
                <a:spcPts val="1700"/>
              </a:lnSpc>
              <a:buNone/>
            </a:pPr>
            <a:r>
              <a:rPr lang="en-US" sz="1200" b="1" dirty="0">
                <a:solidFill>
                  <a:srgbClr val="0B1F3A"/>
                </a:solidFill>
              </a:rPr>
              <a:t>Models, each tuned with 10-fold GridSearchCV: </a:t>
            </a:r>
            <a:pPr indent="0" marL="0">
              <a:lnSpc>
                <a:spcPts val="1700"/>
              </a:lnSpc>
              <a:buNone/>
            </a:pPr>
            <a:r>
              <a:rPr lang="en-US" sz="1200" dirty="0">
                <a:solidFill>
                  <a:srgbClr val="5B6472"/>
                </a:solidFill>
              </a:rPr>
              <a:t>Logistic Regression (C, penalty, solver), Support Vector Machine (kernel, C, gamma), Decision Tree (criterion, max depth, min samples split) and K-Nearest Neighbors (n_neighbors, distance metric).</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3886200"/>
          <a:ext cx="5669280" cy="1371600"/>
        </p:xfrm>
        <a:graphic>
          <a:graphicData uri="http://schemas.openxmlformats.org/drawingml/2006/table">
            <a:tbl>
              <a:tblPr/>
              <a:tblGrid>
                <a:gridCol w="2743200"/>
                <a:gridCol w="1463040"/>
                <a:gridCol w="1463040"/>
              </a:tblGrid>
              <a:tr h="274320">
                <a:tc>
                  <a:txBody>
                    <a:bodyPr/>
                    <a:lstStyle/>
                    <a:p>
                      <a:pPr indent="0" marL="0">
                        <a:buNone/>
                      </a:pPr>
                      <a:r>
                        <a:rPr lang="en-US" sz="1150" b="1" dirty="0">
                          <a:solidFill>
                            <a:srgbClr val="FFFFFF"/>
                          </a:solidFill>
                        </a:rPr>
                        <a:t>Model</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solidFill>
                      <a:srgbClr val="E4572E"/>
                    </a:solidFill>
                  </a:tcPr>
                </a:tc>
                <a:tc>
                  <a:txBody>
                    <a:bodyPr/>
                    <a:lstStyle/>
                    <a:p>
                      <a:pPr indent="0" marL="0">
                        <a:buNone/>
                      </a:pPr>
                      <a:r>
                        <a:rPr lang="en-US" sz="1150" b="1" dirty="0">
                          <a:solidFill>
                            <a:srgbClr val="FFFFFF"/>
                          </a:solidFill>
                        </a:rPr>
                        <a:t>CV</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solidFill>
                      <a:srgbClr val="E4572E"/>
                    </a:solidFill>
                  </a:tcPr>
                </a:tc>
                <a:tc>
                  <a:txBody>
                    <a:bodyPr/>
                    <a:lstStyle/>
                    <a:p>
                      <a:pPr indent="0" marL="0">
                        <a:buNone/>
                      </a:pPr>
                      <a:r>
                        <a:rPr lang="en-US" sz="1150" b="1" dirty="0">
                          <a:solidFill>
                            <a:srgbClr val="FFFFFF"/>
                          </a:solidFill>
                        </a:rPr>
                        <a:t>Test Acc.</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solidFill>
                      <a:srgbClr val="E4572E"/>
                    </a:solidFill>
                  </a:tcPr>
                </a:tc>
              </a:tr>
              <a:tr h="274320">
                <a:tc>
                  <a:txBody>
                    <a:bodyPr/>
                    <a:lstStyle/>
                    <a:p>
                      <a:pPr indent="0" marL="0">
                        <a:buNone/>
                      </a:pPr>
                      <a:r>
                        <a:rPr lang="en-US" sz="1150" dirty="0">
                          <a:solidFill>
                            <a:srgbClr val="0B1F3A"/>
                          </a:solidFill>
                        </a:rPr>
                        <a:t>Logistic Regression</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150" dirty="0">
                          <a:solidFill>
                            <a:srgbClr val="0B1F3A"/>
                          </a:solidFill>
                        </a:rPr>
                        <a:t>0.821</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150" dirty="0">
                          <a:solidFill>
                            <a:srgbClr val="0B1F3A"/>
                          </a:solidFill>
                        </a:rPr>
                        <a:t>0.833</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274320">
                <a:tc>
                  <a:txBody>
                    <a:bodyPr/>
                    <a:lstStyle/>
                    <a:p>
                      <a:pPr indent="0" marL="0">
                        <a:buNone/>
                      </a:pPr>
                      <a:r>
                        <a:rPr lang="en-US" sz="1150" dirty="0">
                          <a:solidFill>
                            <a:srgbClr val="0B1F3A"/>
                          </a:solidFill>
                        </a:rPr>
                        <a:t>SVM</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150" dirty="0">
                          <a:solidFill>
                            <a:srgbClr val="0B1F3A"/>
                          </a:solidFill>
                        </a:rPr>
                        <a:t>0.834</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150" dirty="0">
                          <a:solidFill>
                            <a:srgbClr val="0B1F3A"/>
                          </a:solidFill>
                        </a:rPr>
                        <a:t>0.833</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274320">
                <a:tc>
                  <a:txBody>
                    <a:bodyPr/>
                    <a:lstStyle/>
                    <a:p>
                      <a:pPr indent="0" marL="0">
                        <a:buNone/>
                      </a:pPr>
                      <a:r>
                        <a:rPr lang="en-US" sz="1150" dirty="0">
                          <a:solidFill>
                            <a:srgbClr val="0B1F3A"/>
                          </a:solidFill>
                        </a:rPr>
                        <a:t>KNN</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150" dirty="0">
                          <a:solidFill>
                            <a:srgbClr val="0B1F3A"/>
                          </a:solidFill>
                        </a:rPr>
                        <a:t>0.834</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150" dirty="0">
                          <a:solidFill>
                            <a:srgbClr val="0B1F3A"/>
                          </a:solidFill>
                        </a:rPr>
                        <a:t>0.833</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r h="274320">
                <a:tc>
                  <a:txBody>
                    <a:bodyPr/>
                    <a:lstStyle/>
                    <a:p>
                      <a:pPr indent="0" marL="0">
                        <a:buNone/>
                      </a:pPr>
                      <a:r>
                        <a:rPr lang="en-US" sz="1150" dirty="0">
                          <a:solidFill>
                            <a:srgbClr val="0B1F3A"/>
                          </a:solidFill>
                        </a:rPr>
                        <a:t>Decision Tree</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150" dirty="0">
                          <a:solidFill>
                            <a:srgbClr val="0B1F3A"/>
                          </a:solidFill>
                        </a:rPr>
                        <a:t>0.804</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c>
                  <a:txBody>
                    <a:bodyPr/>
                    <a:lstStyle/>
                    <a:p>
                      <a:pPr algn="ctr" indent="0" marL="0">
                        <a:buNone/>
                      </a:pPr>
                      <a:r>
                        <a:rPr lang="en-US" sz="1150" dirty="0">
                          <a:solidFill>
                            <a:srgbClr val="0B1F3A"/>
                          </a:solidFill>
                        </a:rPr>
                        <a:t>0.778</a:t>
                      </a:r>
                      <a:endParaRPr lang="en-US" sz="1150" dirty="0"/>
                    </a:p>
                  </a:txBody>
                  <a:tcPr marL="91440" marR="91440" marT="45720" marB="45720">
                    <a:lnL w="12700" cap="flat" cmpd="sng" algn="ctr">
                      <a:solidFill>
                        <a:srgbClr val="E2E8F5"/>
                      </a:solidFill>
                      <a:prstDash val="solid"/>
                      <a:round/>
                      <a:headEnd type="none" w="med" len="med"/>
                      <a:tailEnd type="none" w="med" len="med"/>
                    </a:lnL>
                    <a:lnR w="12700" cap="flat" cmpd="sng" algn="ctr">
                      <a:solidFill>
                        <a:srgbClr val="E2E8F5"/>
                      </a:solidFill>
                      <a:prstDash val="solid"/>
                      <a:round/>
                      <a:headEnd type="none" w="med" len="med"/>
                      <a:tailEnd type="none" w="med" len="med"/>
                    </a:lnR>
                    <a:lnT w="12700" cap="flat" cmpd="sng" algn="ctr">
                      <a:solidFill>
                        <a:srgbClr val="E2E8F5"/>
                      </a:solidFill>
                      <a:prstDash val="solid"/>
                      <a:round/>
                      <a:headEnd type="none" w="med" len="med"/>
                      <a:tailEnd type="none" w="med" len="med"/>
                    </a:lnT>
                    <a:lnB w="12700" cap="flat" cmpd="sng" algn="ctr">
                      <a:solidFill>
                        <a:srgbClr val="E2E8F5"/>
                      </a:solidFill>
                      <a:prstDash val="solid"/>
                      <a:round/>
                      <a:headEnd type="none" w="med" len="med"/>
                      <a:tailEnd type="none" w="med" len="med"/>
                    </a:lnB>
                  </a:tcPr>
                </a:tc>
              </a:tr>
            </a:tbl>
          </a:graphicData>
        </a:graphic>
      </p:graphicFrame>
      <p:pic>
        <p:nvPicPr>
          <p:cNvPr id="6" name="Image 0" descr="C:\Users\USER\Documents\Coursera\repo\images\confusion_matrix_best.png">    </p:cNvPr>
          <p:cNvPicPr>
            <a:picLocks noChangeAspect="1"/>
          </p:cNvPicPr>
          <p:nvPr/>
        </p:nvPicPr>
        <p:blipFill>
          <a:blip r:embed="rId1"/>
          <a:stretch>
            <a:fillRect/>
          </a:stretch>
        </p:blipFill>
        <p:spPr>
          <a:xfrm>
            <a:off x="6400800" y="1371600"/>
            <a:ext cx="3291840" cy="2468880"/>
          </a:xfrm>
          <a:prstGeom prst="rect">
            <a:avLst/>
          </a:prstGeom>
        </p:spPr>
      </p:pic>
      <p:pic>
        <p:nvPicPr>
          <p:cNvPr id="7" name="Image 1" descr="C:\Users\USER\Documents\Coursera\repo\images\model_comparison.png">    </p:cNvPr>
          <p:cNvPicPr>
            <a:picLocks noChangeAspect="1"/>
          </p:cNvPicPr>
          <p:nvPr/>
        </p:nvPicPr>
        <p:blipFill>
          <a:blip r:embed="rId2"/>
          <a:stretch>
            <a:fillRect/>
          </a:stretch>
        </p:blipFill>
        <p:spPr>
          <a:xfrm>
            <a:off x="9784080" y="1371600"/>
            <a:ext cx="2194560" cy="2468880"/>
          </a:xfrm>
          <a:prstGeom prst="rect">
            <a:avLst/>
          </a:prstGeom>
        </p:spPr>
      </p:pic>
      <p:sp>
        <p:nvSpPr>
          <p:cNvPr id="8" name="Text 3"/>
          <p:cNvSpPr/>
          <p:nvPr/>
        </p:nvSpPr>
        <p:spPr>
          <a:xfrm>
            <a:off x="6400800" y="3931920"/>
            <a:ext cx="5577840" cy="2286000"/>
          </a:xfrm>
          <a:prstGeom prst="rect">
            <a:avLst/>
          </a:prstGeom>
          <a:noFill/>
          <a:ln/>
        </p:spPr>
        <p:txBody>
          <a:bodyPr wrap="square" rtlCol="0" anchor="ctr"/>
          <a:lstStyle/>
          <a:p>
            <a:pPr indent="0" marL="0">
              <a:lnSpc>
                <a:spcPts val="1600"/>
              </a:lnSpc>
              <a:buNone/>
            </a:pPr>
            <a:r>
              <a:rPr lang="en-US" sz="1150" b="1" dirty="0">
                <a:solidFill>
                  <a:srgbClr val="0B1F3A"/>
                </a:solidFill>
              </a:rPr>
              <a:t>Confusion matrix (18 test launches): </a:t>
            </a:r>
            <a:pPr indent="0" marL="0">
              <a:lnSpc>
                <a:spcPts val="1600"/>
              </a:lnSpc>
              <a:buNone/>
            </a:pPr>
            <a:r>
              <a:rPr lang="en-US" sz="1150" dirty="0">
                <a:solidFill>
                  <a:srgbClr val="5B6472"/>
                </a:solidFill>
              </a:rPr>
              <a:t>12 successful landings correctly predicted, 3 unsuccessful correctly predicted, 3 unsuccessful misclassified as successful, and 0 successful landings missed — the model errs conservatively, in the safer direction for cost bidding.
</a:t>
            </a:r>
            <a:pPr indent="0" marL="0">
              <a:lnSpc>
                <a:spcPts val="1600"/>
              </a:lnSpc>
              <a:buNone/>
            </a:pPr>
            <a:r>
              <a:rPr lang="en-US" sz="1150" b="1" dirty="0">
                <a:solidFill>
                  <a:srgbClr val="0B1F3A"/>
                </a:solidFill>
              </a:rPr>
              <a:t>Best model: Logistic Regression </a:t>
            </a:r>
            <a:pPr indent="0" marL="0">
              <a:lnSpc>
                <a:spcPts val="1600"/>
              </a:lnSpc>
              <a:buNone/>
            </a:pPr>
            <a:r>
              <a:rPr lang="en-US" sz="1150" dirty="0">
                <a:solidFill>
                  <a:srgbClr val="5B6472"/>
                </a:solidFill>
              </a:rPr>
              <a:t>(C=1, L2 penalty, lbfgs solver). It ties SVM and KNN on accuracy at 83.3% but is far more interpretable — each coefficient shows a feature's effect on landing-success odds, which matters when explaining a cost bid — and it is the cheapest of the four to retrain as new launches arrive.</a:t>
            </a:r>
            <a:endParaRPr lang="en-US" sz="1150" dirty="0"/>
          </a:p>
        </p:txBody>
      </p:sp>
      <p:sp>
        <p:nvSpPr>
          <p:cNvPr id="9" name="Text 4"/>
          <p:cNvSpPr/>
          <p:nvPr/>
        </p:nvSpPr>
        <p:spPr>
          <a:xfrm>
            <a:off x="457200" y="6355080"/>
            <a:ext cx="11247120" cy="365760"/>
          </a:xfrm>
          <a:prstGeom prst="rect">
            <a:avLst/>
          </a:prstGeom>
          <a:noFill/>
          <a:ln/>
        </p:spPr>
        <p:txBody>
          <a:bodyPr wrap="square" rtlCol="0" anchor="ctr"/>
          <a:lstStyle/>
          <a:p>
            <a:pPr indent="0" marL="0">
              <a:lnSpc>
                <a:spcPts val="1200"/>
              </a:lnSpc>
              <a:buNone/>
            </a:pPr>
            <a:r>
              <a:rPr lang="en-US" sz="950" dirty="0">
                <a:solidFill>
                  <a:srgbClr val="0B1F3A"/>
                </a:solidFill>
              </a:rPr>
              <a:t>Completed Predictive Analysis slide: 4 classifiers, 83.3% test accuracy, confusion matrix 12/3/3/0 — GitHub repository: </a:t>
            </a:r>
            <a:pPr indent="0" marL="0">
              <a:lnSpc>
                <a:spcPts val="1200"/>
              </a:lnSpc>
              <a:buNone/>
            </a:pPr>
            <a:r>
              <a:rPr lang="en-US" sz="950" u="sng" dirty="0">
                <a:solidFill>
                  <a:srgbClr val="3B60E4"/>
                </a:solidFill>
                <a:hlinkClick r:id="rId3"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https://github.com/razerblade09/spacex-falcon9-capstone/blob/main/notebooks/04_07_eda_sql_ml.py</a:t>
            </a:r>
            <a:endParaRPr lang="en-US" sz="950" dirty="0"/>
          </a:p>
        </p:txBody>
      </p:sp>
      <p:sp>
        <p:nvSpPr>
          <p:cNvPr id="10" name="Text 5"/>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292608"/>
            <a:ext cx="7315200" cy="274320"/>
          </a:xfrm>
          <a:prstGeom prst="rect">
            <a:avLst/>
          </a:prstGeom>
          <a:noFill/>
          <a:ln/>
        </p:spPr>
        <p:txBody>
          <a:bodyPr wrap="square" rtlCol="0" anchor="ctr"/>
          <a:lstStyle/>
          <a:p>
            <a:pPr indent="0" marL="0">
              <a:buNone/>
            </a:pPr>
            <a:r>
              <a:rPr lang="en-US" sz="1200" b="1" spc="200" kern="0" dirty="0">
                <a:solidFill>
                  <a:srgbClr val="3B60E4"/>
                </a:solidFill>
              </a:rPr>
              <a:t>WRAP-UP</a:t>
            </a:r>
            <a:endParaRPr lang="en-US" sz="1200" dirty="0"/>
          </a:p>
        </p:txBody>
      </p:sp>
      <p:sp>
        <p:nvSpPr>
          <p:cNvPr id="3" name="Text 1"/>
          <p:cNvSpPr/>
          <p:nvPr/>
        </p:nvSpPr>
        <p:spPr>
          <a:xfrm>
            <a:off x="457200" y="530352"/>
            <a:ext cx="11247120" cy="594360"/>
          </a:xfrm>
          <a:prstGeom prst="rect">
            <a:avLst/>
          </a:prstGeom>
          <a:noFill/>
          <a:ln/>
        </p:spPr>
        <p:txBody>
          <a:bodyPr wrap="square" rtlCol="0" anchor="ctr"/>
          <a:lstStyle/>
          <a:p>
            <a:pPr indent="0" marL="0">
              <a:buNone/>
            </a:pPr>
            <a:r>
              <a:rPr lang="en-US" sz="2600" b="1" dirty="0">
                <a:solidFill>
                  <a:srgbClr val="0B1F3A"/>
                </a:solidFill>
              </a:rPr>
              <a:t>Conclusion &amp; Insights</a:t>
            </a:r>
            <a:endParaRPr lang="en-US" sz="2600" dirty="0"/>
          </a:p>
        </p:txBody>
      </p:sp>
      <p:sp>
        <p:nvSpPr>
          <p:cNvPr id="4" name="Shape 2"/>
          <p:cNvSpPr/>
          <p:nvPr/>
        </p:nvSpPr>
        <p:spPr>
          <a:xfrm>
            <a:off x="457200" y="1417320"/>
            <a:ext cx="457200" cy="457200"/>
          </a:xfrm>
          <a:prstGeom prst="roundRect">
            <a:avLst>
              <a:gd name="adj" fmla="val 100000"/>
            </a:avLst>
          </a:prstGeom>
          <a:solidFill>
            <a:srgbClr val="3B60E4"/>
          </a:solidFill>
          <a:ln/>
        </p:spPr>
      </p:sp>
      <p:sp>
        <p:nvSpPr>
          <p:cNvPr id="5" name="Text 3"/>
          <p:cNvSpPr/>
          <p:nvPr/>
        </p:nvSpPr>
        <p:spPr>
          <a:xfrm>
            <a:off x="457200" y="1417320"/>
            <a:ext cx="457200" cy="457200"/>
          </a:xfrm>
          <a:prstGeom prst="rect">
            <a:avLst/>
          </a:prstGeom>
          <a:noFill/>
          <a:ln/>
        </p:spPr>
        <p:txBody>
          <a:bodyPr wrap="square" rtlCol="0" anchor="ctr"/>
          <a:lstStyle/>
          <a:p>
            <a:pPr algn="ctr" indent="0" marL="0">
              <a:buNone/>
            </a:pPr>
            <a:r>
              <a:rPr lang="en-US" sz="1400" b="1" dirty="0">
                <a:solidFill>
                  <a:srgbClr val="FFFFFF"/>
                </a:solidFill>
              </a:rPr>
              <a:t>1</a:t>
            </a:r>
            <a:endParaRPr lang="en-US" sz="1400" dirty="0"/>
          </a:p>
        </p:txBody>
      </p:sp>
      <p:sp>
        <p:nvSpPr>
          <p:cNvPr id="6" name="Text 4"/>
          <p:cNvSpPr/>
          <p:nvPr/>
        </p:nvSpPr>
        <p:spPr>
          <a:xfrm>
            <a:off x="1051560" y="1371600"/>
            <a:ext cx="10607040" cy="566928"/>
          </a:xfrm>
          <a:prstGeom prst="rect">
            <a:avLst/>
          </a:prstGeom>
          <a:noFill/>
          <a:ln/>
        </p:spPr>
        <p:txBody>
          <a:bodyPr wrap="square" rtlCol="0" anchor="ctr"/>
          <a:lstStyle/>
          <a:p>
            <a:pPr indent="0" marL="0">
              <a:lnSpc>
                <a:spcPts val="1700"/>
              </a:lnSpc>
              <a:buNone/>
            </a:pPr>
            <a:r>
              <a:rPr lang="en-US" sz="1250" dirty="0">
                <a:solidFill>
                  <a:srgbClr val="0B1F3A"/>
                </a:solidFill>
              </a:rPr>
              <a:t>Landing success is highly learnable from public launch parameters — 83.3% test accuracy from a simple, interpretable Logistic Regression model.</a:t>
            </a:r>
            <a:endParaRPr lang="en-US" sz="1250" dirty="0"/>
          </a:p>
        </p:txBody>
      </p:sp>
      <p:sp>
        <p:nvSpPr>
          <p:cNvPr id="7" name="Shape 5"/>
          <p:cNvSpPr/>
          <p:nvPr/>
        </p:nvSpPr>
        <p:spPr>
          <a:xfrm>
            <a:off x="457200" y="2176272"/>
            <a:ext cx="457200" cy="457200"/>
          </a:xfrm>
          <a:prstGeom prst="roundRect">
            <a:avLst>
              <a:gd name="adj" fmla="val 100000"/>
            </a:avLst>
          </a:prstGeom>
          <a:solidFill>
            <a:srgbClr val="3B60E4"/>
          </a:solidFill>
          <a:ln/>
        </p:spPr>
      </p:sp>
      <p:sp>
        <p:nvSpPr>
          <p:cNvPr id="8" name="Text 6"/>
          <p:cNvSpPr/>
          <p:nvPr/>
        </p:nvSpPr>
        <p:spPr>
          <a:xfrm>
            <a:off x="457200" y="2176272"/>
            <a:ext cx="457200" cy="457200"/>
          </a:xfrm>
          <a:prstGeom prst="rect">
            <a:avLst/>
          </a:prstGeom>
          <a:noFill/>
          <a:ln/>
        </p:spPr>
        <p:txBody>
          <a:bodyPr wrap="square" rtlCol="0" anchor="ctr"/>
          <a:lstStyle/>
          <a:p>
            <a:pPr algn="ctr" indent="0" marL="0">
              <a:buNone/>
            </a:pPr>
            <a:r>
              <a:rPr lang="en-US" sz="1400" b="1" dirty="0">
                <a:solidFill>
                  <a:srgbClr val="FFFFFF"/>
                </a:solidFill>
              </a:rPr>
              <a:t>2</a:t>
            </a:r>
            <a:endParaRPr lang="en-US" sz="1400" dirty="0"/>
          </a:p>
        </p:txBody>
      </p:sp>
      <p:sp>
        <p:nvSpPr>
          <p:cNvPr id="9" name="Text 7"/>
          <p:cNvSpPr/>
          <p:nvPr/>
        </p:nvSpPr>
        <p:spPr>
          <a:xfrm>
            <a:off x="1051560" y="2130552"/>
            <a:ext cx="10607040" cy="566928"/>
          </a:xfrm>
          <a:prstGeom prst="rect">
            <a:avLst/>
          </a:prstGeom>
          <a:noFill/>
          <a:ln/>
        </p:spPr>
        <p:txBody>
          <a:bodyPr wrap="square" rtlCol="0" anchor="ctr"/>
          <a:lstStyle/>
          <a:p>
            <a:pPr indent="0" marL="0">
              <a:lnSpc>
                <a:spcPts val="1700"/>
              </a:lnSpc>
              <a:buNone/>
            </a:pPr>
            <a:r>
              <a:rPr lang="en-US" sz="1250" dirty="0">
                <a:solidFill>
                  <a:srgbClr val="0B1F3A"/>
                </a:solidFill>
              </a:rPr>
              <a:t>Orbit type and payload mass are the strongest predictors; heavier GTO missions land far less reliably than light LEO and ISS missions.</a:t>
            </a:r>
            <a:endParaRPr lang="en-US" sz="1250" dirty="0"/>
          </a:p>
        </p:txBody>
      </p:sp>
      <p:sp>
        <p:nvSpPr>
          <p:cNvPr id="10" name="Shape 8"/>
          <p:cNvSpPr/>
          <p:nvPr/>
        </p:nvSpPr>
        <p:spPr>
          <a:xfrm>
            <a:off x="457200" y="2935224"/>
            <a:ext cx="457200" cy="457200"/>
          </a:xfrm>
          <a:prstGeom prst="roundRect">
            <a:avLst>
              <a:gd name="adj" fmla="val 100000"/>
            </a:avLst>
          </a:prstGeom>
          <a:solidFill>
            <a:srgbClr val="3B60E4"/>
          </a:solidFill>
          <a:ln/>
        </p:spPr>
      </p:sp>
      <p:sp>
        <p:nvSpPr>
          <p:cNvPr id="11" name="Text 9"/>
          <p:cNvSpPr/>
          <p:nvPr/>
        </p:nvSpPr>
        <p:spPr>
          <a:xfrm>
            <a:off x="457200" y="2935224"/>
            <a:ext cx="457200" cy="457200"/>
          </a:xfrm>
          <a:prstGeom prst="rect">
            <a:avLst/>
          </a:prstGeom>
          <a:noFill/>
          <a:ln/>
        </p:spPr>
        <p:txBody>
          <a:bodyPr wrap="square" rtlCol="0" anchor="ctr"/>
          <a:lstStyle/>
          <a:p>
            <a:pPr algn="ctr" indent="0" marL="0">
              <a:buNone/>
            </a:pPr>
            <a:r>
              <a:rPr lang="en-US" sz="1400" b="1" dirty="0">
                <a:solidFill>
                  <a:srgbClr val="FFFFFF"/>
                </a:solidFill>
              </a:rPr>
              <a:t>3</a:t>
            </a:r>
            <a:endParaRPr lang="en-US" sz="1400" dirty="0"/>
          </a:p>
        </p:txBody>
      </p:sp>
      <p:sp>
        <p:nvSpPr>
          <p:cNvPr id="12" name="Text 10"/>
          <p:cNvSpPr/>
          <p:nvPr/>
        </p:nvSpPr>
        <p:spPr>
          <a:xfrm>
            <a:off x="1051560" y="2889504"/>
            <a:ext cx="10607040" cy="566928"/>
          </a:xfrm>
          <a:prstGeom prst="rect">
            <a:avLst/>
          </a:prstGeom>
          <a:noFill/>
          <a:ln/>
        </p:spPr>
        <p:txBody>
          <a:bodyPr wrap="square" rtlCol="0" anchor="ctr"/>
          <a:lstStyle/>
          <a:p>
            <a:pPr indent="0" marL="0">
              <a:lnSpc>
                <a:spcPts val="1700"/>
              </a:lnSpc>
              <a:buNone/>
            </a:pPr>
            <a:r>
              <a:rPr lang="en-US" sz="1250" dirty="0">
                <a:solidFill>
                  <a:srgbClr val="0B1F3A"/>
                </a:solidFill>
              </a:rPr>
              <a:t>Success rate improved dramatically over time (2013 → 2020), reflecting SpaceX's iterative process improvements rather than a static property of the hardware.</a:t>
            </a:r>
            <a:endParaRPr lang="en-US" sz="1250" dirty="0"/>
          </a:p>
        </p:txBody>
      </p:sp>
      <p:sp>
        <p:nvSpPr>
          <p:cNvPr id="13" name="Shape 11"/>
          <p:cNvSpPr/>
          <p:nvPr/>
        </p:nvSpPr>
        <p:spPr>
          <a:xfrm>
            <a:off x="457200" y="3694176"/>
            <a:ext cx="457200" cy="457200"/>
          </a:xfrm>
          <a:prstGeom prst="roundRect">
            <a:avLst>
              <a:gd name="adj" fmla="val 100000"/>
            </a:avLst>
          </a:prstGeom>
          <a:solidFill>
            <a:srgbClr val="3B60E4"/>
          </a:solidFill>
          <a:ln/>
        </p:spPr>
      </p:sp>
      <p:sp>
        <p:nvSpPr>
          <p:cNvPr id="14" name="Text 12"/>
          <p:cNvSpPr/>
          <p:nvPr/>
        </p:nvSpPr>
        <p:spPr>
          <a:xfrm>
            <a:off x="457200" y="3694176"/>
            <a:ext cx="457200" cy="457200"/>
          </a:xfrm>
          <a:prstGeom prst="rect">
            <a:avLst/>
          </a:prstGeom>
          <a:noFill/>
          <a:ln/>
        </p:spPr>
        <p:txBody>
          <a:bodyPr wrap="square" rtlCol="0" anchor="ctr"/>
          <a:lstStyle/>
          <a:p>
            <a:pPr algn="ctr" indent="0" marL="0">
              <a:buNone/>
            </a:pPr>
            <a:r>
              <a:rPr lang="en-US" sz="1400" b="1" dirty="0">
                <a:solidFill>
                  <a:srgbClr val="FFFFFF"/>
                </a:solidFill>
              </a:rPr>
              <a:t>4</a:t>
            </a:r>
            <a:endParaRPr lang="en-US" sz="1400" dirty="0"/>
          </a:p>
        </p:txBody>
      </p:sp>
      <p:sp>
        <p:nvSpPr>
          <p:cNvPr id="15" name="Text 13"/>
          <p:cNvSpPr/>
          <p:nvPr/>
        </p:nvSpPr>
        <p:spPr>
          <a:xfrm>
            <a:off x="1051560" y="3648456"/>
            <a:ext cx="10607040" cy="566928"/>
          </a:xfrm>
          <a:prstGeom prst="rect">
            <a:avLst/>
          </a:prstGeom>
          <a:noFill/>
          <a:ln/>
        </p:spPr>
        <p:txBody>
          <a:bodyPr wrap="square" rtlCol="0" anchor="ctr"/>
          <a:lstStyle/>
          <a:p>
            <a:pPr indent="0" marL="0">
              <a:lnSpc>
                <a:spcPts val="1700"/>
              </a:lnSpc>
              <a:buNone/>
            </a:pPr>
            <a:r>
              <a:rPr lang="en-US" sz="1250" dirty="0">
                <a:solidFill>
                  <a:srgbClr val="0B1F3A"/>
                </a:solidFill>
              </a:rPr>
              <a:t>Site geography matters and is measurable: pads sit 7.43 km from the coast and within 0.85 km of rail and road, but 16.33 km from the nearest city.</a:t>
            </a:r>
            <a:endParaRPr lang="en-US" sz="1250" dirty="0"/>
          </a:p>
        </p:txBody>
      </p:sp>
      <p:sp>
        <p:nvSpPr>
          <p:cNvPr id="16" name="Shape 14"/>
          <p:cNvSpPr/>
          <p:nvPr/>
        </p:nvSpPr>
        <p:spPr>
          <a:xfrm>
            <a:off x="457200" y="4453128"/>
            <a:ext cx="457200" cy="457200"/>
          </a:xfrm>
          <a:prstGeom prst="roundRect">
            <a:avLst>
              <a:gd name="adj" fmla="val 100000"/>
            </a:avLst>
          </a:prstGeom>
          <a:solidFill>
            <a:srgbClr val="3B60E4"/>
          </a:solidFill>
          <a:ln/>
        </p:spPr>
      </p:sp>
      <p:sp>
        <p:nvSpPr>
          <p:cNvPr id="17" name="Text 15"/>
          <p:cNvSpPr/>
          <p:nvPr/>
        </p:nvSpPr>
        <p:spPr>
          <a:xfrm>
            <a:off x="457200" y="4453128"/>
            <a:ext cx="457200" cy="457200"/>
          </a:xfrm>
          <a:prstGeom prst="rect">
            <a:avLst/>
          </a:prstGeom>
          <a:noFill/>
          <a:ln/>
        </p:spPr>
        <p:txBody>
          <a:bodyPr wrap="square" rtlCol="0" anchor="ctr"/>
          <a:lstStyle/>
          <a:p>
            <a:pPr algn="ctr" indent="0" marL="0">
              <a:buNone/>
            </a:pPr>
            <a:r>
              <a:rPr lang="en-US" sz="1400" b="1" dirty="0">
                <a:solidFill>
                  <a:srgbClr val="FFFFFF"/>
                </a:solidFill>
              </a:rPr>
              <a:t>5</a:t>
            </a:r>
            <a:endParaRPr lang="en-US" sz="1400" dirty="0"/>
          </a:p>
        </p:txBody>
      </p:sp>
      <p:sp>
        <p:nvSpPr>
          <p:cNvPr id="18" name="Text 16"/>
          <p:cNvSpPr/>
          <p:nvPr/>
        </p:nvSpPr>
        <p:spPr>
          <a:xfrm>
            <a:off x="1051560" y="4407408"/>
            <a:ext cx="10607040" cy="566928"/>
          </a:xfrm>
          <a:prstGeom prst="rect">
            <a:avLst/>
          </a:prstGeom>
          <a:noFill/>
          <a:ln/>
        </p:spPr>
        <p:txBody>
          <a:bodyPr wrap="square" rtlCol="0" anchor="ctr"/>
          <a:lstStyle/>
          <a:p>
            <a:pPr indent="0" marL="0">
              <a:lnSpc>
                <a:spcPts val="1700"/>
              </a:lnSpc>
              <a:buNone/>
            </a:pPr>
            <a:r>
              <a:rPr lang="en-US" sz="1250" dirty="0">
                <a:solidFill>
                  <a:srgbClr val="0B1F3A"/>
                </a:solidFill>
              </a:rPr>
              <a:t>Interactive tools — the Folium map and the Plotly Dash dashboard — let stakeholders verify these patterns themselves rather than trusting static charts.</a:t>
            </a:r>
            <a:endParaRPr lang="en-US" sz="1250" dirty="0"/>
          </a:p>
        </p:txBody>
      </p:sp>
      <p:sp>
        <p:nvSpPr>
          <p:cNvPr id="19" name="Shape 17"/>
          <p:cNvSpPr/>
          <p:nvPr/>
        </p:nvSpPr>
        <p:spPr>
          <a:xfrm>
            <a:off x="457200" y="5212080"/>
            <a:ext cx="457200" cy="457200"/>
          </a:xfrm>
          <a:prstGeom prst="roundRect">
            <a:avLst>
              <a:gd name="adj" fmla="val 100000"/>
            </a:avLst>
          </a:prstGeom>
          <a:solidFill>
            <a:srgbClr val="3B60E4"/>
          </a:solidFill>
          <a:ln/>
        </p:spPr>
      </p:sp>
      <p:sp>
        <p:nvSpPr>
          <p:cNvPr id="20" name="Text 18"/>
          <p:cNvSpPr/>
          <p:nvPr/>
        </p:nvSpPr>
        <p:spPr>
          <a:xfrm>
            <a:off x="457200" y="5212080"/>
            <a:ext cx="457200" cy="457200"/>
          </a:xfrm>
          <a:prstGeom prst="rect">
            <a:avLst/>
          </a:prstGeom>
          <a:noFill/>
          <a:ln/>
        </p:spPr>
        <p:txBody>
          <a:bodyPr wrap="square" rtlCol="0" anchor="ctr"/>
          <a:lstStyle/>
          <a:p>
            <a:pPr algn="ctr" indent="0" marL="0">
              <a:buNone/>
            </a:pPr>
            <a:r>
              <a:rPr lang="en-US" sz="1400" b="1" dirty="0">
                <a:solidFill>
                  <a:srgbClr val="FFFFFF"/>
                </a:solidFill>
              </a:rPr>
              <a:t>6</a:t>
            </a:r>
            <a:endParaRPr lang="en-US" sz="1400" dirty="0"/>
          </a:p>
        </p:txBody>
      </p:sp>
      <p:sp>
        <p:nvSpPr>
          <p:cNvPr id="21" name="Text 19"/>
          <p:cNvSpPr/>
          <p:nvPr/>
        </p:nvSpPr>
        <p:spPr>
          <a:xfrm>
            <a:off x="1051560" y="5166360"/>
            <a:ext cx="10607040" cy="566928"/>
          </a:xfrm>
          <a:prstGeom prst="rect">
            <a:avLst/>
          </a:prstGeom>
          <a:noFill/>
          <a:ln/>
        </p:spPr>
        <p:txBody>
          <a:bodyPr wrap="square" rtlCol="0" anchor="ctr"/>
          <a:lstStyle/>
          <a:p>
            <a:pPr indent="0" marL="0">
              <a:lnSpc>
                <a:spcPts val="1700"/>
              </a:lnSpc>
              <a:buNone/>
            </a:pPr>
            <a:r>
              <a:rPr lang="en-US" sz="1250" dirty="0">
                <a:solidFill>
                  <a:srgbClr val="0B1F3A"/>
                </a:solidFill>
              </a:rPr>
              <a:t>Recommendation: a competing bidder can use this model as a first-pass cost-risk estimator, refining it with more recent launches and continuous retraining.</a:t>
            </a:r>
            <a:endParaRPr lang="en-US" sz="1250" dirty="0"/>
          </a:p>
        </p:txBody>
      </p:sp>
      <p:sp>
        <p:nvSpPr>
          <p:cNvPr id="22" name="Text 20"/>
          <p:cNvSpPr/>
          <p:nvPr/>
        </p:nvSpPr>
        <p:spPr>
          <a:xfrm>
            <a:off x="457200" y="6035040"/>
            <a:ext cx="11247120" cy="502920"/>
          </a:xfrm>
          <a:prstGeom prst="rect">
            <a:avLst/>
          </a:prstGeom>
          <a:noFill/>
          <a:ln/>
        </p:spPr>
        <p:txBody>
          <a:bodyPr wrap="square" rtlCol="0" anchor="ctr"/>
          <a:lstStyle/>
          <a:p>
            <a:pPr indent="0" marL="0">
              <a:lnSpc>
                <a:spcPts val="1200"/>
              </a:lnSpc>
              <a:buNone/>
            </a:pPr>
            <a:r>
              <a:rPr lang="en-US" sz="950" dirty="0">
                <a:solidFill>
                  <a:srgbClr val="0B1F3A"/>
                </a:solidFill>
              </a:rPr>
              <a:t>Completed Conclusion slide: Logistic Regression at 83.3% test accuracy, orbit type and payload mass strongest predictors — full code, notebooks, and dashboard app: </a:t>
            </a:r>
            <a:pPr indent="0" marL="0">
              <a:lnSpc>
                <a:spcPts val="1200"/>
              </a:lnSpc>
              <a:buNone/>
            </a:pPr>
            <a:r>
              <a:rPr lang="en-US" sz="950" u="sng" dirty="0">
                <a:solidFill>
                  <a:srgbClr val="3B60E4"/>
                </a:solidFill>
                <a:hlinkClick r:id="rId1" invalidUrl="" action="" tgtFrame="" tooltip="" history="1" highlightClick="0" endSnd="0">
                  <a:extLst>
                    <a:ext uri="{A12FA001-AC4F-418D-AE19-62706E023703}">
                      <ahyp:hlinkClr xmlns:ahyp="http://schemas.microsoft.com/office/drawing/2018/hyperlinkcolor" val="tx"/>
                    </a:ext>
                  </a:extLst>
                </a:hlinkClick>
              </a:rPr>
              <a:t>https://github.com/razerblade09/spacex-falcon9-capstone</a:t>
            </a:r>
            <a:endParaRPr lang="en-US" sz="950" dirty="0"/>
          </a:p>
        </p:txBody>
      </p:sp>
      <p:sp>
        <p:nvSpPr>
          <p:cNvPr id="23" name="Text 21"/>
          <p:cNvSpPr/>
          <p:nvPr/>
        </p:nvSpPr>
        <p:spPr>
          <a:xfrm>
            <a:off x="11750040" y="6473952"/>
            <a:ext cx="365760" cy="274320"/>
          </a:xfrm>
          <a:prstGeom prst="rect">
            <a:avLst/>
          </a:prstGeom>
          <a:noFill/>
          <a:ln/>
        </p:spPr>
        <p:txBody>
          <a:bodyPr wrap="square" rtlCol="0" anchor="ctr"/>
          <a:lstStyle/>
          <a:p>
            <a:pPr algn="r" indent="0" marL="0">
              <a:buNone/>
            </a:pPr>
            <a:r>
              <a:rPr lang="en-US" sz="1000" dirty="0">
                <a:solidFill>
                  <a:srgbClr val="5B6472"/>
                </a:solidFill>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2026-08-19T05:34:42Z</dcterms:created>
  <dcterms:modified xsi:type="dcterms:W3CDTF">2026-08-19T05:34:42Z</dcterms:modified>
</cp:coreProperties>
</file>